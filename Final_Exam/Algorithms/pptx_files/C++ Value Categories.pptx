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83" r:id="rId6"/>
    <p:sldId id="285" r:id="rId7"/>
    <p:sldId id="286" r:id="rId8"/>
    <p:sldId id="288" r:id="rId9"/>
    <p:sldId id="289" r:id="rId10"/>
    <p:sldId id="290" r:id="rId11"/>
    <p:sldId id="292" r:id="rId12"/>
    <p:sldId id="293" r:id="rId13"/>
    <p:sldId id="294" r:id="rId14"/>
    <p:sldId id="291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57F3549C-85FF-426D-9205-9E189123DE99}"/>
    <pc:docChg chg="modSld">
      <pc:chgData name="Prazyan, Levon" userId="ed024b0e-4a1a-418a-8ca0-755e149680c9" providerId="ADAL" clId="{57F3549C-85FF-426D-9205-9E189123DE99}" dt="2024-11-26T08:26:45.940" v="16" actId="20577"/>
      <pc:docMkLst>
        <pc:docMk/>
      </pc:docMkLst>
      <pc:sldChg chg="modSp mod">
        <pc:chgData name="Prazyan, Levon" userId="ed024b0e-4a1a-418a-8ca0-755e149680c9" providerId="ADAL" clId="{57F3549C-85FF-426D-9205-9E189123DE99}" dt="2024-11-26T08:26:45.940" v="16" actId="20577"/>
        <pc:sldMkLst>
          <pc:docMk/>
          <pc:sldMk cId="4021135847" sldId="256"/>
        </pc:sldMkLst>
        <pc:spChg chg="mod">
          <ac:chgData name="Prazyan, Levon" userId="ed024b0e-4a1a-418a-8ca0-755e149680c9" providerId="ADAL" clId="{57F3549C-85FF-426D-9205-9E189123DE99}" dt="2024-11-26T08:26:45.940" v="16" actId="20577"/>
          <ac:spMkLst>
            <pc:docMk/>
            <pc:sldMk cId="4021135847" sldId="256"/>
            <ac:spMk id="3" creationId="{66AF52BB-403F-2EF4-2160-12DCC58C8ED0}"/>
          </ac:spMkLst>
        </pc:spChg>
      </pc:sldChg>
      <pc:sldChg chg="modSp mod">
        <pc:chgData name="Prazyan, Levon" userId="ed024b0e-4a1a-418a-8ca0-755e149680c9" providerId="ADAL" clId="{57F3549C-85FF-426D-9205-9E189123DE99}" dt="2024-11-25T15:06:54.267" v="1" actId="255"/>
        <pc:sldMkLst>
          <pc:docMk/>
          <pc:sldMk cId="1533853252" sldId="288"/>
        </pc:sldMkLst>
        <pc:spChg chg="mod">
          <ac:chgData name="Prazyan, Levon" userId="ed024b0e-4a1a-418a-8ca0-755e149680c9" providerId="ADAL" clId="{57F3549C-85FF-426D-9205-9E189123DE99}" dt="2024-11-25T15:06:54.267" v="1" actId="255"/>
          <ac:spMkLst>
            <pc:docMk/>
            <pc:sldMk cId="1533853252" sldId="288"/>
            <ac:spMk id="9" creationId="{CE8DDD63-E145-2DF2-AA56-7A52CF3DF653}"/>
          </ac:spMkLst>
        </pc:spChg>
      </pc:sldChg>
      <pc:sldChg chg="modSp mod">
        <pc:chgData name="Prazyan, Levon" userId="ed024b0e-4a1a-418a-8ca0-755e149680c9" providerId="ADAL" clId="{57F3549C-85FF-426D-9205-9E189123DE99}" dt="2024-11-25T15:07:50.674" v="7" actId="255"/>
        <pc:sldMkLst>
          <pc:docMk/>
          <pc:sldMk cId="1897804926" sldId="289"/>
        </pc:sldMkLst>
        <pc:spChg chg="mod">
          <ac:chgData name="Prazyan, Levon" userId="ed024b0e-4a1a-418a-8ca0-755e149680c9" providerId="ADAL" clId="{57F3549C-85FF-426D-9205-9E189123DE99}" dt="2024-11-25T15:07:50.674" v="7" actId="255"/>
          <ac:spMkLst>
            <pc:docMk/>
            <pc:sldMk cId="1897804926" sldId="289"/>
            <ac:spMk id="9" creationId="{CE8DDD63-E145-2DF2-AA56-7A52CF3DF653}"/>
          </ac:spMkLst>
        </pc:spChg>
      </pc:sldChg>
      <pc:sldChg chg="modSp mod">
        <pc:chgData name="Prazyan, Levon" userId="ed024b0e-4a1a-418a-8ca0-755e149680c9" providerId="ADAL" clId="{57F3549C-85FF-426D-9205-9E189123DE99}" dt="2024-11-25T15:09:01.645" v="9" actId="403"/>
        <pc:sldMkLst>
          <pc:docMk/>
          <pc:sldMk cId="3364127635" sldId="290"/>
        </pc:sldMkLst>
        <pc:spChg chg="mod">
          <ac:chgData name="Prazyan, Levon" userId="ed024b0e-4a1a-418a-8ca0-755e149680c9" providerId="ADAL" clId="{57F3549C-85FF-426D-9205-9E189123DE99}" dt="2024-11-25T15:09:01.645" v="9" actId="403"/>
          <ac:spMkLst>
            <pc:docMk/>
            <pc:sldMk cId="3364127635" sldId="290"/>
            <ac:spMk id="9" creationId="{CE8DDD63-E145-2DF2-AA56-7A52CF3DF653}"/>
          </ac:spMkLst>
        </pc:spChg>
      </pc:sldChg>
      <pc:sldChg chg="modSp mod">
        <pc:chgData name="Prazyan, Levon" userId="ed024b0e-4a1a-418a-8ca0-755e149680c9" providerId="ADAL" clId="{57F3549C-85FF-426D-9205-9E189123DE99}" dt="2024-11-25T15:10:39.856" v="11" actId="113"/>
        <pc:sldMkLst>
          <pc:docMk/>
          <pc:sldMk cId="3422622388" sldId="292"/>
        </pc:sldMkLst>
        <pc:graphicFrameChg chg="modGraphic">
          <ac:chgData name="Prazyan, Levon" userId="ed024b0e-4a1a-418a-8ca0-755e149680c9" providerId="ADAL" clId="{57F3549C-85FF-426D-9205-9E189123DE99}" dt="2024-11-25T15:10:39.856" v="11" actId="113"/>
          <ac:graphicFrameMkLst>
            <pc:docMk/>
            <pc:sldMk cId="3422622388" sldId="292"/>
            <ac:graphicFrameMk id="5" creationId="{127BA138-B753-6942-9F48-02446050D40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943F-936E-105A-589C-4B302E4C9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41BF6-174A-F391-9078-57AE94045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B6DAB-0A69-4AE3-F9B9-36B20580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03F97-03A3-5AB4-C35E-A6D25038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1BE65-7049-1529-57B6-07F59E9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4C7B-D7C1-E7F1-6A63-2B98E719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CE37-9071-63A2-01E6-7ECB3E672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BD5E0-749A-546D-AD36-CB9A9A7C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F00CB-99D0-92D7-9EF4-224DD2FF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FC3BC-247B-BAAC-F49F-D0781487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6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0476-80B4-1EFE-74B5-529D3680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C6ED-DE93-7B92-F0B9-CDBC1B428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3013A-9683-1B4D-65EC-16719524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DDCB-05BC-3103-FC41-906CFF8E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0860E-CF92-7133-2986-D34DEBCC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6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5389-F5D2-6E62-B87F-36E32F1A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39E16-5939-9606-BB90-84DC6EFCF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9F904-85C9-A727-3615-6D5ECF708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79C9D-407F-AA2F-B8ED-91B7D711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E8686-813C-CAB3-CFE2-C9A9CF41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4BF69-6C27-FE91-7387-8D10E939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3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EF24-B126-F7F6-88D1-AE4118CB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D839C-C041-FE49-8265-4737E9492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6610B-54AF-C94F-3178-80AFE7D41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1D2CD-12CE-CEAC-B312-FBCD9BE9F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8D651-04D9-7961-E9DD-53C7B127D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65EAC-FEE3-FF4A-FB39-91E537D1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D0BCF-E9EC-9359-8127-CF8A4D25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67579-A88D-545C-F020-1F143D45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13FA-0E6B-13A9-4223-9756F4E2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763E7-591C-AD1F-E5B7-AFC65E87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3A49C-A6E5-DDA7-F01C-A296719E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9A167-A686-19B7-962E-7480DEFB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3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8C1B63-E143-38CC-370C-E4292E96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0A9EA-4D46-CA7F-1C43-67AECD1F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CF1B6-FFA8-4663-BF4D-4A6DBF7A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F046-1AB4-2F92-EC03-10771B72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673A6-023E-FF89-A473-8666FCD8A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C483A-CC19-BD46-3090-2F59E7D7D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EA71D-B0F3-DBF0-66E4-2A57384B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A9C93-FDD5-29EE-0B57-4F862241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B5A4D-ECF3-8705-3DC9-7B98E7C8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7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C7DE-B54B-5C63-8945-1B1A313E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7351D-7C69-A1EF-6876-B53D1FA10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804D8-D9A6-7863-F5F1-9FB2F8DD4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35500-E74C-EA75-E1D8-CC2E22A86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471E-BD3C-4012-81C8-B6F91B26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77D0A-5A42-101D-7A06-E00E981E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8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9091-0CE4-B995-83E2-1EC8D1BA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CBF22-1048-8CEB-94B9-62FA2B24E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D6D90-336B-A760-3F6C-506B1691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D09B4-BFC8-AE47-2A58-7C8EC69A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D9DC0-48D8-DFEE-3252-9D424845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32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2BB50-F33F-D387-5C31-1A6172113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4E14B-DD99-743D-1506-6B7F08629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2DE82-9B3C-F60A-7A97-3BF154CD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8B77F-12BF-289E-A203-30C45555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039E1-590A-93DB-AE9D-C645F5A7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3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33336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1371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82243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2126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4726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3002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6923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66873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51585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2338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FA78B-4F20-2EDF-06E6-03A59DF8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51F7A-876A-0538-C1ED-DEFD9B3F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FE858-77AD-B5B9-80CE-D7EE798AD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A1A90-9FE2-41D8-A2EA-A65A6B3EFEF8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4433D-7B05-B23F-98FF-7F901E37A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B5A8D-1638-C56C-BCA2-94035F1A5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5AA1E-DABE-4D9B-A84B-8FB3F966E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9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A1FC-53EB-D85F-2A71-14EE4E749E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Value Categories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F52BB-403F-2EF4-2160-12DCC58C8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Levon </a:t>
            </a:r>
            <a:r>
              <a:rPr lang="en-US"/>
              <a:t>Prazyan Nov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3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384F-A047-1D96-F6BE-FBF7BA6B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062D-878E-B178-5304-339AF8EC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 overview.</a:t>
            </a:r>
          </a:p>
          <a:p>
            <a:r>
              <a:rPr lang="en-US" dirty="0"/>
              <a:t>Value Categories Since </a:t>
            </a:r>
            <a:r>
              <a:rPr lang="en-US" dirty="0" err="1"/>
              <a:t>c++</a:t>
            </a:r>
            <a:r>
              <a:rPr lang="en-US" dirty="0"/>
              <a:t>11</a:t>
            </a:r>
          </a:p>
          <a:p>
            <a:r>
              <a:rPr lang="en-US" dirty="0"/>
              <a:t>Value Categories Since </a:t>
            </a:r>
            <a:r>
              <a:rPr lang="en-US" dirty="0" err="1"/>
              <a:t>c++</a:t>
            </a:r>
            <a:r>
              <a:rPr lang="en-US" dirty="0"/>
              <a:t>17</a:t>
            </a:r>
          </a:p>
          <a:p>
            <a:r>
              <a:rPr lang="en-US" dirty="0"/>
              <a:t>Special Rules for Value Categories.</a:t>
            </a:r>
          </a:p>
          <a:p>
            <a:r>
              <a:rPr lang="en-US" dirty="0"/>
              <a:t>Value Categories and Binding References.</a:t>
            </a:r>
          </a:p>
          <a:p>
            <a:r>
              <a:rPr lang="en-US" dirty="0" err="1"/>
              <a:t>Lvalue</a:t>
            </a:r>
            <a:r>
              <a:rPr lang="en-US" dirty="0"/>
              <a:t> Becomes </a:t>
            </a:r>
            <a:r>
              <a:rPr lang="en-US" dirty="0" err="1"/>
              <a:t>Rvalue</a:t>
            </a:r>
            <a:r>
              <a:rPr lang="en-US" dirty="0"/>
              <a:t>.</a:t>
            </a:r>
          </a:p>
          <a:p>
            <a:r>
              <a:rPr lang="en-US" dirty="0" err="1"/>
              <a:t>Rvalue</a:t>
            </a:r>
            <a:r>
              <a:rPr lang="en-US" dirty="0"/>
              <a:t> Becomes </a:t>
            </a:r>
            <a:r>
              <a:rPr lang="en-US" dirty="0" err="1"/>
              <a:t>Lvalue</a:t>
            </a:r>
            <a:r>
              <a:rPr lang="en-US" dirty="0"/>
              <a:t>.</a:t>
            </a:r>
          </a:p>
          <a:p>
            <a:r>
              <a:rPr lang="en-US" dirty="0"/>
              <a:t>Value Categories and </a:t>
            </a:r>
            <a:r>
              <a:rPr lang="en-US" i="1" dirty="0" err="1"/>
              <a:t>decltype</a:t>
            </a:r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5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EE59-D635-4C90-C5E6-390176D5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wrap="square" anchor="t">
            <a:normAutofit fontScale="90000"/>
          </a:bodyPr>
          <a:lstStyle/>
          <a:p>
            <a:r>
              <a:rPr lang="en-US" dirty="0"/>
              <a:t>Historical Overview</a:t>
            </a:r>
            <a:endParaRPr lang="hy-AM" dirty="0"/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635334EF-7307-3D1D-7285-5AE43652915D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389688" y="2306567"/>
          <a:ext cx="5219703" cy="30881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9249">
                  <a:extLst>
                    <a:ext uri="{9D8B030D-6E8A-4147-A177-3AD203B41FA5}">
                      <a16:colId xmlns:a16="http://schemas.microsoft.com/office/drawing/2014/main" val="3807519288"/>
                    </a:ext>
                  </a:extLst>
                </a:gridCol>
                <a:gridCol w="1527534">
                  <a:extLst>
                    <a:ext uri="{9D8B030D-6E8A-4147-A177-3AD203B41FA5}">
                      <a16:colId xmlns:a16="http://schemas.microsoft.com/office/drawing/2014/main" val="1145267502"/>
                    </a:ext>
                  </a:extLst>
                </a:gridCol>
                <a:gridCol w="1201460">
                  <a:extLst>
                    <a:ext uri="{9D8B030D-6E8A-4147-A177-3AD203B41FA5}">
                      <a16:colId xmlns:a16="http://schemas.microsoft.com/office/drawing/2014/main" val="2652550245"/>
                    </a:ext>
                  </a:extLst>
                </a:gridCol>
                <a:gridCol w="1201460">
                  <a:extLst>
                    <a:ext uri="{9D8B030D-6E8A-4147-A177-3AD203B41FA5}">
                      <a16:colId xmlns:a16="http://schemas.microsoft.com/office/drawing/2014/main" val="3709713654"/>
                    </a:ext>
                  </a:extLst>
                </a:gridCol>
              </a:tblGrid>
              <a:tr h="6682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Value Category</a:t>
                      </a:r>
                      <a:endParaRPr lang="hy-AM" sz="1800" b="1" dirty="0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K&amp;R C</a:t>
                      </a:r>
                      <a:endParaRPr lang="hy-AM" sz="1800" dirty="0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ANSI-C</a:t>
                      </a:r>
                      <a:endParaRPr lang="hy-AM" sz="1800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C++98</a:t>
                      </a:r>
                      <a:endParaRPr lang="hy-AM" sz="1800"/>
                    </a:p>
                  </a:txBody>
                  <a:tcPr marL="90298" marR="90298" marT="45149" marB="45149" anchor="ctr"/>
                </a:tc>
                <a:extLst>
                  <a:ext uri="{0D108BD9-81ED-4DB2-BD59-A6C34878D82A}">
                    <a16:rowId xmlns:a16="http://schemas.microsoft.com/office/drawing/2014/main" val="2334145255"/>
                  </a:ext>
                </a:extLst>
              </a:tr>
              <a:tr h="12099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lvalue</a:t>
                      </a:r>
                      <a:endParaRPr lang="hy-AM" sz="1800" dirty="0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l</a:t>
                      </a:r>
                      <a:r>
                        <a:rPr lang="en-US" sz="1800" b="0" dirty="0"/>
                        <a:t>eft-hand side of</a:t>
                      </a:r>
                      <a:br>
                        <a:rPr lang="en-US" sz="1800" b="0" dirty="0"/>
                      </a:br>
                      <a:r>
                        <a:rPr lang="en-US" sz="1800" b="0" dirty="0"/>
                        <a:t> an assignment </a:t>
                      </a:r>
                      <a:endParaRPr lang="hy-AM" sz="1800" b="1" dirty="0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l</a:t>
                      </a:r>
                      <a:r>
                        <a:rPr lang="en-US" sz="1800" b="0"/>
                        <a:t>ocator value</a:t>
                      </a:r>
                      <a:endParaRPr lang="hy-AM" sz="1800" b="1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l</a:t>
                      </a:r>
                      <a:r>
                        <a:rPr lang="en-US" sz="1800" b="0"/>
                        <a:t>ocator value</a:t>
                      </a:r>
                      <a:endParaRPr lang="hy-AM" sz="1800" b="1"/>
                    </a:p>
                  </a:txBody>
                  <a:tcPr marL="90298" marR="90298" marT="45149" marB="45149" anchor="ctr"/>
                </a:tc>
                <a:extLst>
                  <a:ext uri="{0D108BD9-81ED-4DB2-BD59-A6C34878D82A}">
                    <a16:rowId xmlns:a16="http://schemas.microsoft.com/office/drawing/2014/main" val="4020543510"/>
                  </a:ext>
                </a:extLst>
              </a:tr>
              <a:tr h="1209988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rvalue</a:t>
                      </a:r>
                      <a:endParaRPr lang="hy-AM" sz="1800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</a:t>
                      </a:r>
                      <a:r>
                        <a:rPr lang="en-US" sz="1800" b="0"/>
                        <a:t>ight-hand side of</a:t>
                      </a:r>
                      <a:br>
                        <a:rPr lang="en-US" sz="1800" b="0"/>
                      </a:br>
                      <a:r>
                        <a:rPr lang="en-US" sz="1800" b="0"/>
                        <a:t> an assignment</a:t>
                      </a:r>
                      <a:endParaRPr lang="hy-AM" sz="1800" b="1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r</a:t>
                      </a:r>
                      <a:r>
                        <a:rPr lang="en-US" sz="1800" b="0"/>
                        <a:t>eadable value</a:t>
                      </a:r>
                      <a:endParaRPr lang="hy-AM" sz="1800" b="1"/>
                    </a:p>
                  </a:txBody>
                  <a:tcPr marL="90298" marR="90298" marT="45149" marB="451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</a:t>
                      </a:r>
                      <a:r>
                        <a:rPr lang="en-US" sz="1800" b="0" dirty="0"/>
                        <a:t>eadable value</a:t>
                      </a:r>
                      <a:endParaRPr lang="hy-AM" sz="1800" b="1" dirty="0"/>
                    </a:p>
                  </a:txBody>
                  <a:tcPr marL="90298" marR="90298" marT="45149" marB="45149" anchor="ctr"/>
                </a:tc>
                <a:extLst>
                  <a:ext uri="{0D108BD9-81ED-4DB2-BD59-A6C34878D82A}">
                    <a16:rowId xmlns:a16="http://schemas.microsoft.com/office/drawing/2014/main" val="2077733934"/>
                  </a:ext>
                </a:extLst>
              </a:tr>
            </a:tbl>
          </a:graphicData>
        </a:graphic>
      </p:graphicFrame>
      <p:pic>
        <p:nvPicPr>
          <p:cNvPr id="54" name="Content Placeholder 53">
            <a:extLst>
              <a:ext uri="{FF2B5EF4-FFF2-40B4-BE49-F238E27FC236}">
                <a16:creationId xmlns:a16="http://schemas.microsoft.com/office/drawing/2014/main" id="{D099EB51-11C8-1E30-CE01-20383A95876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84200" y="1814428"/>
            <a:ext cx="5211763" cy="4072106"/>
          </a:xfrm>
        </p:spPr>
      </p:pic>
    </p:spTree>
    <p:extLst>
      <p:ext uri="{BB962C8B-B14F-4D97-AF65-F5344CB8AC3E}">
        <p14:creationId xmlns:p14="http://schemas.microsoft.com/office/powerpoint/2010/main" val="7619838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937DA-E9B4-1B68-605A-E9BAD40C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>
            <a:normAutofit fontScale="90000"/>
          </a:bodyPr>
          <a:lstStyle/>
          <a:p>
            <a:r>
              <a:rPr lang="en-US" dirty="0"/>
              <a:t>Value Categories Since </a:t>
            </a:r>
            <a:r>
              <a:rPr lang="en-US" dirty="0" err="1"/>
              <a:t>c++</a:t>
            </a:r>
            <a:r>
              <a:rPr lang="en-US" dirty="0"/>
              <a:t>11</a:t>
            </a:r>
            <a:endParaRPr lang="hy-AM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540DA2C-5451-1701-2D14-E2776E6AC337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584199" y="1435099"/>
          <a:ext cx="5218114" cy="483111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9057">
                  <a:extLst>
                    <a:ext uri="{9D8B030D-6E8A-4147-A177-3AD203B41FA5}">
                      <a16:colId xmlns:a16="http://schemas.microsoft.com/office/drawing/2014/main" val="4275182555"/>
                    </a:ext>
                  </a:extLst>
                </a:gridCol>
                <a:gridCol w="2609057">
                  <a:extLst>
                    <a:ext uri="{9D8B030D-6E8A-4147-A177-3AD203B41FA5}">
                      <a16:colId xmlns:a16="http://schemas.microsoft.com/office/drawing/2014/main" val="520676114"/>
                    </a:ext>
                  </a:extLst>
                </a:gridCol>
              </a:tblGrid>
              <a:tr h="8051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 Category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C++11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933798"/>
                  </a:ext>
                </a:extLst>
              </a:tr>
              <a:tr h="805185">
                <a:tc>
                  <a:txBody>
                    <a:bodyPr/>
                    <a:lstStyle/>
                    <a:p>
                      <a:pPr lvl="2" algn="l"/>
                      <a:r>
                        <a:rPr lang="en-US" dirty="0" err="1"/>
                        <a:t>lvalue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locator value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226781"/>
                  </a:ext>
                </a:extLst>
              </a:tr>
              <a:tr h="805185">
                <a:tc>
                  <a:txBody>
                    <a:bodyPr/>
                    <a:lstStyle/>
                    <a:p>
                      <a:pPr lvl="2" algn="l"/>
                      <a:r>
                        <a:rPr lang="en-US" dirty="0" err="1"/>
                        <a:t>prvalue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pure readable value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610913"/>
                  </a:ext>
                </a:extLst>
              </a:tr>
              <a:tr h="805185">
                <a:tc>
                  <a:txBody>
                    <a:bodyPr/>
                    <a:lstStyle/>
                    <a:p>
                      <a:pPr lvl="2" algn="l"/>
                      <a:r>
                        <a:rPr lang="en-US" dirty="0" err="1"/>
                        <a:t>xvalue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="1" dirty="0"/>
                        <a:t>x</a:t>
                      </a:r>
                      <a:r>
                        <a:rPr lang="en-US" b="0" dirty="0"/>
                        <a:t>piring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908379"/>
                  </a:ext>
                </a:extLst>
              </a:tr>
              <a:tr h="805185">
                <a:tc>
                  <a:txBody>
                    <a:bodyPr/>
                    <a:lstStyle/>
                    <a:p>
                      <a:pPr lvl="2" algn="l"/>
                      <a:r>
                        <a:rPr lang="en-US" dirty="0" err="1"/>
                        <a:t>glvalue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generalized </a:t>
                      </a:r>
                      <a:r>
                        <a:rPr lang="en-US" dirty="0" err="1"/>
                        <a:t>lvalue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35913"/>
                  </a:ext>
                </a:extLst>
              </a:tr>
              <a:tr h="805185">
                <a:tc>
                  <a:txBody>
                    <a:bodyPr/>
                    <a:lstStyle/>
                    <a:p>
                      <a:pPr lvl="2" algn="l"/>
                      <a:r>
                        <a:rPr lang="en-US" dirty="0" err="1"/>
                        <a:t>rvalue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xvalue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prvalue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341159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D624235-27CE-5CBE-60ED-DDEFE62335F9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455" y="2173403"/>
            <a:ext cx="5174166" cy="33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92595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F15A02-FF97-6C5F-E54A-9D1F2C99E0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84940"/>
            <a:ext cx="3475037" cy="307777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lvalue</a:t>
            </a:r>
            <a:r>
              <a:rPr lang="en-US" dirty="0"/>
              <a:t> examples</a:t>
            </a:r>
            <a:endParaRPr lang="hy-AM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8DDD63-E145-2DF2-AA56-7A52CF3DF6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3883" y="2266410"/>
            <a:ext cx="3475037" cy="371197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Name of a variable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String literal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Return value of a function declared to return a </a:t>
            </a:r>
            <a:r>
              <a:rPr lang="en-US" sz="1800" dirty="0" err="1"/>
              <a:t>lvlue</a:t>
            </a:r>
            <a:r>
              <a:rPr lang="en-US" sz="1800" dirty="0"/>
              <a:t> &amp;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Any reference to a function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 result of the built-in unary * operator</a:t>
            </a:r>
            <a:endParaRPr lang="hy-AM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1E79F7-267B-817E-A095-251E8C37E8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6100" y="1484940"/>
            <a:ext cx="3475037" cy="307777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prvalue</a:t>
            </a:r>
            <a:r>
              <a:rPr lang="en-US" dirty="0"/>
              <a:t> examples</a:t>
            </a:r>
            <a:endParaRPr lang="hy-AM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E82E9EF-8C86-05B5-173E-A4CB2536F3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5783" y="2266410"/>
            <a:ext cx="3475037" cy="371197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Built-in literal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Return type of a function declared to return by value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Result of the built-in unary &amp; operator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Lambda expression</a:t>
            </a:r>
            <a:endParaRPr lang="hy-AM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07275C1-A477-91C1-8849-69590D1689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0" y="1490655"/>
            <a:ext cx="3475037" cy="307777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xvalue</a:t>
            </a:r>
            <a:r>
              <a:rPr lang="en-US" dirty="0"/>
              <a:t> examples</a:t>
            </a:r>
            <a:endParaRPr lang="hy-AM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7554727-31EB-2A98-855E-83CD523A569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7683" y="2272125"/>
            <a:ext cx="3475037" cy="371197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The result of marking object with std::move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 cast to a Type&amp;&amp; of an object type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 return value of a function declared to return Type&amp;&amp;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A non-static </a:t>
            </a:r>
            <a:r>
              <a:rPr lang="en-US" sz="1800" b="1" dirty="0"/>
              <a:t>value</a:t>
            </a:r>
            <a:r>
              <a:rPr lang="en-US" sz="1800" dirty="0"/>
              <a:t> member of a </a:t>
            </a:r>
            <a:r>
              <a:rPr lang="en-US" sz="1800" dirty="0" err="1"/>
              <a:t>rvalue</a:t>
            </a:r>
            <a:endParaRPr lang="hy-AM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B937DA-E9B4-1B68-605A-E9BAD40C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Categories Since </a:t>
            </a:r>
            <a:r>
              <a:rPr lang="en-US" dirty="0" err="1"/>
              <a:t>c++</a:t>
            </a:r>
            <a:r>
              <a:rPr lang="en-US" dirty="0"/>
              <a:t>11 (2)</a:t>
            </a:r>
            <a:endParaRPr lang="hy-AM" dirty="0"/>
          </a:p>
        </p:txBody>
      </p:sp>
    </p:spTree>
    <p:extLst>
      <p:ext uri="{BB962C8B-B14F-4D97-AF65-F5344CB8AC3E}">
        <p14:creationId xmlns:p14="http://schemas.microsoft.com/office/powerpoint/2010/main" val="147377381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937DA-E9B4-1B68-605A-E9BAD40C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Categories Since </a:t>
            </a:r>
            <a:r>
              <a:rPr lang="en-US" dirty="0" err="1"/>
              <a:t>c++</a:t>
            </a:r>
            <a:r>
              <a:rPr lang="en-US" dirty="0"/>
              <a:t>11 (3)</a:t>
            </a:r>
            <a:endParaRPr lang="hy-AM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8DDD63-E145-2DF2-AA56-7A52CF3DF6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127283"/>
            <a:ext cx="5211763" cy="41389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names used as expression are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lvalues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string literals are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lvalues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non-string literals are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prvalues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temporaries without a name are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prvalues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objects marked with std::move (including their value members) are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xvalues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hy-AM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C1E83C7-46C6-8BE2-9F18-6F83CCA7DCE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8244" r="8885"/>
          <a:stretch/>
        </p:blipFill>
        <p:spPr>
          <a:xfrm>
            <a:off x="6095999" y="2156613"/>
            <a:ext cx="5510783" cy="3233400"/>
          </a:xfrm>
        </p:spPr>
      </p:pic>
    </p:spTree>
    <p:extLst>
      <p:ext uri="{BB962C8B-B14F-4D97-AF65-F5344CB8AC3E}">
        <p14:creationId xmlns:p14="http://schemas.microsoft.com/office/powerpoint/2010/main" val="153385325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937DA-E9B4-1B68-605A-E9BAD40C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Categories Since </a:t>
            </a:r>
            <a:r>
              <a:rPr lang="en-US" dirty="0" err="1"/>
              <a:t>c++</a:t>
            </a:r>
            <a:r>
              <a:rPr lang="en-US" dirty="0"/>
              <a:t>17</a:t>
            </a:r>
            <a:endParaRPr lang="hy-AM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8DDD63-E145-2DF2-AA56-7A52CF3DF6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263" y="1345543"/>
            <a:ext cx="11364592" cy="1738780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b="1" dirty="0" err="1"/>
              <a:t>glvalue</a:t>
            </a:r>
            <a:r>
              <a:rPr lang="en-US" dirty="0" err="1"/>
              <a:t>s</a:t>
            </a:r>
            <a:r>
              <a:rPr lang="en-US" dirty="0"/>
              <a:t>: expressions for locations of long-living objects or functions.</a:t>
            </a:r>
          </a:p>
          <a:p>
            <a:pPr>
              <a:spcAft>
                <a:spcPts val="600"/>
              </a:spcAft>
            </a:pPr>
            <a:r>
              <a:rPr lang="en-US" b="1" dirty="0" err="1"/>
              <a:t>prvalue</a:t>
            </a:r>
            <a:r>
              <a:rPr lang="en-US" dirty="0" err="1"/>
              <a:t>s</a:t>
            </a:r>
            <a:r>
              <a:rPr lang="en-US" dirty="0"/>
              <a:t>: expressions for short living values for initializations.</a:t>
            </a:r>
          </a:p>
          <a:p>
            <a:pPr>
              <a:spcAft>
                <a:spcPts val="600"/>
              </a:spcAft>
            </a:pPr>
            <a:r>
              <a:rPr lang="en-US" b="1" dirty="0" err="1"/>
              <a:t>xvalue</a:t>
            </a:r>
            <a:r>
              <a:rPr lang="en-US" dirty="0" err="1"/>
              <a:t>s</a:t>
            </a:r>
            <a:r>
              <a:rPr lang="en-US" dirty="0"/>
              <a:t>: expressions representing a long-living object whose values are no longer needed.</a:t>
            </a:r>
          </a:p>
          <a:p>
            <a:pPr>
              <a:spcAft>
                <a:spcPts val="600"/>
              </a:spcAft>
            </a:pPr>
            <a:r>
              <a:rPr lang="en-US" dirty="0"/>
              <a:t>Temporary materialization conversion is a </a:t>
            </a:r>
            <a:r>
              <a:rPr lang="en-US" dirty="0" err="1"/>
              <a:t>prvalue</a:t>
            </a:r>
            <a:r>
              <a:rPr lang="en-US" dirty="0"/>
              <a:t> to </a:t>
            </a:r>
            <a:r>
              <a:rPr lang="en-US" dirty="0" err="1"/>
              <a:t>xvalue</a:t>
            </a:r>
            <a:r>
              <a:rPr lang="en-US" dirty="0"/>
              <a:t> conversion.</a:t>
            </a:r>
            <a:endParaRPr lang="hy-AM" sz="1800" dirty="0"/>
          </a:p>
          <a:p>
            <a:pPr>
              <a:spcAft>
                <a:spcPts val="600"/>
              </a:spcAft>
            </a:pPr>
            <a:endParaRPr lang="hy-AM" sz="1800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A38E18-3037-1839-C473-AD0EDAD2C0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956356" y="3084323"/>
            <a:ext cx="6279287" cy="3346653"/>
          </a:xfrm>
        </p:spPr>
      </p:pic>
    </p:spTree>
    <p:extLst>
      <p:ext uri="{BB962C8B-B14F-4D97-AF65-F5344CB8AC3E}">
        <p14:creationId xmlns:p14="http://schemas.microsoft.com/office/powerpoint/2010/main" val="189780492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937DA-E9B4-1B68-605A-E9BAD40C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Rules for Value Categories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8DDD63-E145-2DF2-AA56-7A52CF3DF6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/>
              <a:t>All expressions that are references to functions are </a:t>
            </a:r>
            <a:r>
              <a:rPr lang="en-US" sz="2400" b="1" dirty="0" err="1"/>
              <a:t>lvalues</a:t>
            </a:r>
            <a:r>
              <a:rPr lang="en-US" sz="2400" dirty="0"/>
              <a:t>.</a:t>
            </a:r>
          </a:p>
          <a:p>
            <a:pPr lvl="1">
              <a:spcAft>
                <a:spcPts val="600"/>
              </a:spcAft>
            </a:pPr>
            <a:r>
              <a:rPr lang="en-US" i="1" dirty="0"/>
              <a:t>void (&amp;&amp;ref)() = f; // ref is a </a:t>
            </a:r>
            <a:r>
              <a:rPr lang="en-US" i="1" dirty="0" err="1"/>
              <a:t>lvalue</a:t>
            </a:r>
            <a:endParaRPr lang="en-US" i="1" dirty="0"/>
          </a:p>
          <a:p>
            <a:pPr>
              <a:spcAft>
                <a:spcPts val="600"/>
              </a:spcAft>
            </a:pPr>
            <a:r>
              <a:rPr lang="en-US" dirty="0"/>
              <a:t>Data members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Data members of </a:t>
            </a:r>
            <a:r>
              <a:rPr lang="en-US" dirty="0" err="1"/>
              <a:t>lvalues</a:t>
            </a:r>
            <a:r>
              <a:rPr lang="en-US" dirty="0"/>
              <a:t> are </a:t>
            </a:r>
            <a:r>
              <a:rPr lang="en-US" dirty="0" err="1"/>
              <a:t>lvalues</a:t>
            </a:r>
            <a:r>
              <a:rPr lang="en-US" dirty="0"/>
              <a:t>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Reference and static data members of </a:t>
            </a:r>
            <a:r>
              <a:rPr lang="en-US" dirty="0" err="1"/>
              <a:t>rvalues</a:t>
            </a:r>
            <a:r>
              <a:rPr lang="en-US" dirty="0"/>
              <a:t> are </a:t>
            </a:r>
            <a:r>
              <a:rPr lang="en-US" dirty="0" err="1"/>
              <a:t>lvalues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Plain data members of </a:t>
            </a:r>
            <a:r>
              <a:rPr lang="en-US" dirty="0" err="1"/>
              <a:t>rvalues</a:t>
            </a:r>
            <a:r>
              <a:rPr lang="en-US" dirty="0"/>
              <a:t> are </a:t>
            </a:r>
            <a:r>
              <a:rPr lang="en-US" dirty="0" err="1"/>
              <a:t>xvalues</a:t>
            </a:r>
            <a:r>
              <a:rPr lang="en-US" dirty="0"/>
              <a:t>.</a:t>
            </a:r>
          </a:p>
          <a:p>
            <a:pPr lvl="1"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i="1" dirty="0"/>
              <a:t>std::move(obj).member </a:t>
            </a:r>
            <a:r>
              <a:rPr lang="en-US" dirty="0"/>
              <a:t>vs </a:t>
            </a:r>
            <a:r>
              <a:rPr lang="en-US" i="1" dirty="0"/>
              <a:t>std::move(</a:t>
            </a:r>
            <a:r>
              <a:rPr lang="en-US" i="1" dirty="0" err="1"/>
              <a:t>obj.member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412763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0EB2C-72C4-745B-254B-41AAE083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i="0" u="none" strike="noStrike" baseline="0" dirty="0">
                <a:latin typeface="NimbusRomNo9L-Regu-Slant_167"/>
              </a:rPr>
              <a:t>Value Categories and Binding References</a:t>
            </a:r>
            <a:endParaRPr lang="hy-AM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27BA138-B753-6942-9F48-02446050D40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80492172"/>
              </p:ext>
            </p:extLst>
          </p:nvPr>
        </p:nvGraphicFramePr>
        <p:xfrm>
          <a:off x="584200" y="1431925"/>
          <a:ext cx="11018835" cy="222504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203767">
                  <a:extLst>
                    <a:ext uri="{9D8B030D-6E8A-4147-A177-3AD203B41FA5}">
                      <a16:colId xmlns:a16="http://schemas.microsoft.com/office/drawing/2014/main" val="2081856863"/>
                    </a:ext>
                  </a:extLst>
                </a:gridCol>
                <a:gridCol w="2203767">
                  <a:extLst>
                    <a:ext uri="{9D8B030D-6E8A-4147-A177-3AD203B41FA5}">
                      <a16:colId xmlns:a16="http://schemas.microsoft.com/office/drawing/2014/main" val="4256058364"/>
                    </a:ext>
                  </a:extLst>
                </a:gridCol>
                <a:gridCol w="2203767">
                  <a:extLst>
                    <a:ext uri="{9D8B030D-6E8A-4147-A177-3AD203B41FA5}">
                      <a16:colId xmlns:a16="http://schemas.microsoft.com/office/drawing/2014/main" val="1287874287"/>
                    </a:ext>
                  </a:extLst>
                </a:gridCol>
                <a:gridCol w="2203767">
                  <a:extLst>
                    <a:ext uri="{9D8B030D-6E8A-4147-A177-3AD203B41FA5}">
                      <a16:colId xmlns:a16="http://schemas.microsoft.com/office/drawing/2014/main" val="838947591"/>
                    </a:ext>
                  </a:extLst>
                </a:gridCol>
                <a:gridCol w="2203767">
                  <a:extLst>
                    <a:ext uri="{9D8B030D-6E8A-4147-A177-3AD203B41FA5}">
                      <a16:colId xmlns:a16="http://schemas.microsoft.com/office/drawing/2014/main" val="2414837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f(X&amp;)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f(const X&amp;)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f(X&amp;&amp;)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f(const X&amp;&amp;)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208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f(v)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34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f(c)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f(X{})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8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f(std::move(v))</a:t>
                      </a:r>
                      <a:endParaRPr lang="hy-AM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07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f(std::move(c))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276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149A26-875A-2E55-ACCD-16DCA2D502E1}"/>
              </a:ext>
            </a:extLst>
          </p:cNvPr>
          <p:cNvSpPr txBox="1"/>
          <p:nvPr/>
        </p:nvSpPr>
        <p:spPr>
          <a:xfrm>
            <a:off x="798897" y="4340994"/>
            <a:ext cx="511678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800" dirty="0"/>
              <a:t>Universal references are not included in this table.</a:t>
            </a:r>
            <a:endParaRPr lang="hy-AM" sz="1800" dirty="0" err="1"/>
          </a:p>
        </p:txBody>
      </p:sp>
    </p:spTree>
    <p:extLst>
      <p:ext uri="{BB962C8B-B14F-4D97-AF65-F5344CB8AC3E}">
        <p14:creationId xmlns:p14="http://schemas.microsoft.com/office/powerpoint/2010/main" val="342262238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0EB2C-72C4-745B-254B-41AAE083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i="0" u="none" strike="noStrike" baseline="0" dirty="0">
                <a:latin typeface="NimbusRomNo9L-Regu-Slant_167"/>
              </a:rPr>
              <a:t>Value Categories and Binding References</a:t>
            </a:r>
            <a:endParaRPr lang="hy-AM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27BA138-B753-6942-9F48-02446050D40E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586582" y="1152792"/>
          <a:ext cx="8932805" cy="238718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838984">
                  <a:extLst>
                    <a:ext uri="{9D8B030D-6E8A-4147-A177-3AD203B41FA5}">
                      <a16:colId xmlns:a16="http://schemas.microsoft.com/office/drawing/2014/main" val="2081856863"/>
                    </a:ext>
                  </a:extLst>
                </a:gridCol>
                <a:gridCol w="1848051">
                  <a:extLst>
                    <a:ext uri="{9D8B030D-6E8A-4147-A177-3AD203B41FA5}">
                      <a16:colId xmlns:a16="http://schemas.microsoft.com/office/drawing/2014/main" val="4256058364"/>
                    </a:ext>
                  </a:extLst>
                </a:gridCol>
                <a:gridCol w="1799924">
                  <a:extLst>
                    <a:ext uri="{9D8B030D-6E8A-4147-A177-3AD203B41FA5}">
                      <a16:colId xmlns:a16="http://schemas.microsoft.com/office/drawing/2014/main" val="1287874287"/>
                    </a:ext>
                  </a:extLst>
                </a:gridCol>
                <a:gridCol w="1838425">
                  <a:extLst>
                    <a:ext uri="{9D8B030D-6E8A-4147-A177-3AD203B41FA5}">
                      <a16:colId xmlns:a16="http://schemas.microsoft.com/office/drawing/2014/main" val="838947591"/>
                    </a:ext>
                  </a:extLst>
                </a:gridCol>
                <a:gridCol w="1607421">
                  <a:extLst>
                    <a:ext uri="{9D8B030D-6E8A-4147-A177-3AD203B41FA5}">
                      <a16:colId xmlns:a16="http://schemas.microsoft.com/office/drawing/2014/main" val="2414837653"/>
                    </a:ext>
                  </a:extLst>
                </a:gridCol>
              </a:tblGrid>
              <a:tr h="3205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f(X&amp;)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f(const X&amp;)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f(X&amp;&amp;)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f(const X&amp;&amp;)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208388"/>
                  </a:ext>
                </a:extLst>
              </a:tr>
              <a:tr h="32057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f(v)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346670"/>
                  </a:ext>
                </a:extLst>
              </a:tr>
              <a:tr h="32057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f(c)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4083"/>
                  </a:ext>
                </a:extLst>
              </a:tr>
              <a:tr h="32057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f(X{})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81192"/>
                  </a:ext>
                </a:extLst>
              </a:tr>
              <a:tr h="462073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f(std::move(v))</a:t>
                      </a:r>
                      <a:endParaRPr lang="hy-AM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077771"/>
                  </a:ext>
                </a:extLst>
              </a:tr>
              <a:tr h="46207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f(std::move(c))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276144"/>
                  </a:ext>
                </a:extLst>
              </a:tr>
            </a:tbl>
          </a:graphicData>
        </a:graphic>
      </p:graphicFrame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FFC5D8AC-41B9-4B19-C9FF-7EF3ED728AFD}"/>
              </a:ext>
            </a:extLst>
          </p:cNvPr>
          <p:cNvGraphicFramePr>
            <a:graphicFrameLocks/>
          </p:cNvGraphicFramePr>
          <p:nvPr/>
        </p:nvGraphicFramePr>
        <p:xfrm>
          <a:off x="586581" y="3663382"/>
          <a:ext cx="11018838" cy="276860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836473">
                  <a:extLst>
                    <a:ext uri="{9D8B030D-6E8A-4147-A177-3AD203B41FA5}">
                      <a16:colId xmlns:a16="http://schemas.microsoft.com/office/drawing/2014/main" val="2081856863"/>
                    </a:ext>
                  </a:extLst>
                </a:gridCol>
                <a:gridCol w="1836473">
                  <a:extLst>
                    <a:ext uri="{9D8B030D-6E8A-4147-A177-3AD203B41FA5}">
                      <a16:colId xmlns:a16="http://schemas.microsoft.com/office/drawing/2014/main" val="4256058364"/>
                    </a:ext>
                  </a:extLst>
                </a:gridCol>
                <a:gridCol w="1836473">
                  <a:extLst>
                    <a:ext uri="{9D8B030D-6E8A-4147-A177-3AD203B41FA5}">
                      <a16:colId xmlns:a16="http://schemas.microsoft.com/office/drawing/2014/main" val="1287874287"/>
                    </a:ext>
                  </a:extLst>
                </a:gridCol>
                <a:gridCol w="1836473">
                  <a:extLst>
                    <a:ext uri="{9D8B030D-6E8A-4147-A177-3AD203B41FA5}">
                      <a16:colId xmlns:a16="http://schemas.microsoft.com/office/drawing/2014/main" val="838947591"/>
                    </a:ext>
                  </a:extLst>
                </a:gridCol>
                <a:gridCol w="1608544">
                  <a:extLst>
                    <a:ext uri="{9D8B030D-6E8A-4147-A177-3AD203B41FA5}">
                      <a16:colId xmlns:a16="http://schemas.microsoft.com/office/drawing/2014/main" val="2414837653"/>
                    </a:ext>
                  </a:extLst>
                </a:gridCol>
                <a:gridCol w="2064402">
                  <a:extLst>
                    <a:ext uri="{9D8B030D-6E8A-4147-A177-3AD203B41FA5}">
                      <a16:colId xmlns:a16="http://schemas.microsoft.com/office/drawing/2014/main" val="2839233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f(X&amp;)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f(const X&amp;)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f(X&amp;&amp;)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f(const X&amp;&amp;)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template &lt;</a:t>
                      </a:r>
                      <a:r>
                        <a:rPr lang="en-US" dirty="0" err="1"/>
                        <a:t>typename</a:t>
                      </a:r>
                      <a:r>
                        <a:rPr lang="en-US" dirty="0"/>
                        <a:t> T&gt;</a:t>
                      </a:r>
                    </a:p>
                    <a:p>
                      <a:pPr algn="ctr"/>
                      <a:r>
                        <a:rPr lang="en-US" dirty="0"/>
                        <a:t>f(T&amp;&amp;)</a:t>
                      </a:r>
                      <a:endParaRPr lang="hy-AM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208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f(v)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346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f(c)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f(X{})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08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f(std::move(v))</a:t>
                      </a:r>
                      <a:endParaRPr lang="hy-AM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4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07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f(std::move(c))</a:t>
                      </a:r>
                      <a:endParaRPr lang="hy-AM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-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  <a:endParaRPr lang="hy-AM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</a:t>
                      </a:r>
                      <a:endParaRPr lang="hy-AM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27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17814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E0EB2C-72C4-745B-254B-41AAE083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wrap="square" anchor="t">
            <a:normAutofit fontScale="90000"/>
          </a:bodyPr>
          <a:lstStyle/>
          <a:p>
            <a:r>
              <a:rPr lang="en-US" i="0" u="none" strike="noStrike" baseline="0"/>
              <a:t>Value Categories and Binding References</a:t>
            </a:r>
            <a:endParaRPr lang="hy-AM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EA37D7-EC5F-13A5-8592-78898A0A38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388182"/>
            <a:ext cx="4006751" cy="48780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class X {};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template&lt;</a:t>
            </a:r>
            <a:r>
              <a:rPr lang="en-US" sz="2000" dirty="0" err="1"/>
              <a:t>typename</a:t>
            </a:r>
            <a:r>
              <a:rPr lang="en-US" sz="2000" dirty="0"/>
              <a:t> T&gt;</a:t>
            </a:r>
          </a:p>
          <a:p>
            <a:pPr marL="0" indent="0">
              <a:buNone/>
            </a:pPr>
            <a:r>
              <a:rPr lang="en-US" sz="2000" dirty="0"/>
              <a:t>void f(T&amp;&amp; </a:t>
            </a:r>
            <a:r>
              <a:rPr lang="en-US" sz="2000" dirty="0" err="1"/>
              <a:t>arg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{ /*…*/ 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X v;</a:t>
            </a:r>
          </a:p>
          <a:p>
            <a:pPr marL="0" indent="0">
              <a:buNone/>
            </a:pPr>
            <a:r>
              <a:rPr lang="en-US" sz="2000" dirty="0"/>
              <a:t>const X c;</a:t>
            </a:r>
          </a:p>
          <a:p>
            <a:pPr marL="0" indent="0">
              <a:buNone/>
            </a:pPr>
            <a:r>
              <a:rPr lang="en-US" sz="2000" dirty="0"/>
              <a:t>f(v);</a:t>
            </a:r>
          </a:p>
          <a:p>
            <a:pPr marL="0" indent="0">
              <a:buNone/>
            </a:pPr>
            <a:r>
              <a:rPr lang="en-US" sz="2000" dirty="0"/>
              <a:t>f(c);</a:t>
            </a:r>
          </a:p>
          <a:p>
            <a:pPr marL="0" indent="0">
              <a:buNone/>
            </a:pPr>
            <a:r>
              <a:rPr lang="en-US" sz="2000" dirty="0"/>
              <a:t>f(X{});</a:t>
            </a:r>
          </a:p>
          <a:p>
            <a:pPr marL="0" indent="0">
              <a:buNone/>
            </a:pPr>
            <a:r>
              <a:rPr lang="en-US" sz="2000" dirty="0"/>
              <a:t>f(std::move(v));</a:t>
            </a:r>
          </a:p>
          <a:p>
            <a:pPr marL="0" indent="0">
              <a:buNone/>
            </a:pPr>
            <a:r>
              <a:rPr lang="en-US" sz="2000" dirty="0"/>
              <a:t>f(std::move(c));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27BA138-B753-6942-9F48-02446050D40E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879958" y="1994624"/>
          <a:ext cx="6348741" cy="3648123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3240995">
                  <a:extLst>
                    <a:ext uri="{9D8B030D-6E8A-4147-A177-3AD203B41FA5}">
                      <a16:colId xmlns:a16="http://schemas.microsoft.com/office/drawing/2014/main" val="2081856863"/>
                    </a:ext>
                  </a:extLst>
                </a:gridCol>
                <a:gridCol w="1414174">
                  <a:extLst>
                    <a:ext uri="{9D8B030D-6E8A-4147-A177-3AD203B41FA5}">
                      <a16:colId xmlns:a16="http://schemas.microsoft.com/office/drawing/2014/main" val="4256058364"/>
                    </a:ext>
                  </a:extLst>
                </a:gridCol>
                <a:gridCol w="1693572">
                  <a:extLst>
                    <a:ext uri="{9D8B030D-6E8A-4147-A177-3AD203B41FA5}">
                      <a16:colId xmlns:a16="http://schemas.microsoft.com/office/drawing/2014/main" val="1287874287"/>
                    </a:ext>
                  </a:extLst>
                </a:gridCol>
              </a:tblGrid>
              <a:tr h="7863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Call</a:t>
                      </a:r>
                      <a:endParaRPr lang="hy-AM" sz="240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</a:t>
                      </a:r>
                      <a:endParaRPr lang="hy-AM" sz="240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arg</a:t>
                      </a:r>
                      <a:endParaRPr lang="hy-AM" sz="2400" dirty="0"/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507208388"/>
                  </a:ext>
                </a:extLst>
              </a:tr>
              <a:tr h="46756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f(v)</a:t>
                      </a:r>
                      <a:endParaRPr lang="hy-AM" sz="240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X&amp;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X&amp;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4039346670"/>
                  </a:ext>
                </a:extLst>
              </a:tr>
              <a:tr h="72954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f(c)</a:t>
                      </a:r>
                      <a:endParaRPr lang="hy-AM" sz="240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const X&amp;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const X&amp;</a:t>
                      </a:r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10354083"/>
                  </a:ext>
                </a:extLst>
              </a:tr>
              <a:tr h="467562">
                <a:tc>
                  <a:txBody>
                    <a:bodyPr/>
                    <a:lstStyle/>
                    <a:p>
                      <a:pPr algn="l"/>
                      <a:r>
                        <a:rPr lang="en-US" sz="2400" b="1"/>
                        <a:t>f(X{})</a:t>
                      </a:r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X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X&amp;&amp;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1303081192"/>
                  </a:ext>
                </a:extLst>
              </a:tr>
              <a:tr h="467562">
                <a:tc>
                  <a:txBody>
                    <a:bodyPr/>
                    <a:lstStyle/>
                    <a:p>
                      <a:pPr algn="l"/>
                      <a:r>
                        <a:rPr lang="en-US" sz="2400" b="1"/>
                        <a:t>f(std::move(v))</a:t>
                      </a:r>
                      <a:endParaRPr lang="hy-AM" sz="2400" b="1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X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X&amp;&amp;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2026077771"/>
                  </a:ext>
                </a:extLst>
              </a:tr>
              <a:tr h="729542"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f(std::move(c))</a:t>
                      </a:r>
                      <a:endParaRPr lang="hy-AM" sz="240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const X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const X&amp;&amp;</a:t>
                      </a:r>
                      <a:endParaRPr lang="hy-AM" sz="2400" b="0" dirty="0"/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1872276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67249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BF42B0-B4B7-33E2-05B9-E0FE03291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197893"/>
            <a:ext cx="11018520" cy="2462213"/>
          </a:xfrm>
        </p:spPr>
        <p:txBody>
          <a:bodyPr/>
          <a:lstStyle/>
          <a:p>
            <a:r>
              <a:rPr lang="en-US" dirty="0"/>
              <a:t>Value Categories and Binding References,</a:t>
            </a:r>
            <a:br>
              <a:rPr lang="en-US" dirty="0"/>
            </a:br>
            <a:r>
              <a:rPr lang="en-US" dirty="0" err="1"/>
              <a:t>Lvalue</a:t>
            </a:r>
            <a:r>
              <a:rPr lang="en-US" dirty="0"/>
              <a:t> Becomes </a:t>
            </a:r>
            <a:r>
              <a:rPr lang="en-US" dirty="0" err="1"/>
              <a:t>Rvalue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Rvalue</a:t>
            </a:r>
            <a:r>
              <a:rPr lang="en-US" dirty="0"/>
              <a:t> Becomes </a:t>
            </a:r>
            <a:r>
              <a:rPr lang="en-US" dirty="0" err="1"/>
              <a:t>Lvalue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Value Categories and </a:t>
            </a:r>
            <a:r>
              <a:rPr lang="en-US" i="1" dirty="0" err="1"/>
              <a:t>decltype</a:t>
            </a:r>
            <a:br>
              <a:rPr lang="en-US" i="1" dirty="0"/>
            </a:br>
            <a:r>
              <a:rPr lang="en-US" b="0" i="1" dirty="0"/>
              <a:t>covered by examples</a:t>
            </a:r>
            <a:endParaRPr lang="hy-AM" dirty="0"/>
          </a:p>
        </p:txBody>
      </p:sp>
    </p:spTree>
    <p:extLst>
      <p:ext uri="{BB962C8B-B14F-4D97-AF65-F5344CB8AC3E}">
        <p14:creationId xmlns:p14="http://schemas.microsoft.com/office/powerpoint/2010/main" val="312424184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EFD743-B01B-9177-AFED-FF47045E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</a:t>
            </a:r>
            <a:endParaRPr lang="hy-AM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366219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TemplateConfiguration><![CDATA[{"slideVersion":1,"isValidatorEnabled":false,"isLocked":false,"elementsMetadata":[],"slideId":"637629098472302020","enableDocumentContentUpdater":tru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174D1DE4-3232-4C09-81D8-D287631DA0E9}">
  <ds:schemaRefs/>
</ds:datastoreItem>
</file>

<file path=customXml/itemProps2.xml><?xml version="1.0" encoding="utf-8"?>
<ds:datastoreItem xmlns:ds="http://schemas.openxmlformats.org/officeDocument/2006/customXml" ds:itemID="{492EE822-79BF-4039-BF53-4DFB6ACACBFF}">
  <ds:schemaRefs/>
</ds:datastoreItem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759</Words>
  <Application>Microsoft Office PowerPoint</Application>
  <PresentationFormat>Widescreen</PresentationFormat>
  <Paragraphs>210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NimbusRomNo9L-Regu-Slant_167</vt:lpstr>
      <vt:lpstr>Office Theme</vt:lpstr>
      <vt:lpstr>C++ Value Categories</vt:lpstr>
      <vt:lpstr>Agenda</vt:lpstr>
      <vt:lpstr>Historical Overview</vt:lpstr>
      <vt:lpstr>Value Categories Since c++11</vt:lpstr>
      <vt:lpstr>Value Categories Since c++11 (2)</vt:lpstr>
      <vt:lpstr>Value Categories Since c++11 (3)</vt:lpstr>
      <vt:lpstr>Value Categories Since c++17</vt:lpstr>
      <vt:lpstr>Special Rules for Value Categories</vt:lpstr>
      <vt:lpstr>Value Categories and Binding References</vt:lpstr>
      <vt:lpstr>Value Categories and Binding References</vt:lpstr>
      <vt:lpstr>Value Categories and Binding References</vt:lpstr>
      <vt:lpstr>Value Categories and Binding References, Lvalue Becomes Rvalue, Rvalue Becomes Lvalue, Value Categories and decltype covered by examples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Prazyan, Levon</dc:creator>
  <cp:lastModifiedBy>Prazyan, Levon</cp:lastModifiedBy>
  <cp:revision>1</cp:revision>
  <dcterms:created xsi:type="dcterms:W3CDTF">2024-11-25T14:58:06Z</dcterms:created>
  <dcterms:modified xsi:type="dcterms:W3CDTF">2024-11-26T08:26:47Z</dcterms:modified>
</cp:coreProperties>
</file>
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4795" r:id="rId4"/>
    <p:sldId id="4796" r:id="rId5"/>
    <p:sldId id="4797" r:id="rId6"/>
    <p:sldId id="4798" r:id="rId7"/>
    <p:sldId id="4800" r:id="rId8"/>
    <p:sldId id="4799" r:id="rId9"/>
    <p:sldId id="4802" r:id="rId10"/>
    <p:sldId id="4803" r:id="rId11"/>
    <p:sldId id="4801" r:id="rId12"/>
    <p:sldId id="4804" r:id="rId13"/>
    <p:sldId id="4805" r:id="rId14"/>
    <p:sldId id="4806" r:id="rId15"/>
    <p:sldId id="4807" r:id="rId16"/>
    <p:sldId id="4808" r:id="rId17"/>
    <p:sldId id="4809" r:id="rId18"/>
    <p:sldId id="4810" r:id="rId19"/>
    <p:sldId id="4811" r:id="rId20"/>
    <p:sldId id="4812" r:id="rId21"/>
    <p:sldId id="4813" r:id="rId22"/>
    <p:sldId id="4814" r:id="rId23"/>
    <p:sldId id="4815" r:id="rId24"/>
    <p:sldId id="4816" r:id="rId25"/>
    <p:sldId id="4817" r:id="rId26"/>
    <p:sldId id="4818" r:id="rId27"/>
    <p:sldId id="4821" r:id="rId28"/>
    <p:sldId id="479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61" autoAdjust="0"/>
    <p:restoredTop sz="75666" autoAdjust="0"/>
  </p:normalViewPr>
  <p:slideViewPr>
    <p:cSldViewPr snapToGrid="0">
      <p:cViewPr varScale="1">
        <p:scale>
          <a:sx n="80" d="100"/>
          <a:sy n="80" d="100"/>
        </p:scale>
        <p:origin x="49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zyan, Levon" userId="ed024b0e-4a1a-418a-8ca0-755e149680c9" providerId="ADAL" clId="{4A4D12F4-25F0-4DC3-8755-13CF4EFB28EA}"/>
    <pc:docChg chg="undo custSel addSld delSld modSld">
      <pc:chgData name="Prazyan, Levon" userId="ed024b0e-4a1a-418a-8ca0-755e149680c9" providerId="ADAL" clId="{4A4D12F4-25F0-4DC3-8755-13CF4EFB28EA}" dt="2026-02-10T02:31:29.965" v="15" actId="2890"/>
      <pc:docMkLst>
        <pc:docMk/>
      </pc:docMkLst>
      <pc:sldChg chg="addSp delSp modSp mod">
        <pc:chgData name="Prazyan, Levon" userId="ed024b0e-4a1a-418a-8ca0-755e149680c9" providerId="ADAL" clId="{4A4D12F4-25F0-4DC3-8755-13CF4EFB28EA}" dt="2026-02-09T17:14:17.961" v="1" actId="22"/>
        <pc:sldMkLst>
          <pc:docMk/>
          <pc:sldMk cId="3099056796" sldId="4814"/>
        </pc:sldMkLst>
        <pc:spChg chg="add del mod">
          <ac:chgData name="Prazyan, Levon" userId="ed024b0e-4a1a-418a-8ca0-755e149680c9" providerId="ADAL" clId="{4A4D12F4-25F0-4DC3-8755-13CF4EFB28EA}" dt="2026-02-09T17:14:17.961" v="1" actId="22"/>
          <ac:spMkLst>
            <pc:docMk/>
            <pc:sldMk cId="3099056796" sldId="4814"/>
            <ac:spMk id="4" creationId="{13BF8964-669F-A802-40F4-1C987788CF97}"/>
          </ac:spMkLst>
        </pc:spChg>
        <pc:picChg chg="add mod ord">
          <ac:chgData name="Prazyan, Levon" userId="ed024b0e-4a1a-418a-8ca0-755e149680c9" providerId="ADAL" clId="{4A4D12F4-25F0-4DC3-8755-13CF4EFB28EA}" dt="2026-02-09T17:14:17.961" v="1" actId="22"/>
          <ac:picMkLst>
            <pc:docMk/>
            <pc:sldMk cId="3099056796" sldId="4814"/>
            <ac:picMk id="7" creationId="{61791EC6-F114-13D0-340A-BDE905EF47A5}"/>
          </ac:picMkLst>
        </pc:picChg>
        <pc:picChg chg="del">
          <ac:chgData name="Prazyan, Levon" userId="ed024b0e-4a1a-418a-8ca0-755e149680c9" providerId="ADAL" clId="{4A4D12F4-25F0-4DC3-8755-13CF4EFB28EA}" dt="2026-02-09T17:13:55.038" v="0" actId="478"/>
          <ac:picMkLst>
            <pc:docMk/>
            <pc:sldMk cId="3099056796" sldId="4814"/>
            <ac:picMk id="8" creationId="{95B6E8B8-4E37-B078-E7CD-569E2E44496F}"/>
          </ac:picMkLst>
        </pc:picChg>
      </pc:sldChg>
      <pc:sldChg chg="addSp delSp modSp mod modClrScheme addAnim delAnim chgLayout">
        <pc:chgData name="Prazyan, Levon" userId="ed024b0e-4a1a-418a-8ca0-755e149680c9" providerId="ADAL" clId="{4A4D12F4-25F0-4DC3-8755-13CF4EFB28EA}" dt="2026-02-10T02:31:29.336" v="14" actId="478"/>
        <pc:sldMkLst>
          <pc:docMk/>
          <pc:sldMk cId="1573773253" sldId="4818"/>
        </pc:sldMkLst>
        <pc:spChg chg="mod ord">
          <ac:chgData name="Prazyan, Levon" userId="ed024b0e-4a1a-418a-8ca0-755e149680c9" providerId="ADAL" clId="{4A4D12F4-25F0-4DC3-8755-13CF4EFB28EA}" dt="2026-02-10T02:31:26.326" v="10" actId="700"/>
          <ac:spMkLst>
            <pc:docMk/>
            <pc:sldMk cId="1573773253" sldId="4818"/>
            <ac:spMk id="2" creationId="{790B1423-43C0-7AF1-ABC6-7981C647E9B7}"/>
          </ac:spMkLst>
        </pc:spChg>
        <pc:spChg chg="add del mod">
          <ac:chgData name="Prazyan, Levon" userId="ed024b0e-4a1a-418a-8ca0-755e149680c9" providerId="ADAL" clId="{4A4D12F4-25F0-4DC3-8755-13CF4EFB28EA}" dt="2026-02-10T02:31:29.336" v="14" actId="478"/>
          <ac:spMkLst>
            <pc:docMk/>
            <pc:sldMk cId="1573773253" sldId="4818"/>
            <ac:spMk id="4" creationId="{3E6ECB5B-29FD-AE4E-6AE7-E0AD4D65A9D6}"/>
          </ac:spMkLst>
        </pc:spChg>
        <pc:picChg chg="mod ord">
          <ac:chgData name="Prazyan, Levon" userId="ed024b0e-4a1a-418a-8ca0-755e149680c9" providerId="ADAL" clId="{4A4D12F4-25F0-4DC3-8755-13CF4EFB28EA}" dt="2026-02-10T02:31:26.326" v="10" actId="700"/>
          <ac:picMkLst>
            <pc:docMk/>
            <pc:sldMk cId="1573773253" sldId="4818"/>
            <ac:picMk id="13" creationId="{B22E821C-62B0-9AC8-D644-EFF8389DE526}"/>
          </ac:picMkLst>
        </pc:picChg>
        <pc:picChg chg="add del">
          <ac:chgData name="Prazyan, Levon" userId="ed024b0e-4a1a-418a-8ca0-755e149680c9" providerId="ADAL" clId="{4A4D12F4-25F0-4DC3-8755-13CF4EFB28EA}" dt="2026-02-10T02:31:29.336" v="14" actId="478"/>
          <ac:picMkLst>
            <pc:docMk/>
            <pc:sldMk cId="1573773253" sldId="4818"/>
            <ac:picMk id="15" creationId="{DEBED6FC-B0E5-5CDB-FD07-F70D7AA8753D}"/>
          </ac:picMkLst>
        </pc:picChg>
      </pc:sldChg>
      <pc:sldChg chg="addSp delSp modSp add del mod modClrScheme chgLayout">
        <pc:chgData name="Prazyan, Levon" userId="ed024b0e-4a1a-418a-8ca0-755e149680c9" providerId="ADAL" clId="{4A4D12F4-25F0-4DC3-8755-13CF4EFB28EA}" dt="2026-02-10T02:31:29.965" v="15" actId="2890"/>
        <pc:sldMkLst>
          <pc:docMk/>
          <pc:sldMk cId="581762198" sldId="4822"/>
        </pc:sldMkLst>
        <pc:spChg chg="mod ord">
          <ac:chgData name="Prazyan, Levon" userId="ed024b0e-4a1a-418a-8ca0-755e149680c9" providerId="ADAL" clId="{4A4D12F4-25F0-4DC3-8755-13CF4EFB28EA}" dt="2026-02-10T02:31:28.615" v="13" actId="6549"/>
          <ac:spMkLst>
            <pc:docMk/>
            <pc:sldMk cId="581762198" sldId="4822"/>
            <ac:spMk id="2" creationId="{489060A4-39F9-5E00-0D1B-7FCF18783554}"/>
          </ac:spMkLst>
        </pc:spChg>
        <pc:spChg chg="add del mod ord">
          <ac:chgData name="Prazyan, Levon" userId="ed024b0e-4a1a-418a-8ca0-755e149680c9" providerId="ADAL" clId="{4A4D12F4-25F0-4DC3-8755-13CF4EFB28EA}" dt="2026-02-10T02:31:27.040" v="11" actId="478"/>
          <ac:spMkLst>
            <pc:docMk/>
            <pc:sldMk cId="581762198" sldId="4822"/>
            <ac:spMk id="4" creationId="{2954C0F1-D2E7-1858-02AB-1F112AD4F38A}"/>
          </ac:spMkLst>
        </pc:spChg>
        <pc:picChg chg="add del">
          <ac:chgData name="Prazyan, Levon" userId="ed024b0e-4a1a-418a-8ca0-755e149680c9" providerId="ADAL" clId="{4A4D12F4-25F0-4DC3-8755-13CF4EFB28EA}" dt="2026-02-10T02:31:27.040" v="11" actId="478"/>
          <ac:picMkLst>
            <pc:docMk/>
            <pc:sldMk cId="581762198" sldId="4822"/>
            <ac:picMk id="13" creationId="{F87A9471-E155-5F95-4049-942F1D0F2C20}"/>
          </ac:picMkLst>
        </pc:picChg>
        <pc:picChg chg="mod ord">
          <ac:chgData name="Prazyan, Levon" userId="ed024b0e-4a1a-418a-8ca0-755e149680c9" providerId="ADAL" clId="{4A4D12F4-25F0-4DC3-8755-13CF4EFB28EA}" dt="2026-02-10T02:31:25.720" v="9" actId="700"/>
          <ac:picMkLst>
            <pc:docMk/>
            <pc:sldMk cId="581762198" sldId="4822"/>
            <ac:picMk id="15" creationId="{C92D501B-D63D-8D47-DD1B-9ABE76D96F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B5702-F164-4492-9EF6-882193065F88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2A58C-8E2F-4CF4-BCC2-14D73B27F3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5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Full Binary Tree</a:t>
            </a:r>
            <a:r>
              <a:rPr lang="en-US" dirty="0"/>
              <a:t>: Every node has either 0 or 2 children.</a:t>
            </a:r>
          </a:p>
          <a:p>
            <a:r>
              <a:rPr lang="en-US" b="1" dirty="0"/>
              <a:t>Complete Binary Tree</a:t>
            </a:r>
            <a:r>
              <a:rPr lang="en-US" dirty="0"/>
              <a:t>: All levels are completely filled except possibly the last level, and all nodes are as far left as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176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61E4-FA32-2484-2DB1-3E88E0C6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14D49-19CA-C7F0-5CDB-48C10BB5D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F6B16-6341-FD4A-094D-69E38B8E6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Perfect Binary Tree</a:t>
            </a:r>
            <a:r>
              <a:rPr lang="en-US" dirty="0"/>
              <a:t>: All internal nodes have two children, and all leaf nodes are at the same level.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Degenerate (or Pathological) Tree</a:t>
            </a:r>
            <a:r>
              <a:rPr lang="en-US" dirty="0"/>
              <a:t>: Each parent has only one child, making it essentially a linked list.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A868D-A8B3-DE58-4C63-1068EF612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45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E58D-4FB7-6BCF-1310-457DB09CA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B0FB3-8E16-62A3-4EE4-E41B451C6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BD1EE-278A-CCC4-4A61-2DDE5ECA5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Balanced Binary Tree</a:t>
            </a:r>
            <a:r>
              <a:rPr lang="en-US" dirty="0"/>
              <a:t>: The height of the left and right subtrees of any node differs by at most 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A2247-45ED-942F-F1C0-29D67CCE2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00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300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The procedure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𝑇𝑅𝐴𝑁𝑆𝑃𝐿𝐴𝑁𝑇</m:t>
                    </m:r>
                  </m:oMath>
                </a14:m>
                <a:r>
                  <a:rPr lang="en-US" dirty="0"/>
                  <a:t> replaces one subtree as a child of its parent with another subtree.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The procedure </a:t>
                </a:r>
                <a:r>
                  <a:rPr lang="en-US" i="0" dirty="0">
                    <a:latin typeface="Cambria Math" panose="02040503050406030204" pitchFamily="18" charset="0"/>
                  </a:rPr>
                  <a:t>𝑇𝑅𝐴𝑁𝑆𝑃𝐿𝐴𝑁𝑇</a:t>
                </a:r>
                <a:r>
                  <a:rPr lang="en-US" dirty="0"/>
                  <a:t> replaces one subtree as a child of its parent with another subtree.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167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251D-1AB8-4A55-9051-A4850FF0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6D16F-41EB-C530-78CE-0B18178A8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A832-E3FE-8947-C7FA-0D781C45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9FE3B-1087-D5D0-361B-FC104D4A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8F0A0-7733-E96F-DC79-DACDE94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0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5360-8393-F8A7-9B4E-A5F91C25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8C8A-E199-A705-6FB1-EFB25F25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872B8-8F94-B6C1-3137-90E3C7B5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7A7F3-F5E8-E21B-CA86-E578C83C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585B-DFE4-AA74-C10F-1BDADACE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3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B468-8243-B0E9-A019-1B9445C3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40F6-9706-8C8D-2DF2-B51050C32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4183-BAA7-0B79-A0AA-A700AAB2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0D003-B433-16F0-6348-16048167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07A1-7565-6E01-2D59-D66D5A01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3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AAA8-63B4-C2F0-8CA3-B8F798B6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62E5-19BA-1876-5AE3-9E174F29A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3F4F3-8D6D-20EF-D16A-9D4CF970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A0B1A-0D87-5C43-32C0-1358CFD1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7086C-C7D0-4D1F-FA23-54332C66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90FBE-A8B2-329E-CCA0-94DB075C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74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A20B-C9A8-6031-2DC7-6B412D8D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4FC9F-7BEC-554C-4B1F-3D512572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22F46-6193-B43E-0D4C-6F5BC1B6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8F3A4-E020-78E9-B267-50E92C529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0B438-BB33-DF3F-BA12-F7C1B8C4C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D0D84-87B3-C51C-AC29-D9845F46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2DCA0-A536-8D48-7378-A626BECD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76080-45E6-416C-00C6-347A8A98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2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A7D1-749D-7264-FEEC-BD7FD872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9877B-B058-565C-757C-2907747E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4686-960D-94DB-FEB0-DA72E035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8E631-05EE-2866-77A5-78C82495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388AF-A5D5-0A2A-82A6-9CD7A811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F5736-623E-B24E-3971-2F6AD9F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BE808-390D-38AE-4A34-B1E033B1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8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E8AA-1F34-5D9C-A547-B828AF20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B504-3687-EE8F-6159-9F4195A2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7951D-8F58-D234-7143-C946F4901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1AA36-9E0C-BAF8-2AF6-495CF68A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C3457-1A37-75E2-CDEF-A08D51C8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6739D-88BC-0A95-048E-487986B6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9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85F3-E3A2-0034-D209-A44746D5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2E9A8-1577-EDFF-BA82-F43C0786B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0423-A7D2-FD06-9B28-CE2A07D75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DF61-F71D-5569-F144-78563767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F9E7B-F0D5-2CF7-553A-892F1053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1547A-AB84-C515-772E-0B7683FD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8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F46B-8307-541C-E9CF-83AF33F6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E2592-5CE7-58A5-373B-321A1130F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F874E-49CB-B018-23C5-E5897AC8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B249B-5A2E-3F8C-C0D2-08BF5313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5739-EB31-644D-B898-70968DCE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4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BD635-112D-AB74-DA68-5A8F79D58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A7F6-B791-16DD-20EC-DB187893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D594-7827-EE34-6C2E-F620C151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4812-33F0-EAB7-7CE0-3153610C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ADD4-1D22-273D-EEA9-2710F284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0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862182-6389-D39E-EB48-051E9B7F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1F1FB-EE6D-B1EF-1BFC-F76DDD70C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1F4C2-B8D9-56AA-BF23-257D597AF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C09B7-BC59-4FDF-B344-E8A7C51BB8C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E698-2BE3-B173-F1AE-1366188D3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46E3-415D-563B-A77E-FA512FACD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D6C4D-9BB3-2AA1-B3BD-B852BA6BA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410EE-202B-D036-4508-61A95E937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Levon Prazyan</a:t>
            </a:r>
          </a:p>
        </p:txBody>
      </p:sp>
    </p:spTree>
    <p:extLst>
      <p:ext uri="{BB962C8B-B14F-4D97-AF65-F5344CB8AC3E}">
        <p14:creationId xmlns:p14="http://schemas.microsoft.com/office/powerpoint/2010/main" val="36004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1CF4-2135-E26A-87F1-B3EE8855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998C-E6BD-C71A-C3E7-04FF6D66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Introduction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Sorting and Searching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Arrays and Lists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Stacks and Queues, Double Ended Queue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Heaps</a:t>
            </a:r>
          </a:p>
          <a:p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Trees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Hash Tables</a:t>
            </a: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Dynamic Programming</a:t>
            </a:r>
            <a:endParaRPr lang="en-US" sz="1800" b="1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Greedy Algorithms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Graph Algorithms</a:t>
            </a:r>
            <a:endParaRPr lang="en-US" sz="1800" b="1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Network Flow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NP-Completeness</a:t>
            </a:r>
            <a:endParaRPr lang="en-US" sz="1800" b="1" dirty="0">
              <a:latin typeface="Arial" panose="020B0604020202020204" pitchFamily="34" charset="0"/>
            </a:endParaRPr>
          </a:p>
          <a:p>
            <a:pPr lvl="1"/>
            <a:endParaRPr lang="en-US" sz="1800" b="1" dirty="0">
              <a:latin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4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B4F8B-D5D8-F271-885A-A31F355E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FD89F-657C-4267-948E-76F62E4C8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binary tree</a:t>
            </a:r>
            <a:r>
              <a:rPr lang="en-US" dirty="0"/>
              <a:t> is a tree data structure in which each node has at most two children, typically referred to as the </a:t>
            </a:r>
            <a:r>
              <a:rPr lang="en-US" b="1" dirty="0"/>
              <a:t>left child</a:t>
            </a:r>
            <a:r>
              <a:rPr lang="en-US" dirty="0"/>
              <a:t> and the </a:t>
            </a:r>
            <a:r>
              <a:rPr lang="en-US" b="1" dirty="0"/>
              <a:t>right child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Key Characteristics: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Root: The topmost node of the binary tree.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Node: Each element in the tree that holds data.</a:t>
            </a:r>
          </a:p>
          <a:p>
            <a:pPr lvl="1"/>
            <a:r>
              <a:rPr lang="en-US" dirty="0"/>
              <a:t>Leaf Nodes: Nodes that do not have any children.</a:t>
            </a:r>
          </a:p>
          <a:p>
            <a:pPr lvl="1"/>
            <a:r>
              <a:rPr lang="en-US" dirty="0"/>
              <a:t>Internal Nodes: Nodes that have at least one child.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Left Child: The left node that is connected to a parent node.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Right Child: The right node that is connected to a parent node.</a:t>
            </a:r>
          </a:p>
        </p:txBody>
      </p:sp>
    </p:spTree>
    <p:extLst>
      <p:ext uri="{BB962C8B-B14F-4D97-AF65-F5344CB8AC3E}">
        <p14:creationId xmlns:p14="http://schemas.microsoft.com/office/powerpoint/2010/main" val="350753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8E59-C1FB-DB15-95F1-73415C0E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Binary Trees (1)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769D2-99C1-C7DA-5321-A3BDEE218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Full Binary Tree.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ACB5AE-EA64-130D-886D-C6110598A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Complete Binary Tree.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549D7DE-AF7A-4422-6B69-94437569B56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" t="13478" r="73411" b="30650"/>
          <a:stretch/>
        </p:blipFill>
        <p:spPr bwMode="auto">
          <a:xfrm>
            <a:off x="836612" y="2505075"/>
            <a:ext cx="4686732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0DC5720-816C-5A67-6BDD-076111D6DB3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67" t="14891" r="54212" b="42720"/>
          <a:stretch/>
        </p:blipFill>
        <p:spPr bwMode="auto">
          <a:xfrm>
            <a:off x="6172200" y="2505075"/>
            <a:ext cx="3198955" cy="293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7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9EED-C2AA-5E70-7192-B785F3F0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04BC-9157-8381-1735-6FE42280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Binary Trees (2)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3E61F-2FC9-328B-F3E8-C3F05466B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Perfect Binary Tree.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47E1D-1F53-88C5-EA57-314FD9198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Degenerate Tree.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DBE0A7A-386D-D5A6-5FFE-ACEDF7E5D1D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45" t="17297" r="20548" b="40105"/>
          <a:stretch/>
        </p:blipFill>
        <p:spPr bwMode="auto">
          <a:xfrm>
            <a:off x="836612" y="2505074"/>
            <a:ext cx="5157786" cy="4057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E672F07-4E93-D3A1-98FC-C0A8FC8D4614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33" t="16147" r="43306" b="36672"/>
          <a:stretch/>
        </p:blipFill>
        <p:spPr bwMode="auto">
          <a:xfrm>
            <a:off x="7663080" y="2415955"/>
            <a:ext cx="2029560" cy="414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38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D1B99-DE1B-5768-B20B-B3CF5B65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25756-DAA6-11D3-578E-276C01BA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Binary Trees (3)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2B19B-5FEE-E13B-736C-73BA00007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6" y="1679061"/>
            <a:ext cx="5157787" cy="823912"/>
          </a:xfrm>
        </p:spPr>
        <p:txBody>
          <a:bodyPr>
            <a:normAutofit/>
          </a:bodyPr>
          <a:lstStyle/>
          <a:p>
            <a:r>
              <a:rPr lang="en-US" sz="3600" dirty="0"/>
              <a:t>Balanced Binary Tree.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9296A8E-DA09-E967-067C-846019B5CA4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86" t="13478" b="35808"/>
          <a:stretch/>
        </p:blipFill>
        <p:spPr bwMode="auto">
          <a:xfrm>
            <a:off x="3517106" y="2502973"/>
            <a:ext cx="4350530" cy="444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477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0BD2F81-DBD4-C395-A539-DC6A9EF76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 Traversals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B80E121-4362-616E-94E9-DF58E977C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Pre-order:</a:t>
            </a:r>
            <a:r>
              <a:rPr lang="en-US" dirty="0"/>
              <a:t> Visit the root, traverse the left subtree, then the right subtree.</a:t>
            </a:r>
          </a:p>
          <a:p>
            <a:r>
              <a:rPr lang="en-US" b="1" dirty="0"/>
              <a:t>In-order:</a:t>
            </a:r>
            <a:r>
              <a:rPr lang="en-US" dirty="0"/>
              <a:t> Traverse the left subtree, visit the root, then the right subtree.</a:t>
            </a:r>
          </a:p>
          <a:p>
            <a:r>
              <a:rPr lang="en-US" b="1" dirty="0"/>
              <a:t>Post-order:</a:t>
            </a:r>
            <a:r>
              <a:rPr lang="en-US" dirty="0"/>
              <a:t> Traverse the left subtree, the right subtree, then visit the root.</a:t>
            </a:r>
          </a:p>
          <a:p>
            <a:r>
              <a:rPr lang="en-US" b="1" dirty="0"/>
              <a:t>Level-order:</a:t>
            </a:r>
            <a:r>
              <a:rPr lang="en-US" dirty="0"/>
              <a:t> Traverse the tree level by level (also known as breadth-first traversal).</a:t>
            </a:r>
          </a:p>
        </p:txBody>
      </p:sp>
    </p:spTree>
    <p:extLst>
      <p:ext uri="{BB962C8B-B14F-4D97-AF65-F5344CB8AC3E}">
        <p14:creationId xmlns:p14="http://schemas.microsoft.com/office/powerpoint/2010/main" val="1105227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6DA9CE-2DF3-32E3-4D7C-E7BBF416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 (1)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9AE758-995F-BF53-27BE-5E3A55C1E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237425" cy="16033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b="1" dirty="0"/>
              <a:t>Binary Search Trees (BST)</a:t>
            </a:r>
            <a:r>
              <a:rPr lang="en-US" dirty="0"/>
              <a:t> is a binary tree where for every node, all the elements in the left subtree are less than the node, and all the elements in the right subtree are greater.</a:t>
            </a:r>
          </a:p>
        </p:txBody>
      </p:sp>
      <p:pic>
        <p:nvPicPr>
          <p:cNvPr id="5122" name="Picture 2" descr="Binary Search Tree">
            <a:extLst>
              <a:ext uri="{FF2B5EF4-FFF2-40B4-BE49-F238E27FC236}">
                <a16:creationId xmlns:a16="http://schemas.microsoft.com/office/drawing/2014/main" id="{383C7E62-6C2A-4E31-7D04-A48273B83B6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1" t="4243" r="-1310" b="4083"/>
          <a:stretch/>
        </p:blipFill>
        <p:spPr bwMode="auto">
          <a:xfrm>
            <a:off x="5634644" y="3194129"/>
            <a:ext cx="5719156" cy="329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364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4CE1D-98E8-23E1-F3D3-2BEC0965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F869EF1-AE76-EB1E-637B-AE163F494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</a:t>
            </a:r>
            <a:r>
              <a:rPr lang="en-US" dirty="0" err="1"/>
              <a:t>Inorder</a:t>
            </a:r>
            <a:r>
              <a:rPr lang="en-US" dirty="0"/>
              <a:t> Tree Walk (1)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A9A0F8-7AB0-3C5F-C1CE-26D7CE386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237425" cy="16033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The binary-search-tree property allows us to print out all the keys in a binary search tree in sorted order by a simple recursive algorithm.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58BF6F-2B89-8A26-AED6-231C9C06CD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11551" y="3365008"/>
            <a:ext cx="6840688" cy="2601387"/>
          </a:xfrm>
        </p:spPr>
      </p:pic>
    </p:spTree>
    <p:extLst>
      <p:ext uri="{BB962C8B-B14F-4D97-AF65-F5344CB8AC3E}">
        <p14:creationId xmlns:p14="http://schemas.microsoft.com/office/powerpoint/2010/main" val="1113136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A706-F034-B116-D04D-4A4472357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1AE805-9C54-2FE8-2716-B1A8F690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</a:t>
            </a:r>
            <a:r>
              <a:rPr lang="en-US" dirty="0" err="1"/>
              <a:t>Inorder</a:t>
            </a:r>
            <a:r>
              <a:rPr lang="en-US" dirty="0"/>
              <a:t> Tree Walk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0A0F024-6C33-8904-D6CD-64E4A8080E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82745" cy="4351338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b="1" i="0" u="none" strike="noStrike" baseline="0" dirty="0"/>
                  <a:t>Theorem: </a:t>
                </a:r>
                <a:r>
                  <a:rPr lang="en-US" b="0" i="0" u="none" strike="noStrike" baseline="0" dirty="0"/>
                  <a:t>If </a:t>
                </a:r>
                <a14:m>
                  <m:oMath xmlns:m="http://schemas.openxmlformats.org/officeDocument/2006/math"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i="0" u="none" strike="noStrike" baseline="0" dirty="0"/>
                  <a:t> is the root of an </a:t>
                </a:r>
                <a14:m>
                  <m:oMath xmlns:m="http://schemas.openxmlformats.org/officeDocument/2006/math"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i="0" u="none" strike="noStrike" baseline="0" dirty="0"/>
                  <a:t>-node subtree, then the call</a:t>
                </a:r>
                <a:br>
                  <a:rPr lang="en-US" b="0" i="0" u="none" strike="noStrike" baseline="0" dirty="0"/>
                </a:br>
                <a14:m>
                  <m:oMath xmlns:m="http://schemas.openxmlformats.org/officeDocument/2006/math"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𝐼𝑁𝑂𝑅𝐷𝐸𝑅</m:t>
                    </m:r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𝑇𝑅𝐸𝐸</m:t>
                    </m:r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𝑊𝐴𝐿𝐾</m:t>
                    </m:r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0" u="none" strike="noStrike" baseline="0" dirty="0"/>
                  <a:t> takes </a:t>
                </a:r>
                <a14:m>
                  <m:oMath xmlns:m="http://schemas.openxmlformats.org/officeDocument/2006/math">
                    <m:r>
                      <a:rPr lang="en-US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i="0" u="none" strike="noStrike" baseline="0" dirty="0"/>
                  <a:t> time.</a:t>
                </a:r>
              </a:p>
              <a:p>
                <a:pPr marL="0" indent="0">
                  <a:buNone/>
                </a:pPr>
                <a:r>
                  <a:rPr lang="en-US" b="1" dirty="0"/>
                  <a:t>Proof: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denote the time taken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𝐼𝑁𝑂𝑅𝐷𝐸𝑅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𝑇𝑅𝐸𝐸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𝑊𝐴𝐿𝐾</m:t>
                    </m:r>
                  </m:oMath>
                </a14:m>
                <a:r>
                  <a:rPr lang="en-US" dirty="0"/>
                  <a:t> when it is called on the root of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-node subtree.</a:t>
                </a:r>
                <a:br>
                  <a:rPr lang="en-US" dirty="0"/>
                </a:br>
                <a:r>
                  <a:rPr lang="en-US" dirty="0"/>
                  <a:t>It visits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nodes,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 Need to show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number of nodes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𝑙𝑒𝑓𝑡</m:t>
                    </m:r>
                  </m:oMath>
                </a14:m>
                <a:r>
                  <a:rPr lang="en-US" dirty="0"/>
                  <a:t> tree.</a:t>
                </a:r>
              </a:p>
              <a:p>
                <a:pPr marL="0" indent="0">
                  <a:buNone/>
                </a:pPr>
                <a:r>
                  <a:rPr lang="en-US" dirty="0"/>
                  <a:t>Using substitution method, 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;0&lt;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;⇒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0A0F024-6C33-8904-D6CD-64E4A8080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82745" cy="4351338"/>
              </a:xfrm>
              <a:blipFill>
                <a:blip r:embed="rId2"/>
                <a:stretch>
                  <a:fillRect l="-1120" t="-2241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54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8E32-FE0C-74A9-AD62-EA4DC874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Exercises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9F51FE-66EA-90C3-1498-88AD007CE10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For the set of {2, 4, 5, 7, 8, 9, 10, 15, 17} draw BST of height 3, 4, 5.</a:t>
                </a:r>
                <a:endParaRPr lang="hy-AM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Give recursive algorithms that perform preorder and </a:t>
                </a:r>
                <a:r>
                  <a:rPr lang="en-US" dirty="0" err="1"/>
                  <a:t>postorder</a:t>
                </a:r>
                <a:r>
                  <a:rPr lang="en-US" dirty="0"/>
                  <a:t> tree walks in </a:t>
                </a:r>
                <a14:m>
                  <m:oMath xmlns:m="http://schemas.openxmlformats.org/officeDocument/2006/math">
                    <m:r>
                      <a:rPr lang="en-US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time on a tree of n nodes.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Give 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notation for an algorithm that constructs a BST from an array.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What is the difference between the BST property and the min-heap property? Can the min-heap property be used to print out the keys of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-node tree in sorted order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time? </a:t>
                </a:r>
                <a:br>
                  <a:rPr lang="en-US" dirty="0"/>
                </a:br>
                <a:r>
                  <a:rPr lang="en-US" dirty="0"/>
                  <a:t>Show how, or explain why not.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9F51FE-66EA-90C3-1498-88AD007CE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17" t="-2219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929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4135C71-B115-BD7E-8E2D-AC974F634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Preorder walk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F5E5881-C7D5-348C-073C-CAB4458E0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Prorder</a:t>
            </a:r>
            <a:r>
              <a:rPr lang="en-US" dirty="0"/>
              <a:t>-Tree-Walk(x)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x != null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     print </a:t>
            </a:r>
            <a:r>
              <a:rPr lang="en-US" dirty="0" err="1"/>
              <a:t>x.key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      Preorder-Tree-Walk(</a:t>
            </a:r>
            <a:r>
              <a:rPr lang="en-US" dirty="0" err="1"/>
              <a:t>x.left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      Preorder-Tree-Walk(</a:t>
            </a:r>
            <a:r>
              <a:rPr lang="en-US" dirty="0" err="1"/>
              <a:t>x.right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63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403A-69DF-DE13-8058-15DAD6BD8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365779E-FBB2-F8E9-A711-3DF89D4B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</a:t>
            </a:r>
            <a:r>
              <a:rPr lang="en-US" dirty="0" err="1"/>
              <a:t>Postorder</a:t>
            </a:r>
            <a:r>
              <a:rPr lang="en-US" dirty="0"/>
              <a:t> walk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266EEF5-CB95-C841-23B8-C829A4684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Prorder</a:t>
            </a:r>
            <a:r>
              <a:rPr lang="en-US" dirty="0"/>
              <a:t>-Tree-Walk(x)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x != null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      </a:t>
            </a:r>
            <a:r>
              <a:rPr lang="en-US" dirty="0" err="1"/>
              <a:t>Postorder</a:t>
            </a:r>
            <a:r>
              <a:rPr lang="en-US" dirty="0"/>
              <a:t>-Tree-Walk(</a:t>
            </a:r>
            <a:r>
              <a:rPr lang="en-US" dirty="0" err="1"/>
              <a:t>x.left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      </a:t>
            </a:r>
            <a:r>
              <a:rPr lang="en-US" dirty="0" err="1"/>
              <a:t>Postorder</a:t>
            </a:r>
            <a:r>
              <a:rPr lang="en-US" dirty="0"/>
              <a:t>-Tree-Walk(</a:t>
            </a:r>
            <a:r>
              <a:rPr lang="en-US" dirty="0" err="1"/>
              <a:t>x.right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      print </a:t>
            </a:r>
            <a:r>
              <a:rPr lang="en-US" dirty="0" err="1"/>
              <a:t>x.key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659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7FC3-BB66-A81A-5BBC-DF4772F2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a Binary Search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F233DF-33F3-49FD-E9BC-0960C4FDC4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887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Common operations that Binary Search Tree supports</a:t>
                </a:r>
              </a:p>
              <a:p>
                <a:r>
                  <a:rPr lang="en-US" dirty="0"/>
                  <a:t>Tree-Search</a:t>
                </a:r>
              </a:p>
              <a:p>
                <a:r>
                  <a:rPr lang="en-US" dirty="0"/>
                  <a:t>Minimum</a:t>
                </a:r>
              </a:p>
              <a:p>
                <a:r>
                  <a:rPr lang="en-US" dirty="0"/>
                  <a:t>Maximum</a:t>
                </a:r>
              </a:p>
              <a:p>
                <a:r>
                  <a:rPr lang="en-US" dirty="0"/>
                  <a:t>Successor</a:t>
                </a:r>
              </a:p>
              <a:p>
                <a:r>
                  <a:rPr lang="en-US" dirty="0"/>
                  <a:t>Predecessor</a:t>
                </a:r>
              </a:p>
              <a:p>
                <a:pPr marL="0" indent="0">
                  <a:buNone/>
                </a:pPr>
                <a:r>
                  <a:rPr lang="en-US" dirty="0"/>
                  <a:t>All operations require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time,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a height of the tree.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F233DF-33F3-49FD-E9BC-0960C4FDC4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8876"/>
                <a:ext cx="10515600" cy="4351338"/>
              </a:xfrm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9395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A9B82-14E4-8642-0960-0C828A8C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Searching (1)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003928-C419-E297-07F6-555D35E1D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4415" y="2186528"/>
            <a:ext cx="8383170" cy="3629532"/>
          </a:xfrm>
        </p:spPr>
      </p:pic>
    </p:spTree>
    <p:extLst>
      <p:ext uri="{BB962C8B-B14F-4D97-AF65-F5344CB8AC3E}">
        <p14:creationId xmlns:p14="http://schemas.microsoft.com/office/powerpoint/2010/main" val="589003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409FB-5DBE-C43D-FF07-F59E7108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6E1F0-F797-57DD-5B09-8A206D2EB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Searching (2)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9E791B-26AE-5F34-A214-CD21681EF2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7089" y="1969774"/>
            <a:ext cx="6622068" cy="3593886"/>
          </a:xfrm>
        </p:spPr>
      </p:pic>
    </p:spTree>
    <p:extLst>
      <p:ext uri="{BB962C8B-B14F-4D97-AF65-F5344CB8AC3E}">
        <p14:creationId xmlns:p14="http://schemas.microsoft.com/office/powerpoint/2010/main" val="277498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50F3-F747-A272-1193-F493D6B6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Min and Max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D36F57E-CF49-212B-C5BE-52113379A6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13962" y="1997622"/>
            <a:ext cx="5622529" cy="2862753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BA38624-500F-1B5E-79C3-C745B446CA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56008" y="1997623"/>
            <a:ext cx="5322031" cy="2862753"/>
          </a:xfrm>
        </p:spPr>
      </p:pic>
    </p:spTree>
    <p:extLst>
      <p:ext uri="{BB962C8B-B14F-4D97-AF65-F5344CB8AC3E}">
        <p14:creationId xmlns:p14="http://schemas.microsoft.com/office/powerpoint/2010/main" val="162057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CFD6D-8CED-D37E-0373-BCC53A9BD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F4F1-9E8A-0099-F2A8-24624C5B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Successor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3B6C8A-FD26-7985-5868-3D50C56A4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096" y="1690688"/>
            <a:ext cx="8571807" cy="4850031"/>
          </a:xfrm>
        </p:spPr>
      </p:pic>
    </p:spTree>
    <p:extLst>
      <p:ext uri="{BB962C8B-B14F-4D97-AF65-F5344CB8AC3E}">
        <p14:creationId xmlns:p14="http://schemas.microsoft.com/office/powerpoint/2010/main" val="1655961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D96EA-6363-B6EB-F349-CB3D35E7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Exercises 2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79B5-25C8-CF71-77E2-7578C6966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Suppose that we have numbers between 1 and 1000 in a binary search tree, and we  want to search for the number 363. Which of the following sequences could not be the sequence of nodes examined?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2, 252, 401, 398, 330, 344, 397, 363.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924, 220, 911, 244, 898, 258, 362, 363.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925, 202, 911, 240, 912, 245, 363.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2, 399, 387, 219, 266, 382, 381, 278, 363.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935, 278, 347, 621, 299, 392, 358, 363</a:t>
            </a:r>
          </a:p>
        </p:txBody>
      </p:sp>
    </p:spTree>
    <p:extLst>
      <p:ext uri="{BB962C8B-B14F-4D97-AF65-F5344CB8AC3E}">
        <p14:creationId xmlns:p14="http://schemas.microsoft.com/office/powerpoint/2010/main" val="1636272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0051-6653-BB77-648A-9B3EADCA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F855-D09F-702B-2D92-775A5DE0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Exercises 2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93CF4F-605C-F57E-3390-AF7409061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383982" cy="4351338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Write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𝑇𝑅𝐸𝐸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𝑃𝑅𝐸𝐷𝐸𝐶𝐸𝑆𝑆𝑂𝑅</m:t>
                    </m:r>
                  </m:oMath>
                </a14:m>
                <a:r>
                  <a:rPr lang="en-US" dirty="0"/>
                  <a:t> procedure.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Show that if a node in a binary search tree has two children, then its successor has no left child and its predecessor has no right child.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An alternative method of performing an </a:t>
                </a:r>
                <a:r>
                  <a:rPr lang="en-US" b="1" dirty="0" err="1"/>
                  <a:t>inorder</a:t>
                </a:r>
                <a:r>
                  <a:rPr lang="en-US" b="1" dirty="0"/>
                  <a:t> tree walk</a:t>
                </a:r>
                <a:r>
                  <a:rPr lang="en-US" dirty="0"/>
                  <a:t> of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-node binary search tree finds the minimum element in the tree by calling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𝑇𝑅𝐸𝐸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𝑀𝐼𝑁𝐼𝑀𝑈𝑀</m:t>
                    </m:r>
                  </m:oMath>
                </a14:m>
                <a:r>
                  <a:rPr lang="en-US" dirty="0"/>
                  <a:t> and then making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− 1 </m:t>
                    </m:r>
                  </m:oMath>
                </a14:m>
                <a:r>
                  <a:rPr lang="en-US" dirty="0"/>
                  <a:t>calls to T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𝑅𝐸𝐸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𝑆𝑈𝐶𝐶𝐸𝑆𝑆𝑂𝑅</m:t>
                    </m:r>
                  </m:oMath>
                </a14:m>
                <a:r>
                  <a:rPr lang="en-US" dirty="0"/>
                  <a:t>. Write and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Prove that no matter what node we start at in a height-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binary search tree,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successive calls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𝑇𝑅𝐸𝐸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𝑆𝑈𝐶𝐶𝐸𝑆𝑆𝑂𝑅</m:t>
                    </m:r>
                  </m:oMath>
                </a14:m>
                <a:r>
                  <a:rPr lang="en-US" dirty="0"/>
                  <a:t> take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93CF4F-605C-F57E-3390-AF7409061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383982" cy="4351338"/>
              </a:xfrm>
              <a:blipFill>
                <a:blip r:embed="rId2"/>
                <a:stretch>
                  <a:fillRect l="-1233" t="-3221" r="-470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896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E38A-2064-4217-5247-FB9ECCB7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Predecessor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598A-503B-B4B9-2CFD-66FF9A4E0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Tree_Predecessor</a:t>
            </a:r>
            <a:r>
              <a:rPr lang="en-US" dirty="0"/>
              <a:t>(x)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dirty="0" err="1">
                <a:latin typeface="+mj-lt"/>
              </a:rPr>
              <a:t>x.left</a:t>
            </a:r>
            <a:r>
              <a:rPr lang="en-US" dirty="0">
                <a:latin typeface="+mj-lt"/>
              </a:rPr>
              <a:t> != null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</a:t>
            </a:r>
            <a:r>
              <a:rPr lang="en-US" b="1" dirty="0"/>
              <a:t>return</a:t>
            </a:r>
            <a:r>
              <a:rPr lang="en-US" dirty="0"/>
              <a:t> </a:t>
            </a:r>
            <a:r>
              <a:rPr lang="en-US" dirty="0" err="1">
                <a:latin typeface="+mj-lt"/>
              </a:rPr>
              <a:t>Tree_Maximum</a:t>
            </a: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+mj-lt"/>
              </a:rPr>
              <a:t>x.left</a:t>
            </a:r>
            <a:r>
              <a:rPr lang="en-US" dirty="0">
                <a:latin typeface="+mj-lt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 = </a:t>
            </a:r>
            <a:r>
              <a:rPr lang="en-US" dirty="0" err="1"/>
              <a:t>x.p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while</a:t>
            </a:r>
            <a:r>
              <a:rPr lang="en-US" dirty="0"/>
              <a:t> </a:t>
            </a:r>
            <a:r>
              <a:rPr lang="en-US" dirty="0">
                <a:latin typeface="+mj-lt"/>
              </a:rPr>
              <a:t>y != null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dirty="0">
                <a:latin typeface="+mj-lt"/>
              </a:rPr>
              <a:t>x == </a:t>
            </a:r>
            <a:r>
              <a:rPr lang="en-US" dirty="0" err="1">
                <a:latin typeface="+mj-lt"/>
              </a:rPr>
              <a:t>y.left</a:t>
            </a:r>
            <a:endParaRPr lang="en-US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</a:t>
            </a:r>
            <a:r>
              <a:rPr lang="en-US" dirty="0">
                <a:latin typeface="+mj-lt"/>
              </a:rPr>
              <a:t>x = 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+mj-lt"/>
              </a:rPr>
              <a:t>        y = </a:t>
            </a:r>
            <a:r>
              <a:rPr lang="en-US" dirty="0" err="1">
                <a:latin typeface="+mj-lt"/>
              </a:rPr>
              <a:t>x.p</a:t>
            </a:r>
            <a:endParaRPr lang="en-US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return</a:t>
            </a:r>
            <a:r>
              <a:rPr lang="en-US" dirty="0"/>
              <a:t> y</a:t>
            </a:r>
          </a:p>
        </p:txBody>
      </p:sp>
    </p:spTree>
    <p:extLst>
      <p:ext uri="{BB962C8B-B14F-4D97-AF65-F5344CB8AC3E}">
        <p14:creationId xmlns:p14="http://schemas.microsoft.com/office/powerpoint/2010/main" val="2151519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39E33-0A6D-36BE-7671-7EAE07CE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  <a:r>
              <a:rPr lang="en-US"/>
              <a:t>: Insertion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8253C5-AD09-DA19-069F-A0078BD333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30538" y="1825625"/>
            <a:ext cx="2796923" cy="4351338"/>
          </a:xfr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791EC6-F114-13D0-340A-BDE905EF47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567163"/>
            <a:ext cx="5181600" cy="286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056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075AF-8514-DDFF-ABF3-6077BF236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5DF0-A2F5-2FE1-AE32-D507A5855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Deletion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E0316A-5D41-3B32-2153-A35DACA2EC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00912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There are 3 basic cases when deleting a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from tree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has no children, then we simply remove it by modifying its parent to replace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𝑁𝐼𝐿</m:t>
                    </m:r>
                  </m:oMath>
                </a14:m>
                <a:r>
                  <a:rPr lang="en-US" dirty="0"/>
                  <a:t> as its child.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just one child, then we elevate that child to take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’s position in the tree by modifying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’s parent to replace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’s child.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has two children, then we find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’s successor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—which must be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’s right subtree—and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take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’s position in the tree. The rest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’s original right subtree becomes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’s new right subtree,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’s left subtree becomes y’s new left subtree. This case is the tricky one because, as we shall see, it matters whether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’s right child.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E0316A-5D41-3B32-2153-A35DACA2E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00912"/>
                <a:ext cx="10515600" cy="4351338"/>
              </a:xfrm>
              <a:blipFill>
                <a:blip r:embed="rId2"/>
                <a:stretch>
                  <a:fillRect l="-1217" t="-2241" r="-1217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05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3E45F-A231-DC90-CD8E-B287F7D77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6513-D1C8-8388-B990-0BA5ECA9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Deletion (2)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0E04CD-5463-522E-00A2-3FB445844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6579" y="1825625"/>
            <a:ext cx="5798842" cy="4351338"/>
          </a:xfrm>
        </p:spPr>
      </p:pic>
    </p:spTree>
    <p:extLst>
      <p:ext uri="{BB962C8B-B14F-4D97-AF65-F5344CB8AC3E}">
        <p14:creationId xmlns:p14="http://schemas.microsoft.com/office/powerpoint/2010/main" val="2318907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9CD48-504B-87A4-4162-C9B5D96C6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BBF12-05AB-11A4-AF14-D66E7AC0E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Deletion (3)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1293E8-81AE-A401-3A93-4A303E58B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0721" y="1595403"/>
            <a:ext cx="8470557" cy="4897472"/>
          </a:xfrm>
        </p:spPr>
      </p:pic>
    </p:spTree>
    <p:extLst>
      <p:ext uri="{BB962C8B-B14F-4D97-AF65-F5344CB8AC3E}">
        <p14:creationId xmlns:p14="http://schemas.microsoft.com/office/powerpoint/2010/main" val="1598798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D8857-EB38-D4D5-EDA6-900B0CFB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B1423-43C0-7AF1-ABC6-7981C647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Deletion (4)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EBED6FC-B0E5-5CDB-FD07-F70D7AA875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86647" y="1690687"/>
            <a:ext cx="5406067" cy="4805393"/>
          </a:xfrm>
        </p:spPr>
      </p:pic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B22E821C-62B0-9AC8-D644-EFF8389DE5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494586" y="1690688"/>
            <a:ext cx="4448447" cy="4629279"/>
          </a:xfrm>
        </p:spPr>
      </p:pic>
    </p:spTree>
    <p:extLst>
      <p:ext uri="{BB962C8B-B14F-4D97-AF65-F5344CB8AC3E}">
        <p14:creationId xmlns:p14="http://schemas.microsoft.com/office/powerpoint/2010/main" val="157377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90666-FA25-B62F-C27A-BEA700B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A7979-B3B7-06A9-869F-157D85FC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Exercises 3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05239C-9FF4-5E9B-BDE6-820B85336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383982" cy="435133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Is the operation of deletion “commutative” in the sense that deleting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from a binary search tree leaves the same tree as deleting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?</a:t>
                </a:r>
                <a:br>
                  <a:rPr lang="en-US" dirty="0"/>
                </a:br>
                <a:r>
                  <a:rPr lang="en-US" dirty="0"/>
                  <a:t>Argue why it is or give a counterexample.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Validate Binary Search Tree: Write a function to check if a binary tree is a valid BST.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Lowest Common Ancestor: Given a BST and two node values, return the lowest common ancestor.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aseline="30000" dirty="0"/>
                  <a:t>th</a:t>
                </a:r>
                <a:r>
                  <a:rPr lang="en-US" dirty="0"/>
                  <a:t>  Smallest Element: Write a function to return the k-</a:t>
                </a:r>
                <a:r>
                  <a:rPr lang="en-US" dirty="0" err="1"/>
                  <a:t>th</a:t>
                </a:r>
                <a:r>
                  <a:rPr lang="en-US" dirty="0"/>
                  <a:t> smallest element in a BST.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05239C-9FF4-5E9B-BDE6-820B85336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383982" cy="4351338"/>
              </a:xfrm>
              <a:blipFill>
                <a:blip r:embed="rId2"/>
                <a:stretch>
                  <a:fillRect l="-1233" t="-2381" r="-176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663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47BDE-B655-E1BC-C47E-559BB019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719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33907</TotalTime>
  <Words>1478</Words>
  <Application>Microsoft Office PowerPoint</Application>
  <PresentationFormat>Widescreen</PresentationFormat>
  <Paragraphs>128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Calibri Light</vt:lpstr>
      <vt:lpstr>Cambria Math</vt:lpstr>
      <vt:lpstr>Office Theme</vt:lpstr>
      <vt:lpstr>Introduction to Algorithms</vt:lpstr>
      <vt:lpstr>Course Overview</vt:lpstr>
      <vt:lpstr>Binary Tree</vt:lpstr>
      <vt:lpstr>Types of Binary Trees (1)</vt:lpstr>
      <vt:lpstr>Types of Binary Trees (2)</vt:lpstr>
      <vt:lpstr>Types of Binary Trees (3)</vt:lpstr>
      <vt:lpstr>Binary Tree Traversals</vt:lpstr>
      <vt:lpstr>Binary Search Tree (1)</vt:lpstr>
      <vt:lpstr>Binary Search Tree: Inorder Tree Walk (1)</vt:lpstr>
      <vt:lpstr>Binary Search Tree: Inorder Tree Walk (2)</vt:lpstr>
      <vt:lpstr>Binary Search Tree: Exercises 1.</vt:lpstr>
      <vt:lpstr>Binary Search Tree: Preorder walk</vt:lpstr>
      <vt:lpstr>Binary Search Tree: Postorder walk</vt:lpstr>
      <vt:lpstr>Querying a Binary Search Tree</vt:lpstr>
      <vt:lpstr>Binary Search Tree: Searching (1)</vt:lpstr>
      <vt:lpstr>Binary Search Tree: Searching (2)</vt:lpstr>
      <vt:lpstr>Binary Search Tree: Min and Max</vt:lpstr>
      <vt:lpstr>Binary Search Tree: Successor</vt:lpstr>
      <vt:lpstr>Binary Search Tree: Exercises 2 (1)</vt:lpstr>
      <vt:lpstr>Binary Search Tree: Exercises 2 (2)</vt:lpstr>
      <vt:lpstr>Binary Search Tree: Predecessor </vt:lpstr>
      <vt:lpstr>Binary Search Tree: Insertion</vt:lpstr>
      <vt:lpstr>Binary Search Tree: Deletion (1)</vt:lpstr>
      <vt:lpstr>Binary Search Tree: Deletion (2)</vt:lpstr>
      <vt:lpstr>Binary Search Tree: Deletion (3)</vt:lpstr>
      <vt:lpstr>Binary Search Tree: Deletion (4)</vt:lpstr>
      <vt:lpstr>Binary Search Tree: Exercises 3 (2)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Prazyan, Levon</dc:creator>
  <cp:lastModifiedBy>Prazyan, Levon</cp:lastModifiedBy>
  <cp:revision>6</cp:revision>
  <dcterms:created xsi:type="dcterms:W3CDTF">2024-06-18T05:26:31Z</dcterms:created>
  <dcterms:modified xsi:type="dcterms:W3CDTF">2026-02-10T02:31:32Z</dcterms:modified>
</cp:coreProperties>
</file>
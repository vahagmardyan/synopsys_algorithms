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4822" r:id="rId4"/>
    <p:sldId id="4823" r:id="rId5"/>
    <p:sldId id="4824" r:id="rId6"/>
    <p:sldId id="4828" r:id="rId7"/>
    <p:sldId id="4825" r:id="rId8"/>
    <p:sldId id="4829" r:id="rId9"/>
    <p:sldId id="4831" r:id="rId10"/>
    <p:sldId id="4830" r:id="rId11"/>
    <p:sldId id="4832" r:id="rId12"/>
    <p:sldId id="4826" r:id="rId13"/>
    <p:sldId id="4833" r:id="rId14"/>
    <p:sldId id="4827" r:id="rId15"/>
    <p:sldId id="4854" r:id="rId16"/>
    <p:sldId id="4834" r:id="rId17"/>
    <p:sldId id="4838" r:id="rId18"/>
    <p:sldId id="4839" r:id="rId19"/>
    <p:sldId id="4840" r:id="rId20"/>
    <p:sldId id="4841" r:id="rId21"/>
    <p:sldId id="4842" r:id="rId22"/>
    <p:sldId id="4843" r:id="rId23"/>
    <p:sldId id="4844" r:id="rId24"/>
    <p:sldId id="4845" r:id="rId25"/>
    <p:sldId id="4846" r:id="rId26"/>
    <p:sldId id="4847" r:id="rId27"/>
    <p:sldId id="4855" r:id="rId28"/>
    <p:sldId id="4835" r:id="rId29"/>
    <p:sldId id="4836" r:id="rId30"/>
    <p:sldId id="4849" r:id="rId31"/>
    <p:sldId id="4848" r:id="rId32"/>
    <p:sldId id="4850" r:id="rId33"/>
    <p:sldId id="4851" r:id="rId34"/>
    <p:sldId id="479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03CC17-9700-461C-B4DA-D3D304A2DBC9}" v="29" dt="2026-02-23T19:41:35.0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61" autoAdjust="0"/>
    <p:restoredTop sz="72260" autoAdjust="0"/>
  </p:normalViewPr>
  <p:slideViewPr>
    <p:cSldViewPr snapToGrid="0">
      <p:cViewPr varScale="1">
        <p:scale>
          <a:sx n="111" d="100"/>
          <a:sy n="111" d="100"/>
        </p:scale>
        <p:origin x="1632"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zyan, Levon" userId="ed024b0e-4a1a-418a-8ca0-755e149680c9" providerId="ADAL" clId="{4A4D12F4-25F0-4DC3-8755-13CF4EFB28EA}"/>
    <pc:docChg chg="undo custSel addSld modSld">
      <pc:chgData name="Prazyan, Levon" userId="ed024b0e-4a1a-418a-8ca0-755e149680c9" providerId="ADAL" clId="{4A4D12F4-25F0-4DC3-8755-13CF4EFB28EA}" dt="2026-02-23T19:41:35.032" v="114" actId="20577"/>
      <pc:docMkLst>
        <pc:docMk/>
      </pc:docMkLst>
      <pc:sldChg chg="modSp modAnim">
        <pc:chgData name="Prazyan, Levon" userId="ed024b0e-4a1a-418a-8ca0-755e149680c9" providerId="ADAL" clId="{4A4D12F4-25F0-4DC3-8755-13CF4EFB28EA}" dt="2026-02-17T07:08:02.316" v="83" actId="33524"/>
        <pc:sldMkLst>
          <pc:docMk/>
          <pc:sldMk cId="183221293" sldId="4825"/>
        </pc:sldMkLst>
        <pc:spChg chg="mod">
          <ac:chgData name="Prazyan, Levon" userId="ed024b0e-4a1a-418a-8ca0-755e149680c9" providerId="ADAL" clId="{4A4D12F4-25F0-4DC3-8755-13CF4EFB28EA}" dt="2026-02-17T07:07:56.078" v="81" actId="33524"/>
          <ac:spMkLst>
            <pc:docMk/>
            <pc:sldMk cId="183221293" sldId="4825"/>
            <ac:spMk id="3" creationId="{50456892-0CDA-87C4-DA05-9731F3AF3100}"/>
          </ac:spMkLst>
        </pc:spChg>
      </pc:sldChg>
      <pc:sldChg chg="addSp delSp modSp mod">
        <pc:chgData name="Prazyan, Levon" userId="ed024b0e-4a1a-418a-8ca0-755e149680c9" providerId="ADAL" clId="{4A4D12F4-25F0-4DC3-8755-13CF4EFB28EA}" dt="2026-02-16T06:30:06.144" v="3" actId="14100"/>
        <pc:sldMkLst>
          <pc:docMk/>
          <pc:sldMk cId="1916585373" sldId="4826"/>
        </pc:sldMkLst>
        <pc:picChg chg="add mod ord">
          <ac:chgData name="Prazyan, Levon" userId="ed024b0e-4a1a-418a-8ca0-755e149680c9" providerId="ADAL" clId="{4A4D12F4-25F0-4DC3-8755-13CF4EFB28EA}" dt="2026-02-16T06:30:06.144" v="3" actId="14100"/>
          <ac:picMkLst>
            <pc:docMk/>
            <pc:sldMk cId="1916585373" sldId="4826"/>
            <ac:picMk id="7" creationId="{E025185A-76AC-1149-A8C4-0DCF8614036B}"/>
          </ac:picMkLst>
        </pc:picChg>
      </pc:sldChg>
      <pc:sldChg chg="modNotesTx">
        <pc:chgData name="Prazyan, Levon" userId="ed024b0e-4a1a-418a-8ca0-755e149680c9" providerId="ADAL" clId="{4A4D12F4-25F0-4DC3-8755-13CF4EFB28EA}" dt="2026-02-16T17:06:42.361" v="8" actId="6549"/>
        <pc:sldMkLst>
          <pc:docMk/>
          <pc:sldMk cId="1602634597" sldId="4831"/>
        </pc:sldMkLst>
      </pc:sldChg>
      <pc:sldChg chg="addSp delSp modSp mod">
        <pc:chgData name="Prazyan, Levon" userId="ed024b0e-4a1a-418a-8ca0-755e149680c9" providerId="ADAL" clId="{4A4D12F4-25F0-4DC3-8755-13CF4EFB28EA}" dt="2026-02-17T03:46:50.422" v="32" actId="14100"/>
        <pc:sldMkLst>
          <pc:docMk/>
          <pc:sldMk cId="3818863611" sldId="4840"/>
        </pc:sldMkLst>
        <pc:picChg chg="add mod">
          <ac:chgData name="Prazyan, Levon" userId="ed024b0e-4a1a-418a-8ca0-755e149680c9" providerId="ADAL" clId="{4A4D12F4-25F0-4DC3-8755-13CF4EFB28EA}" dt="2026-02-17T03:46:50.422" v="32" actId="14100"/>
          <ac:picMkLst>
            <pc:docMk/>
            <pc:sldMk cId="3818863611" sldId="4840"/>
            <ac:picMk id="5" creationId="{207B46B2-058E-CB17-9F7D-74D3084E8D41}"/>
          </ac:picMkLst>
        </pc:picChg>
      </pc:sldChg>
      <pc:sldChg chg="addSp delSp modSp mod modNotesTx">
        <pc:chgData name="Prazyan, Levon" userId="ed024b0e-4a1a-418a-8ca0-755e149680c9" providerId="ADAL" clId="{4A4D12F4-25F0-4DC3-8755-13CF4EFB28EA}" dt="2026-02-23T19:33:46.271" v="106" actId="6549"/>
        <pc:sldMkLst>
          <pc:docMk/>
          <pc:sldMk cId="3851844751" sldId="4841"/>
        </pc:sldMkLst>
        <pc:picChg chg="add mod">
          <ac:chgData name="Prazyan, Levon" userId="ed024b0e-4a1a-418a-8ca0-755e149680c9" providerId="ADAL" clId="{4A4D12F4-25F0-4DC3-8755-13CF4EFB28EA}" dt="2026-02-17T03:46:40.560" v="30" actId="1076"/>
          <ac:picMkLst>
            <pc:docMk/>
            <pc:sldMk cId="3851844751" sldId="4841"/>
            <ac:picMk id="5" creationId="{58A3D484-01D1-0CA5-5B26-1A2F6AD18F1F}"/>
          </ac:picMkLst>
        </pc:picChg>
      </pc:sldChg>
      <pc:sldChg chg="addSp delSp modSp mod modNotesTx">
        <pc:chgData name="Prazyan, Levon" userId="ed024b0e-4a1a-418a-8ca0-755e149680c9" providerId="ADAL" clId="{4A4D12F4-25F0-4DC3-8755-13CF4EFB28EA}" dt="2026-02-23T19:33:56.773" v="109" actId="6549"/>
        <pc:sldMkLst>
          <pc:docMk/>
          <pc:sldMk cId="2381573991" sldId="4842"/>
        </pc:sldMkLst>
        <pc:spChg chg="mod">
          <ac:chgData name="Prazyan, Levon" userId="ed024b0e-4a1a-418a-8ca0-755e149680c9" providerId="ADAL" clId="{4A4D12F4-25F0-4DC3-8755-13CF4EFB28EA}" dt="2026-02-17T04:00:26.990" v="77" actId="20577"/>
          <ac:spMkLst>
            <pc:docMk/>
            <pc:sldMk cId="2381573991" sldId="4842"/>
            <ac:spMk id="6" creationId="{462DB173-8D1E-9A08-93BD-825CA3E0BB63}"/>
          </ac:spMkLst>
        </pc:spChg>
        <pc:picChg chg="add mod">
          <ac:chgData name="Prazyan, Levon" userId="ed024b0e-4a1a-418a-8ca0-755e149680c9" providerId="ADAL" clId="{4A4D12F4-25F0-4DC3-8755-13CF4EFB28EA}" dt="2026-02-17T03:47:08.717" v="39" actId="1036"/>
          <ac:picMkLst>
            <pc:docMk/>
            <pc:sldMk cId="2381573991" sldId="4842"/>
            <ac:picMk id="7" creationId="{0D0A78A6-FECB-33CE-47B3-93C5ADE9A08B}"/>
          </ac:picMkLst>
        </pc:picChg>
      </pc:sldChg>
      <pc:sldChg chg="addSp delSp modSp mod">
        <pc:chgData name="Prazyan, Levon" userId="ed024b0e-4a1a-418a-8ca0-755e149680c9" providerId="ADAL" clId="{4A4D12F4-25F0-4DC3-8755-13CF4EFB28EA}" dt="2026-02-17T03:47:28.397" v="44" actId="14100"/>
        <pc:sldMkLst>
          <pc:docMk/>
          <pc:sldMk cId="3804213100" sldId="4843"/>
        </pc:sldMkLst>
        <pc:picChg chg="add mod">
          <ac:chgData name="Prazyan, Levon" userId="ed024b0e-4a1a-418a-8ca0-755e149680c9" providerId="ADAL" clId="{4A4D12F4-25F0-4DC3-8755-13CF4EFB28EA}" dt="2026-02-17T03:47:28.397" v="44" actId="14100"/>
          <ac:picMkLst>
            <pc:docMk/>
            <pc:sldMk cId="3804213100" sldId="4843"/>
            <ac:picMk id="7" creationId="{C1479B5B-194D-91F2-4362-54B0892A8141}"/>
          </ac:picMkLst>
        </pc:picChg>
      </pc:sldChg>
      <pc:sldChg chg="addSp delSp modSp mod modNotesTx">
        <pc:chgData name="Prazyan, Levon" userId="ed024b0e-4a1a-418a-8ca0-755e149680c9" providerId="ADAL" clId="{4A4D12F4-25F0-4DC3-8755-13CF4EFB28EA}" dt="2026-02-23T19:40:05.666" v="110" actId="20577"/>
        <pc:sldMkLst>
          <pc:docMk/>
          <pc:sldMk cId="4160589773" sldId="4844"/>
        </pc:sldMkLst>
        <pc:picChg chg="add mod">
          <ac:chgData name="Prazyan, Levon" userId="ed024b0e-4a1a-418a-8ca0-755e149680c9" providerId="ADAL" clId="{4A4D12F4-25F0-4DC3-8755-13CF4EFB28EA}" dt="2026-02-17T03:47:46.329" v="50" actId="14100"/>
          <ac:picMkLst>
            <pc:docMk/>
            <pc:sldMk cId="4160589773" sldId="4844"/>
            <ac:picMk id="8" creationId="{AB61E498-4C9A-1440-EDF1-804A6083A2A0}"/>
          </ac:picMkLst>
        </pc:picChg>
      </pc:sldChg>
      <pc:sldChg chg="addSp delSp modSp mod">
        <pc:chgData name="Prazyan, Levon" userId="ed024b0e-4a1a-418a-8ca0-755e149680c9" providerId="ADAL" clId="{4A4D12F4-25F0-4DC3-8755-13CF4EFB28EA}" dt="2026-02-17T03:48:11.784" v="55" actId="1076"/>
        <pc:sldMkLst>
          <pc:docMk/>
          <pc:sldMk cId="1693234100" sldId="4845"/>
        </pc:sldMkLst>
        <pc:picChg chg="mod">
          <ac:chgData name="Prazyan, Levon" userId="ed024b0e-4a1a-418a-8ca0-755e149680c9" providerId="ADAL" clId="{4A4D12F4-25F0-4DC3-8755-13CF4EFB28EA}" dt="2026-02-17T03:48:11.784" v="55" actId="1076"/>
          <ac:picMkLst>
            <pc:docMk/>
            <pc:sldMk cId="1693234100" sldId="4845"/>
            <ac:picMk id="4" creationId="{A08C6AF9-4675-6FE0-2DE4-A144AA08FAD9}"/>
          </ac:picMkLst>
        </pc:picChg>
        <pc:picChg chg="add mod">
          <ac:chgData name="Prazyan, Levon" userId="ed024b0e-4a1a-418a-8ca0-755e149680c9" providerId="ADAL" clId="{4A4D12F4-25F0-4DC3-8755-13CF4EFB28EA}" dt="2026-02-17T03:48:05.467" v="54" actId="14100"/>
          <ac:picMkLst>
            <pc:docMk/>
            <pc:sldMk cId="1693234100" sldId="4845"/>
            <ac:picMk id="8" creationId="{C7CDD8B3-BFC2-0BCB-28E5-96397FCB0B4E}"/>
          </ac:picMkLst>
        </pc:picChg>
      </pc:sldChg>
      <pc:sldChg chg="addSp delSp modSp mod">
        <pc:chgData name="Prazyan, Levon" userId="ed024b0e-4a1a-418a-8ca0-755e149680c9" providerId="ADAL" clId="{4A4D12F4-25F0-4DC3-8755-13CF4EFB28EA}" dt="2026-02-23T19:41:35.032" v="114" actId="20577"/>
        <pc:sldMkLst>
          <pc:docMk/>
          <pc:sldMk cId="2030942604" sldId="4846"/>
        </pc:sldMkLst>
        <pc:spChg chg="mod">
          <ac:chgData name="Prazyan, Levon" userId="ed024b0e-4a1a-418a-8ca0-755e149680c9" providerId="ADAL" clId="{4A4D12F4-25F0-4DC3-8755-13CF4EFB28EA}" dt="2026-02-23T19:41:35.032" v="114" actId="20577"/>
          <ac:spMkLst>
            <pc:docMk/>
            <pc:sldMk cId="2030942604" sldId="4846"/>
            <ac:spMk id="6" creationId="{D8E07606-1129-5689-0FB4-660C3BBDF8F5}"/>
          </ac:spMkLst>
        </pc:spChg>
        <pc:picChg chg="add mod">
          <ac:chgData name="Prazyan, Levon" userId="ed024b0e-4a1a-418a-8ca0-755e149680c9" providerId="ADAL" clId="{4A4D12F4-25F0-4DC3-8755-13CF4EFB28EA}" dt="2026-02-17T03:48:28.191" v="59" actId="14100"/>
          <ac:picMkLst>
            <pc:docMk/>
            <pc:sldMk cId="2030942604" sldId="4846"/>
            <ac:picMk id="7" creationId="{99AC5C68-7787-946B-D2F9-8AA0EB1482A7}"/>
          </ac:picMkLst>
        </pc:picChg>
      </pc:sldChg>
      <pc:sldChg chg="addSp delSp modSp mod">
        <pc:chgData name="Prazyan, Levon" userId="ed024b0e-4a1a-418a-8ca0-755e149680c9" providerId="ADAL" clId="{4A4D12F4-25F0-4DC3-8755-13CF4EFB28EA}" dt="2026-02-17T03:48:45.852" v="63" actId="14100"/>
        <pc:sldMkLst>
          <pc:docMk/>
          <pc:sldMk cId="594819429" sldId="4847"/>
        </pc:sldMkLst>
        <pc:picChg chg="add mod">
          <ac:chgData name="Prazyan, Levon" userId="ed024b0e-4a1a-418a-8ca0-755e149680c9" providerId="ADAL" clId="{4A4D12F4-25F0-4DC3-8755-13CF4EFB28EA}" dt="2026-02-17T03:48:45.852" v="63" actId="14100"/>
          <ac:picMkLst>
            <pc:docMk/>
            <pc:sldMk cId="594819429" sldId="4847"/>
            <ac:picMk id="8" creationId="{AC9BC0A2-1D2D-2AD3-A7BD-F539F568E7E1}"/>
          </ac:picMkLst>
        </pc:picChg>
      </pc:sldChg>
      <pc:sldChg chg="addSp delSp modSp mod">
        <pc:chgData name="Prazyan, Levon" userId="ed024b0e-4a1a-418a-8ca0-755e149680c9" providerId="ADAL" clId="{4A4D12F4-25F0-4DC3-8755-13CF4EFB28EA}" dt="2026-02-17T03:45:31.112" v="22" actId="14100"/>
        <pc:sldMkLst>
          <pc:docMk/>
          <pc:sldMk cId="2416616854" sldId="4854"/>
        </pc:sldMkLst>
        <pc:picChg chg="add mod ord">
          <ac:chgData name="Prazyan, Levon" userId="ed024b0e-4a1a-418a-8ca0-755e149680c9" providerId="ADAL" clId="{4A4D12F4-25F0-4DC3-8755-13CF4EFB28EA}" dt="2026-02-17T03:45:31.112" v="22" actId="14100"/>
          <ac:picMkLst>
            <pc:docMk/>
            <pc:sldMk cId="2416616854" sldId="4854"/>
            <ac:picMk id="14" creationId="{3A523208-6CE8-64AF-DFE4-DFBB27227DEE}"/>
          </ac:picMkLst>
        </pc:picChg>
      </pc:sldChg>
      <pc:sldChg chg="addSp delSp modSp new mod modShow">
        <pc:chgData name="Prazyan, Levon" userId="ed024b0e-4a1a-418a-8ca0-755e149680c9" providerId="ADAL" clId="{4A4D12F4-25F0-4DC3-8755-13CF4EFB28EA}" dt="2026-02-17T04:05:44.834" v="80" actId="729"/>
        <pc:sldMkLst>
          <pc:docMk/>
          <pc:sldMk cId="3381477169" sldId="4855"/>
        </pc:sldMkLst>
        <pc:spChg chg="mod">
          <ac:chgData name="Prazyan, Levon" userId="ed024b0e-4a1a-418a-8ca0-755e149680c9" providerId="ADAL" clId="{4A4D12F4-25F0-4DC3-8755-13CF4EFB28EA}" dt="2026-02-17T03:49:35.408" v="68" actId="6549"/>
          <ac:spMkLst>
            <pc:docMk/>
            <pc:sldMk cId="3381477169" sldId="4855"/>
            <ac:spMk id="2" creationId="{61B74235-C4B9-B83C-2C69-E509C8D3E31A}"/>
          </ac:spMkLst>
        </pc:spChg>
        <pc:picChg chg="add mod ord">
          <ac:chgData name="Prazyan, Levon" userId="ed024b0e-4a1a-418a-8ca0-755e149680c9" providerId="ADAL" clId="{4A4D12F4-25F0-4DC3-8755-13CF4EFB28EA}" dt="2026-02-17T03:53:20.169" v="75" actId="1076"/>
          <ac:picMkLst>
            <pc:docMk/>
            <pc:sldMk cId="3381477169" sldId="4855"/>
            <ac:picMk id="6" creationId="{DA025D92-D608-89CB-0607-732FB8EC74DD}"/>
          </ac:picMkLst>
        </pc:picChg>
        <pc:picChg chg="add mod ord">
          <ac:chgData name="Prazyan, Levon" userId="ed024b0e-4a1a-418a-8ca0-755e149680c9" providerId="ADAL" clId="{4A4D12F4-25F0-4DC3-8755-13CF4EFB28EA}" dt="2026-02-17T03:53:20.169" v="75" actId="1076"/>
          <ac:picMkLst>
            <pc:docMk/>
            <pc:sldMk cId="3381477169" sldId="4855"/>
            <ac:picMk id="10" creationId="{C268AA71-02F5-76D9-C034-DAFDF9776CA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DB5702-F164-4492-9EF6-882193065F88}" type="datetimeFigureOut">
              <a:rPr lang="en-US" smtClean="0"/>
              <a:t>2/23/2026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22A58C-8E2F-4CF4-BCC2-14D73B27F336}" type="slidenum">
              <a:rPr lang="en-US" smtClean="0"/>
              <a:t>‹#›</a:t>
            </a:fld>
            <a:endParaRPr lang="en-US" dirty="0"/>
          </a:p>
        </p:txBody>
      </p:sp>
    </p:spTree>
    <p:extLst>
      <p:ext uri="{BB962C8B-B14F-4D97-AF65-F5344CB8AC3E}">
        <p14:creationId xmlns:p14="http://schemas.microsoft.com/office/powerpoint/2010/main" val="78035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Balanced Binary Tree</a:t>
            </a:r>
            <a:r>
              <a:rPr lang="en-US" dirty="0"/>
              <a:t>: The height of the left and right subtrees of any node differs by at most one.</a:t>
            </a:r>
          </a:p>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3</a:t>
            </a:fld>
            <a:endParaRPr lang="en-US" dirty="0"/>
          </a:p>
        </p:txBody>
      </p:sp>
    </p:spTree>
    <p:extLst>
      <p:ext uri="{BB962C8B-B14F-4D97-AF65-F5344CB8AC3E}">
        <p14:creationId xmlns:p14="http://schemas.microsoft.com/office/powerpoint/2010/main" val="2062791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err="1">
                <a:latin typeface="MT2MIT"/>
              </a:rPr>
              <a:t>T.</a:t>
            </a:r>
            <a:r>
              <a:rPr lang="en-US" sz="1800" b="0" i="1" u="none" strike="noStrike" baseline="0" dirty="0" err="1">
                <a:latin typeface="Times-Italic"/>
              </a:rPr>
              <a:t>nil</a:t>
            </a:r>
            <a:r>
              <a:rPr lang="en-US" sz="1800" b="0" i="1" u="none" strike="noStrike" baseline="0" dirty="0">
                <a:latin typeface="Times-Italic"/>
              </a:rPr>
              <a:t> </a:t>
            </a:r>
            <a:r>
              <a:rPr lang="en-US" sz="1800" b="0" i="0" u="none" strike="noStrike" baseline="0" dirty="0">
                <a:latin typeface="Times-Roman"/>
              </a:rPr>
              <a:t>is an object with the same attributes as an ordinary node in the tree. Its </a:t>
            </a:r>
            <a:r>
              <a:rPr lang="en-US" sz="1800" b="0" i="1" u="none" strike="noStrike" baseline="0" dirty="0">
                <a:latin typeface="Times-Italic"/>
              </a:rPr>
              <a:t>color </a:t>
            </a:r>
            <a:r>
              <a:rPr lang="en-US" sz="1800" b="0" i="0" u="none" strike="noStrike" baseline="0" dirty="0">
                <a:latin typeface="Times-Roman"/>
              </a:rPr>
              <a:t>attribute is BLACK, and its other attributes—</a:t>
            </a:r>
            <a:r>
              <a:rPr lang="en-US" sz="1800" b="0" i="0" u="none" strike="noStrike" baseline="0" dirty="0">
                <a:latin typeface="MT2MIT"/>
              </a:rPr>
              <a:t>p</a:t>
            </a:r>
            <a:r>
              <a:rPr lang="en-US" sz="1800" b="0" i="0" u="none" strike="noStrike" baseline="0" dirty="0">
                <a:latin typeface="Times-Roman"/>
              </a:rPr>
              <a:t>, </a:t>
            </a:r>
            <a:r>
              <a:rPr lang="en-US" sz="1800" b="0" i="1" u="none" strike="noStrike" baseline="0" dirty="0">
                <a:latin typeface="Times-Italic"/>
              </a:rPr>
              <a:t>left</a:t>
            </a:r>
            <a:r>
              <a:rPr lang="en-US" sz="1800" b="0" i="0" u="none" strike="noStrike" baseline="0" dirty="0">
                <a:latin typeface="Times-Roman"/>
              </a:rPr>
              <a:t>, </a:t>
            </a:r>
            <a:r>
              <a:rPr lang="en-US" sz="1800" b="0" i="1" u="none" strike="noStrike" baseline="0" dirty="0">
                <a:latin typeface="Times-Italic"/>
              </a:rPr>
              <a:t>right</a:t>
            </a:r>
            <a:r>
              <a:rPr lang="en-US" sz="1800" b="0" i="0" u="none" strike="noStrike" baseline="0" dirty="0">
                <a:latin typeface="Times-Roman"/>
              </a:rPr>
              <a:t>, and </a:t>
            </a:r>
            <a:r>
              <a:rPr lang="en-US" sz="1800" b="0" i="1" u="none" strike="noStrike" baseline="0" dirty="0">
                <a:latin typeface="Times-Italic"/>
              </a:rPr>
              <a:t>key</a:t>
            </a:r>
            <a:r>
              <a:rPr lang="en-US" sz="1800" b="0" i="0" u="none" strike="noStrike" baseline="0" dirty="0">
                <a:latin typeface="Times-Roman"/>
              </a:rPr>
              <a:t>—can take on arbitrary values.</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6</a:t>
            </a:fld>
            <a:endParaRPr lang="en-US" dirty="0"/>
          </a:p>
        </p:txBody>
      </p:sp>
    </p:spTree>
    <p:extLst>
      <p:ext uri="{BB962C8B-B14F-4D97-AF65-F5344CB8AC3E}">
        <p14:creationId xmlns:p14="http://schemas.microsoft.com/office/powerpoint/2010/main" val="3423918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draw the complete binary search tree of height 3 on the keys f1; 2; : : : ; 15g. Add the NIL leaves and color the nodes in three different ways such that the black-heights of the resulting red-black trees are 2, 3, and 4.</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9</a:t>
            </a:fld>
            <a:endParaRPr lang="en-US" dirty="0"/>
          </a:p>
        </p:txBody>
      </p:sp>
    </p:spTree>
    <p:extLst>
      <p:ext uri="{BB962C8B-B14F-4D97-AF65-F5344CB8AC3E}">
        <p14:creationId xmlns:p14="http://schemas.microsoft.com/office/powerpoint/2010/main" val="2555407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O(1) time for rotate operations</a:t>
            </a:r>
          </a:p>
        </p:txBody>
      </p:sp>
      <p:sp>
        <p:nvSpPr>
          <p:cNvPr id="4" name="Slide Number Placeholder 3"/>
          <p:cNvSpPr>
            <a:spLocks noGrp="1"/>
          </p:cNvSpPr>
          <p:nvPr>
            <p:ph type="sldNum" sz="quarter" idx="5"/>
          </p:nvPr>
        </p:nvSpPr>
        <p:spPr/>
        <p:txBody>
          <a:bodyPr/>
          <a:lstStyle/>
          <a:p>
            <a:fld id="{BD22A58C-8E2F-4CF4-BCC2-14D73B27F336}" type="slidenum">
              <a:rPr lang="en-US" smtClean="0"/>
              <a:t>11</a:t>
            </a:fld>
            <a:endParaRPr lang="en-US" dirty="0"/>
          </a:p>
        </p:txBody>
      </p:sp>
    </p:spTree>
    <p:extLst>
      <p:ext uri="{BB962C8B-B14F-4D97-AF65-F5344CB8AC3E}">
        <p14:creationId xmlns:p14="http://schemas.microsoft.com/office/powerpoint/2010/main" val="3325610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14</a:t>
            </a:fld>
            <a:endParaRPr lang="en-US" dirty="0"/>
          </a:p>
        </p:txBody>
      </p:sp>
    </p:spTree>
    <p:extLst>
      <p:ext uri="{BB962C8B-B14F-4D97-AF65-F5344CB8AC3E}">
        <p14:creationId xmlns:p14="http://schemas.microsoft.com/office/powerpoint/2010/main" val="3252502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81C35-ED2A-374A-916E-614A030A4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CAD0C-E6E9-8F93-6567-472493B66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46C33-D449-9B32-A825-832F868409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608E34-3401-BE27-59F7-A6B299880A32}"/>
              </a:ext>
            </a:extLst>
          </p:cNvPr>
          <p:cNvSpPr>
            <a:spLocks noGrp="1"/>
          </p:cNvSpPr>
          <p:nvPr>
            <p:ph type="sldNum" sz="quarter" idx="5"/>
          </p:nvPr>
        </p:nvSpPr>
        <p:spPr/>
        <p:txBody>
          <a:bodyPr/>
          <a:lstStyle/>
          <a:p>
            <a:fld id="{BD22A58C-8E2F-4CF4-BCC2-14D73B27F336}" type="slidenum">
              <a:rPr lang="en-US" smtClean="0"/>
              <a:t>15</a:t>
            </a:fld>
            <a:endParaRPr lang="en-US" dirty="0"/>
          </a:p>
        </p:txBody>
      </p:sp>
    </p:spTree>
    <p:extLst>
      <p:ext uri="{BB962C8B-B14F-4D97-AF65-F5344CB8AC3E}">
        <p14:creationId xmlns:p14="http://schemas.microsoft.com/office/powerpoint/2010/main" val="3662981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B1C43-820C-4DD3-AB95-EED84BFB9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87FBF-AD90-BA88-4583-B8F2B7612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7C66A-6F76-1CC7-77AD-F75548398595}"/>
              </a:ext>
            </a:extLst>
          </p:cNvPr>
          <p:cNvSpPr>
            <a:spLocks noGrp="1"/>
          </p:cNvSpPr>
          <p:nvPr>
            <p:ph type="body" idx="1"/>
          </p:nvPr>
        </p:nvSpPr>
        <p:spPr/>
        <p:txBody>
          <a:bodyPr/>
          <a:lstStyle/>
          <a:p>
            <a:pPr algn="l"/>
            <a:r>
              <a:rPr lang="en-US" sz="1800" b="0" i="0" u="none" strike="noStrike" baseline="0" dirty="0">
                <a:latin typeface="Times-Roman"/>
              </a:rPr>
              <a:t>If the tree violates property 2, it is because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is the root and is red.</a:t>
            </a:r>
          </a:p>
          <a:p>
            <a:pPr algn="l"/>
            <a:r>
              <a:rPr lang="en-US" sz="1800" b="0" i="0" u="none" strike="noStrike" baseline="0" dirty="0">
                <a:latin typeface="Times-Roman"/>
              </a:rPr>
              <a:t>If the tree violates property 4, it is because both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and </a:t>
            </a:r>
            <a:r>
              <a:rPr lang="en-US" sz="1800" b="1" i="0" u="none" strike="noStrike" baseline="0" dirty="0" err="1">
                <a:latin typeface="MT2MIT"/>
              </a:rPr>
              <a:t>z.</a:t>
            </a:r>
            <a:r>
              <a:rPr lang="en-US" sz="1800" b="1" i="1" u="none" strike="noStrike" baseline="0" dirty="0" err="1">
                <a:latin typeface="Times-Italic"/>
              </a:rPr>
              <a:t>p</a:t>
            </a:r>
            <a:r>
              <a:rPr lang="en-US" sz="1800" b="0" i="1" u="none" strike="noStrike" baseline="0" dirty="0">
                <a:latin typeface="Times-Italic"/>
              </a:rPr>
              <a:t> </a:t>
            </a:r>
            <a:r>
              <a:rPr lang="en-US" sz="1800" b="0" i="0" u="none" strike="noStrike" baseline="0" dirty="0">
                <a:latin typeface="Times-Roman"/>
              </a:rPr>
              <a:t>are red.</a:t>
            </a:r>
            <a:endParaRPr lang="en-US" dirty="0"/>
          </a:p>
        </p:txBody>
      </p:sp>
      <p:sp>
        <p:nvSpPr>
          <p:cNvPr id="4" name="Slide Number Placeholder 3">
            <a:extLst>
              <a:ext uri="{FF2B5EF4-FFF2-40B4-BE49-F238E27FC236}">
                <a16:creationId xmlns:a16="http://schemas.microsoft.com/office/drawing/2014/main" id="{6AEE8406-DD49-8DDD-9073-DDF73990CABE}"/>
              </a:ext>
            </a:extLst>
          </p:cNvPr>
          <p:cNvSpPr>
            <a:spLocks noGrp="1"/>
          </p:cNvSpPr>
          <p:nvPr>
            <p:ph type="sldNum" sz="quarter" idx="5"/>
          </p:nvPr>
        </p:nvSpPr>
        <p:spPr/>
        <p:txBody>
          <a:bodyPr/>
          <a:lstStyle/>
          <a:p>
            <a:fld id="{BD22A58C-8E2F-4CF4-BCC2-14D73B27F336}" type="slidenum">
              <a:rPr lang="en-US" smtClean="0"/>
              <a:t>19</a:t>
            </a:fld>
            <a:endParaRPr lang="en-US" dirty="0"/>
          </a:p>
        </p:txBody>
      </p:sp>
    </p:spTree>
    <p:extLst>
      <p:ext uri="{BB962C8B-B14F-4D97-AF65-F5344CB8AC3E}">
        <p14:creationId xmlns:p14="http://schemas.microsoft.com/office/powerpoint/2010/main" val="229284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D2F5B-AF43-AB16-E490-52C348438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C495A-D949-808F-BDEB-5FE78E3225C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647A1F8-4148-EA48-F0EB-8F705529FF8E}"/>
                  </a:ext>
                </a:extLst>
              </p:cNvPr>
              <p:cNvSpPr>
                <a:spLocks noGrp="1"/>
              </p:cNvSpPr>
              <p:nvPr>
                <p:ph type="body" idx="1"/>
              </p:nvPr>
            </p:nvSpPr>
            <p:spPr/>
            <p:txBody>
              <a:bodyPr/>
              <a:lstStyle/>
              <a:p>
                <a:pPr marL="514350" indent="-514350">
                  <a:buFont typeface="+mj-lt"/>
                  <a:buAutoNum type="alphaLcParenR"/>
                </a:pPr>
                <a:r>
                  <a:rPr lang="en-US" sz="4000" dirty="0"/>
                  <a:t>node </a:t>
                </a:r>
                <a14:m>
                  <m:oMath xmlns:m="http://schemas.openxmlformats.org/officeDocument/2006/math">
                    <m:r>
                      <a:rPr lang="en-US" sz="4000" i="1" dirty="0" smtClean="0">
                        <a:latin typeface="Cambria Math" panose="02040503050406030204" pitchFamily="18" charset="0"/>
                      </a:rPr>
                      <m:t>𝑧</m:t>
                    </m:r>
                  </m:oMath>
                </a14:m>
                <a:r>
                  <a:rPr lang="en-US" sz="4000" dirty="0"/>
                  <a:t> is red,</a:t>
                </a:r>
              </a:p>
              <a:p>
                <a:pPr marL="514350" indent="-514350">
                  <a:buFont typeface="+mj-lt"/>
                  <a:buAutoNum type="alphaLcParenR"/>
                </a:pPr>
                <a:r>
                  <a:rPr lang="en-US" sz="4000" dirty="0"/>
                  <a:t>If </a:t>
                </a:r>
                <a14:m>
                  <m:oMath xmlns:m="http://schemas.openxmlformats.org/officeDocument/2006/math">
                    <m:r>
                      <a:rPr lang="en-US" sz="4000" i="1" dirty="0" smtClean="0">
                        <a:latin typeface="Cambria Math" panose="02040503050406030204" pitchFamily="18" charset="0"/>
                      </a:rPr>
                      <m:t>𝑧</m:t>
                    </m:r>
                    <m:r>
                      <a:rPr lang="en-US" sz="4000" i="1" dirty="0" smtClean="0">
                        <a:latin typeface="Cambria Math" panose="02040503050406030204" pitchFamily="18" charset="0"/>
                      </a:rPr>
                      <m:t>.</m:t>
                    </m:r>
                    <m:r>
                      <a:rPr lang="en-US" sz="4000" i="1" dirty="0" smtClean="0">
                        <a:latin typeface="Cambria Math" panose="02040503050406030204" pitchFamily="18" charset="0"/>
                      </a:rPr>
                      <m:t>𝑝</m:t>
                    </m:r>
                  </m:oMath>
                </a14:m>
                <a:r>
                  <a:rPr lang="en-US" sz="4000" dirty="0"/>
                  <a:t> is the root, then </a:t>
                </a:r>
                <a14:m>
                  <m:oMath xmlns:m="http://schemas.openxmlformats.org/officeDocument/2006/math">
                    <m:r>
                      <a:rPr lang="en-US" sz="4000" i="1" dirty="0" smtClean="0">
                        <a:latin typeface="Cambria Math" panose="02040503050406030204" pitchFamily="18" charset="0"/>
                      </a:rPr>
                      <m:t>𝑧</m:t>
                    </m:r>
                    <m:r>
                      <a:rPr lang="en-US" sz="4000" i="1" dirty="0" smtClean="0">
                        <a:latin typeface="Cambria Math" panose="02040503050406030204" pitchFamily="18" charset="0"/>
                      </a:rPr>
                      <m:t>.</m:t>
                    </m:r>
                    <m:r>
                      <a:rPr lang="en-US" sz="4000" i="1" dirty="0" smtClean="0">
                        <a:latin typeface="Cambria Math" panose="02040503050406030204" pitchFamily="18" charset="0"/>
                      </a:rPr>
                      <m:t>𝑝</m:t>
                    </m:r>
                  </m:oMath>
                </a14:m>
                <a:r>
                  <a:rPr lang="en-US" sz="4000" dirty="0"/>
                  <a:t> is black,</a:t>
                </a:r>
              </a:p>
              <a:p>
                <a:pPr marL="514350" indent="-514350">
                  <a:buFont typeface="+mj-lt"/>
                  <a:buAutoNum type="alphaLcParenR"/>
                </a:pPr>
                <a:r>
                  <a:rPr lang="en-US" sz="4000" b="1" dirty="0"/>
                  <a:t>The tree at any moment may violate at most 1 red-black tree property.</a:t>
                </a:r>
              </a:p>
              <a:p>
                <a:pPr algn="l"/>
                <a:br>
                  <a:rPr lang="en-US" sz="1800" b="0" i="0" u="none" strike="noStrike" baseline="0" dirty="0">
                    <a:latin typeface="Times-Roman"/>
                  </a:rPr>
                </a:br>
                <a:r>
                  <a:rPr lang="en-US" sz="1800" b="0" i="0" u="none" strike="noStrike" baseline="0" dirty="0">
                    <a:latin typeface="Times-Roman"/>
                  </a:rPr>
                  <a:t>If the tree violates property 2, it is because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is the root and is red.</a:t>
                </a:r>
              </a:p>
              <a:p>
                <a:pPr algn="l"/>
                <a:r>
                  <a:rPr lang="en-US" sz="1800" b="0" i="0" u="none" strike="noStrike" baseline="0" dirty="0">
                    <a:latin typeface="Times-Roman"/>
                  </a:rPr>
                  <a:t>If the tree violates property 4, it is because both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and </a:t>
                </a:r>
                <a:r>
                  <a:rPr lang="en-US" sz="1800" b="1" i="0" u="none" strike="noStrike" baseline="0" dirty="0" err="1">
                    <a:latin typeface="MT2MIT"/>
                  </a:rPr>
                  <a:t>z.</a:t>
                </a:r>
                <a:r>
                  <a:rPr lang="en-US" sz="1800" b="1" i="1" u="none" strike="noStrike" baseline="0" dirty="0" err="1">
                    <a:latin typeface="Times-Italic"/>
                  </a:rPr>
                  <a:t>p</a:t>
                </a:r>
                <a:r>
                  <a:rPr lang="en-US" sz="1800" b="0" i="1" u="none" strike="noStrike" baseline="0" dirty="0">
                    <a:latin typeface="Times-Italic"/>
                  </a:rPr>
                  <a:t> </a:t>
                </a:r>
                <a:r>
                  <a:rPr lang="en-US" sz="1800" b="0" i="0" u="none" strike="noStrike" baseline="0" dirty="0">
                    <a:latin typeface="Times-Roman"/>
                  </a:rPr>
                  <a:t>are red.</a:t>
                </a:r>
              </a:p>
              <a:p>
                <a:pPr algn="l"/>
                <a:endParaRPr lang="en-US" sz="1800" b="0" i="0" u="none" strike="noStrike" baseline="0" dirty="0">
                  <a:latin typeface="Times-Roman"/>
                </a:endParaRPr>
              </a:p>
              <a:p>
                <a:pPr marL="0" indent="0">
                  <a:buNone/>
                </a:pPr>
                <a:r>
                  <a:rPr lang="en-US" dirty="0"/>
                  <a:t>The tree maintains the following invariants:</a:t>
                </a:r>
              </a:p>
              <a:p>
                <a:pPr marL="514350" indent="-514350">
                  <a:buFont typeface="+mj-lt"/>
                  <a:buAutoNum type="arabicPeriod"/>
                </a:pPr>
                <a:r>
                  <a:rPr lang="en-US" dirty="0"/>
                  <a:t>Every node is either red or black.</a:t>
                </a:r>
              </a:p>
              <a:p>
                <a:pPr marL="514350" indent="-514350">
                  <a:buFont typeface="+mj-lt"/>
                  <a:buAutoNum type="arabicPeriod"/>
                </a:pPr>
                <a:r>
                  <a:rPr lang="en-US" b="1" dirty="0"/>
                  <a:t>The root is always black.</a:t>
                </a:r>
              </a:p>
              <a:p>
                <a:pPr marL="514350" indent="-514350">
                  <a:buFont typeface="+mj-lt"/>
                  <a:buAutoNum type="arabicPeriod"/>
                </a:pPr>
                <a:r>
                  <a:rPr lang="en-US" dirty="0"/>
                  <a:t>All leaves (NIL nodes) are black.</a:t>
                </a:r>
              </a:p>
              <a:p>
                <a:pPr marL="514350" indent="-514350">
                  <a:buFont typeface="+mj-lt"/>
                  <a:buAutoNum type="arabicPeriod"/>
                </a:pPr>
                <a:r>
                  <a:rPr lang="en-US" b="1" dirty="0"/>
                  <a:t>Red nodes cannot have red children (i.e., no two red nodes can be adjacent).</a:t>
                </a:r>
              </a:p>
              <a:p>
                <a:pPr marL="514350" indent="-514350">
                  <a:buFont typeface="+mj-lt"/>
                  <a:buAutoNum type="arabicPeriod"/>
                </a:pPr>
                <a:r>
                  <a:rPr lang="en-US" dirty="0"/>
                  <a:t>Every path from a node to its descendant NIL nodes must have the same number of black nodes.</a:t>
                </a:r>
              </a:p>
              <a:p>
                <a:pPr algn="l"/>
                <a:endParaRPr lang="en-US" dirty="0"/>
              </a:p>
            </p:txBody>
          </p:sp>
        </mc:Choice>
        <mc:Fallback xmlns="">
          <p:sp>
            <p:nvSpPr>
              <p:cNvPr id="3" name="Notes Placeholder 2">
                <a:extLst>
                  <a:ext uri="{FF2B5EF4-FFF2-40B4-BE49-F238E27FC236}">
                    <a16:creationId xmlns:a16="http://schemas.microsoft.com/office/drawing/2014/main" id="{E647A1F8-4148-EA48-F0EB-8F705529FF8E}"/>
                  </a:ext>
                </a:extLst>
              </p:cNvPr>
              <p:cNvSpPr>
                <a:spLocks noGrp="1"/>
              </p:cNvSpPr>
              <p:nvPr>
                <p:ph type="body" idx="1"/>
              </p:nvPr>
            </p:nvSpPr>
            <p:spPr/>
            <p:txBody>
              <a:bodyPr/>
              <a:lstStyle/>
              <a:p>
                <a:pPr marL="514350" indent="-514350">
                  <a:buFont typeface="+mj-lt"/>
                  <a:buAutoNum type="alphaLcParenR"/>
                </a:pPr>
                <a:r>
                  <a:rPr lang="en-US" sz="4000" dirty="0"/>
                  <a:t>node </a:t>
                </a:r>
                <a:r>
                  <a:rPr lang="en-US" sz="4000" i="0" dirty="0">
                    <a:latin typeface="Cambria Math" panose="02040503050406030204" pitchFamily="18" charset="0"/>
                  </a:rPr>
                  <a:t>𝑧</a:t>
                </a:r>
                <a:r>
                  <a:rPr lang="en-US" sz="4000" dirty="0"/>
                  <a:t> is red,</a:t>
                </a:r>
              </a:p>
              <a:p>
                <a:pPr marL="514350" indent="-514350">
                  <a:buFont typeface="+mj-lt"/>
                  <a:buAutoNum type="alphaLcParenR"/>
                </a:pPr>
                <a:r>
                  <a:rPr lang="en-US" sz="4000" dirty="0"/>
                  <a:t>If </a:t>
                </a:r>
                <a:r>
                  <a:rPr lang="en-US" sz="4000" i="0" dirty="0">
                    <a:latin typeface="Cambria Math" panose="02040503050406030204" pitchFamily="18" charset="0"/>
                  </a:rPr>
                  <a:t>𝑧.𝑝</a:t>
                </a:r>
                <a:r>
                  <a:rPr lang="en-US" sz="4000" dirty="0"/>
                  <a:t> is the root, then </a:t>
                </a:r>
                <a:r>
                  <a:rPr lang="en-US" sz="4000" i="0" dirty="0">
                    <a:latin typeface="Cambria Math" panose="02040503050406030204" pitchFamily="18" charset="0"/>
                  </a:rPr>
                  <a:t>𝑧.𝑝</a:t>
                </a:r>
                <a:r>
                  <a:rPr lang="en-US" sz="4000" dirty="0"/>
                  <a:t> is black,</a:t>
                </a:r>
              </a:p>
              <a:p>
                <a:pPr marL="514350" indent="-514350">
                  <a:buFont typeface="+mj-lt"/>
                  <a:buAutoNum type="alphaLcParenR"/>
                </a:pPr>
                <a:r>
                  <a:rPr lang="en-US" sz="4000" b="1" dirty="0"/>
                  <a:t>The tree at any moment may violate at most 1 red-black tree property.</a:t>
                </a:r>
              </a:p>
              <a:p>
                <a:pPr algn="l"/>
                <a:br>
                  <a:rPr lang="en-US" sz="1800" b="0" i="0" u="none" strike="noStrike" baseline="0" dirty="0">
                    <a:latin typeface="Times-Roman"/>
                  </a:rPr>
                </a:br>
                <a:r>
                  <a:rPr lang="en-US" sz="1800" b="0" i="0" u="none" strike="noStrike" baseline="0" dirty="0">
                    <a:latin typeface="Times-Roman"/>
                  </a:rPr>
                  <a:t>If the tree violates property 2, it is because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is the root and is red.</a:t>
                </a:r>
              </a:p>
              <a:p>
                <a:pPr algn="l"/>
                <a:r>
                  <a:rPr lang="en-US" sz="1800" b="0" i="0" u="none" strike="noStrike" baseline="0" dirty="0">
                    <a:latin typeface="Times-Roman"/>
                  </a:rPr>
                  <a:t>If the tree violates property 4, it is because both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and </a:t>
                </a:r>
                <a:r>
                  <a:rPr lang="en-US" sz="1800" b="1" i="0" u="none" strike="noStrike" baseline="0" dirty="0" err="1">
                    <a:latin typeface="MT2MIT"/>
                  </a:rPr>
                  <a:t>z.</a:t>
                </a:r>
                <a:r>
                  <a:rPr lang="en-US" sz="1800" b="1" i="1" u="none" strike="noStrike" baseline="0" dirty="0" err="1">
                    <a:latin typeface="Times-Italic"/>
                  </a:rPr>
                  <a:t>p</a:t>
                </a:r>
                <a:r>
                  <a:rPr lang="en-US" sz="1800" b="0" i="1" u="none" strike="noStrike" baseline="0" dirty="0">
                    <a:latin typeface="Times-Italic"/>
                  </a:rPr>
                  <a:t> </a:t>
                </a:r>
                <a:r>
                  <a:rPr lang="en-US" sz="1800" b="0" i="0" u="none" strike="noStrike" baseline="0" dirty="0">
                    <a:latin typeface="Times-Roman"/>
                  </a:rPr>
                  <a:t>are red.</a:t>
                </a:r>
                <a:endParaRPr lang="en-US" dirty="0"/>
              </a:p>
            </p:txBody>
          </p:sp>
        </mc:Fallback>
      </mc:AlternateContent>
      <p:sp>
        <p:nvSpPr>
          <p:cNvPr id="4" name="Slide Number Placeholder 3">
            <a:extLst>
              <a:ext uri="{FF2B5EF4-FFF2-40B4-BE49-F238E27FC236}">
                <a16:creationId xmlns:a16="http://schemas.microsoft.com/office/drawing/2014/main" id="{5662893A-C683-E47D-61A7-A669EF8A350C}"/>
              </a:ext>
            </a:extLst>
          </p:cNvPr>
          <p:cNvSpPr>
            <a:spLocks noGrp="1"/>
          </p:cNvSpPr>
          <p:nvPr>
            <p:ph type="sldNum" sz="quarter" idx="5"/>
          </p:nvPr>
        </p:nvSpPr>
        <p:spPr/>
        <p:txBody>
          <a:bodyPr/>
          <a:lstStyle/>
          <a:p>
            <a:fld id="{BD22A58C-8E2F-4CF4-BCC2-14D73B27F336}" type="slidenum">
              <a:rPr lang="en-US" smtClean="0"/>
              <a:t>20</a:t>
            </a:fld>
            <a:endParaRPr lang="en-US" dirty="0"/>
          </a:p>
        </p:txBody>
      </p:sp>
    </p:spTree>
    <p:extLst>
      <p:ext uri="{BB962C8B-B14F-4D97-AF65-F5344CB8AC3E}">
        <p14:creationId xmlns:p14="http://schemas.microsoft.com/office/powerpoint/2010/main" val="4204959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E4902-3C39-D5E9-AD04-6362652B2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EE3E56-5E25-D07A-E54A-807D9C6E4B2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A36310A-5EEC-2220-BDA0-BDA35AB3B11C}"/>
                  </a:ext>
                </a:extLst>
              </p:cNvPr>
              <p:cNvSpPr>
                <a:spLocks noGrp="1"/>
              </p:cNvSpPr>
              <p:nvPr>
                <p:ph type="body" idx="1"/>
              </p:nvPr>
            </p:nvSpPr>
            <p:spPr/>
            <p:txBody>
              <a:bodyPr/>
              <a:lstStyle/>
              <a:p>
                <a:pPr marL="514350" indent="-514350">
                  <a:buFont typeface="+mj-lt"/>
                  <a:buAutoNum type="alphaLcParenR"/>
                </a:pPr>
                <a:r>
                  <a:rPr lang="en-US" sz="4000" dirty="0"/>
                  <a:t>node </a:t>
                </a:r>
                <a14:m>
                  <m:oMath xmlns:m="http://schemas.openxmlformats.org/officeDocument/2006/math">
                    <m:r>
                      <a:rPr lang="en-US" sz="4000" i="1" dirty="0" smtClean="0">
                        <a:latin typeface="Cambria Math" panose="02040503050406030204" pitchFamily="18" charset="0"/>
                      </a:rPr>
                      <m:t>𝑧</m:t>
                    </m:r>
                  </m:oMath>
                </a14:m>
                <a:r>
                  <a:rPr lang="en-US" sz="4000" dirty="0"/>
                  <a:t> is red,</a:t>
                </a:r>
              </a:p>
              <a:p>
                <a:pPr marL="514350" indent="-514350">
                  <a:buFont typeface="+mj-lt"/>
                  <a:buAutoNum type="alphaLcParenR"/>
                </a:pPr>
                <a:r>
                  <a:rPr lang="en-US" sz="4000" dirty="0"/>
                  <a:t>If </a:t>
                </a:r>
                <a14:m>
                  <m:oMath xmlns:m="http://schemas.openxmlformats.org/officeDocument/2006/math">
                    <m:r>
                      <a:rPr lang="en-US" sz="4000" i="1" dirty="0" smtClean="0">
                        <a:latin typeface="Cambria Math" panose="02040503050406030204" pitchFamily="18" charset="0"/>
                      </a:rPr>
                      <m:t>𝑧</m:t>
                    </m:r>
                    <m:r>
                      <a:rPr lang="en-US" sz="4000" i="1" dirty="0" smtClean="0">
                        <a:latin typeface="Cambria Math" panose="02040503050406030204" pitchFamily="18" charset="0"/>
                      </a:rPr>
                      <m:t>.</m:t>
                    </m:r>
                    <m:r>
                      <a:rPr lang="en-US" sz="4000" i="1" dirty="0" smtClean="0">
                        <a:latin typeface="Cambria Math" panose="02040503050406030204" pitchFamily="18" charset="0"/>
                      </a:rPr>
                      <m:t>𝑝</m:t>
                    </m:r>
                  </m:oMath>
                </a14:m>
                <a:r>
                  <a:rPr lang="en-US" sz="4000" dirty="0"/>
                  <a:t> is the root, then </a:t>
                </a:r>
                <a14:m>
                  <m:oMath xmlns:m="http://schemas.openxmlformats.org/officeDocument/2006/math">
                    <m:r>
                      <a:rPr lang="en-US" sz="4000" i="1" dirty="0" smtClean="0">
                        <a:latin typeface="Cambria Math" panose="02040503050406030204" pitchFamily="18" charset="0"/>
                      </a:rPr>
                      <m:t>𝑧</m:t>
                    </m:r>
                    <m:r>
                      <a:rPr lang="en-US" sz="4000" i="1" dirty="0" smtClean="0">
                        <a:latin typeface="Cambria Math" panose="02040503050406030204" pitchFamily="18" charset="0"/>
                      </a:rPr>
                      <m:t>.</m:t>
                    </m:r>
                    <m:r>
                      <a:rPr lang="en-US" sz="4000" i="1" dirty="0" smtClean="0">
                        <a:latin typeface="Cambria Math" panose="02040503050406030204" pitchFamily="18" charset="0"/>
                      </a:rPr>
                      <m:t>𝑝</m:t>
                    </m:r>
                  </m:oMath>
                </a14:m>
                <a:r>
                  <a:rPr lang="en-US" sz="4000" dirty="0"/>
                  <a:t> is black,</a:t>
                </a:r>
              </a:p>
              <a:p>
                <a:pPr marL="514350" indent="-514350">
                  <a:buFont typeface="+mj-lt"/>
                  <a:buAutoNum type="alphaLcParenR"/>
                </a:pPr>
                <a:r>
                  <a:rPr lang="en-US" sz="4000" b="1" dirty="0"/>
                  <a:t>The tree at any moment may violate at most 1 red-black tree property.</a:t>
                </a:r>
              </a:p>
              <a:p>
                <a:pPr algn="l"/>
                <a:br>
                  <a:rPr lang="en-US" sz="1800" b="0" i="0" u="none" strike="noStrike" baseline="0" dirty="0">
                    <a:latin typeface="Times-Roman"/>
                  </a:rPr>
                </a:br>
                <a:r>
                  <a:rPr lang="en-US" sz="1800" b="0" i="0" u="none" strike="noStrike" baseline="0" dirty="0">
                    <a:latin typeface="Times-Roman"/>
                  </a:rPr>
                  <a:t>If the tree violates property 2, it is because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is the root and is red.</a:t>
                </a:r>
              </a:p>
              <a:p>
                <a:pPr algn="l"/>
                <a:r>
                  <a:rPr lang="en-US" sz="1800" b="0" i="0" u="none" strike="noStrike" baseline="0" dirty="0">
                    <a:latin typeface="Times-Roman"/>
                  </a:rPr>
                  <a:t>If the tree violates property 4, it is because both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and </a:t>
                </a:r>
                <a:r>
                  <a:rPr lang="en-US" sz="1800" b="1" i="0" u="none" strike="noStrike" baseline="0" dirty="0" err="1">
                    <a:latin typeface="MT2MIT"/>
                  </a:rPr>
                  <a:t>z.</a:t>
                </a:r>
                <a:r>
                  <a:rPr lang="en-US" sz="1800" b="1" i="1" u="none" strike="noStrike" baseline="0" dirty="0" err="1">
                    <a:latin typeface="Times-Italic"/>
                  </a:rPr>
                  <a:t>p</a:t>
                </a:r>
                <a:r>
                  <a:rPr lang="en-US" sz="1800" b="0" i="1" u="none" strike="noStrike" baseline="0" dirty="0">
                    <a:latin typeface="Times-Italic"/>
                  </a:rPr>
                  <a:t> </a:t>
                </a:r>
                <a:r>
                  <a:rPr lang="en-US" sz="1800" b="0" i="0" u="none" strike="noStrike" baseline="0" dirty="0">
                    <a:latin typeface="Times-Roman"/>
                  </a:rPr>
                  <a:t>are red.</a:t>
                </a:r>
              </a:p>
              <a:p>
                <a:pPr algn="l"/>
                <a:endParaRPr lang="en-US" sz="1800" b="0" i="0" u="none" strike="noStrike" baseline="0" dirty="0">
                  <a:latin typeface="Times-Roman"/>
                </a:endParaRPr>
              </a:p>
              <a:p>
                <a:pPr marL="0" indent="0">
                  <a:buNone/>
                </a:pPr>
                <a:r>
                  <a:rPr lang="en-US" dirty="0"/>
                  <a:t>The tree maintains the following invariants:</a:t>
                </a:r>
              </a:p>
              <a:p>
                <a:pPr marL="514350" indent="-514350">
                  <a:buFont typeface="+mj-lt"/>
                  <a:buAutoNum type="arabicPeriod"/>
                </a:pPr>
                <a:r>
                  <a:rPr lang="en-US" dirty="0"/>
                  <a:t>Every node is either red or black.</a:t>
                </a:r>
              </a:p>
              <a:p>
                <a:pPr marL="514350" indent="-514350">
                  <a:buFont typeface="+mj-lt"/>
                  <a:buAutoNum type="arabicPeriod"/>
                </a:pPr>
                <a:r>
                  <a:rPr lang="en-US" b="1" dirty="0"/>
                  <a:t>The root is always black.</a:t>
                </a:r>
              </a:p>
              <a:p>
                <a:pPr marL="514350" indent="-514350">
                  <a:buFont typeface="+mj-lt"/>
                  <a:buAutoNum type="arabicPeriod"/>
                </a:pPr>
                <a:r>
                  <a:rPr lang="en-US" dirty="0"/>
                  <a:t>All leaves (NIL nodes) are black.</a:t>
                </a:r>
              </a:p>
              <a:p>
                <a:pPr marL="514350" indent="-514350">
                  <a:buFont typeface="+mj-lt"/>
                  <a:buAutoNum type="arabicPeriod"/>
                </a:pPr>
                <a:r>
                  <a:rPr lang="en-US" b="1" dirty="0"/>
                  <a:t>Red nodes cannot have red children (i.e., no two red nodes can be adjacent).</a:t>
                </a:r>
              </a:p>
              <a:p>
                <a:pPr marL="514350" indent="-514350">
                  <a:buFont typeface="+mj-lt"/>
                  <a:buAutoNum type="arabicPeriod"/>
                </a:pPr>
                <a:r>
                  <a:rPr lang="en-US" dirty="0"/>
                  <a:t>Every path from a node to its descendant NIL nodes must have the same number of black nodes.</a:t>
                </a:r>
              </a:p>
              <a:p>
                <a:pPr algn="l"/>
                <a:endParaRPr lang="en-US" dirty="0"/>
              </a:p>
            </p:txBody>
          </p:sp>
        </mc:Choice>
        <mc:Fallback xmlns="">
          <p:sp>
            <p:nvSpPr>
              <p:cNvPr id="3" name="Notes Placeholder 2">
                <a:extLst>
                  <a:ext uri="{FF2B5EF4-FFF2-40B4-BE49-F238E27FC236}">
                    <a16:creationId xmlns:a16="http://schemas.microsoft.com/office/drawing/2014/main" id="{8A36310A-5EEC-2220-BDA0-BDA35AB3B11C}"/>
                  </a:ext>
                </a:extLst>
              </p:cNvPr>
              <p:cNvSpPr>
                <a:spLocks noGrp="1"/>
              </p:cNvSpPr>
              <p:nvPr>
                <p:ph type="body" idx="1"/>
              </p:nvPr>
            </p:nvSpPr>
            <p:spPr/>
            <p:txBody>
              <a:bodyPr/>
              <a:lstStyle/>
              <a:p>
                <a:pPr marL="514350" indent="-514350">
                  <a:buFont typeface="+mj-lt"/>
                  <a:buAutoNum type="alphaLcParenR"/>
                </a:pPr>
                <a:r>
                  <a:rPr lang="en-US" sz="4000" dirty="0"/>
                  <a:t>node </a:t>
                </a:r>
                <a:r>
                  <a:rPr lang="en-US" sz="4000" i="0" dirty="0">
                    <a:latin typeface="Cambria Math" panose="02040503050406030204" pitchFamily="18" charset="0"/>
                  </a:rPr>
                  <a:t>𝑧</a:t>
                </a:r>
                <a:r>
                  <a:rPr lang="en-US" sz="4000" dirty="0"/>
                  <a:t> is red,</a:t>
                </a:r>
              </a:p>
              <a:p>
                <a:pPr marL="514350" indent="-514350">
                  <a:buFont typeface="+mj-lt"/>
                  <a:buAutoNum type="alphaLcParenR"/>
                </a:pPr>
                <a:r>
                  <a:rPr lang="en-US" sz="4000" dirty="0"/>
                  <a:t>If </a:t>
                </a:r>
                <a:r>
                  <a:rPr lang="en-US" sz="4000" i="0" dirty="0">
                    <a:latin typeface="Cambria Math" panose="02040503050406030204" pitchFamily="18" charset="0"/>
                  </a:rPr>
                  <a:t>𝑧.𝑝</a:t>
                </a:r>
                <a:r>
                  <a:rPr lang="en-US" sz="4000" dirty="0"/>
                  <a:t> is the root, then </a:t>
                </a:r>
                <a:r>
                  <a:rPr lang="en-US" sz="4000" i="0" dirty="0">
                    <a:latin typeface="Cambria Math" panose="02040503050406030204" pitchFamily="18" charset="0"/>
                  </a:rPr>
                  <a:t>𝑧.𝑝</a:t>
                </a:r>
                <a:r>
                  <a:rPr lang="en-US" sz="4000" dirty="0"/>
                  <a:t> is black,</a:t>
                </a:r>
              </a:p>
              <a:p>
                <a:pPr marL="514350" indent="-514350">
                  <a:buFont typeface="+mj-lt"/>
                  <a:buAutoNum type="alphaLcParenR"/>
                </a:pPr>
                <a:r>
                  <a:rPr lang="en-US" sz="4000" b="1" dirty="0"/>
                  <a:t>The tree at any moment may violate at most 1 red-black tree property.</a:t>
                </a:r>
              </a:p>
              <a:p>
                <a:pPr algn="l"/>
                <a:br>
                  <a:rPr lang="en-US" sz="1800" b="0" i="0" u="none" strike="noStrike" baseline="0" dirty="0">
                    <a:latin typeface="Times-Roman"/>
                  </a:rPr>
                </a:br>
                <a:r>
                  <a:rPr lang="en-US" sz="1800" b="0" i="0" u="none" strike="noStrike" baseline="0" dirty="0">
                    <a:latin typeface="Times-Roman"/>
                  </a:rPr>
                  <a:t>If the tree violates property 2, it is because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is the root and is red.</a:t>
                </a:r>
              </a:p>
              <a:p>
                <a:pPr algn="l"/>
                <a:r>
                  <a:rPr lang="en-US" sz="1800" b="0" i="0" u="none" strike="noStrike" baseline="0" dirty="0">
                    <a:latin typeface="Times-Roman"/>
                  </a:rPr>
                  <a:t>If the tree violates property 4, it is because both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and </a:t>
                </a:r>
                <a:r>
                  <a:rPr lang="en-US" sz="1800" b="1" i="0" u="none" strike="noStrike" baseline="0" dirty="0" err="1">
                    <a:latin typeface="MT2MIT"/>
                  </a:rPr>
                  <a:t>z.</a:t>
                </a:r>
                <a:r>
                  <a:rPr lang="en-US" sz="1800" b="1" i="1" u="none" strike="noStrike" baseline="0" dirty="0" err="1">
                    <a:latin typeface="Times-Italic"/>
                  </a:rPr>
                  <a:t>p</a:t>
                </a:r>
                <a:r>
                  <a:rPr lang="en-US" sz="1800" b="0" i="1" u="none" strike="noStrike" baseline="0" dirty="0">
                    <a:latin typeface="Times-Italic"/>
                  </a:rPr>
                  <a:t> </a:t>
                </a:r>
                <a:r>
                  <a:rPr lang="en-US" sz="1800" b="0" i="0" u="none" strike="noStrike" baseline="0" dirty="0">
                    <a:latin typeface="Times-Roman"/>
                  </a:rPr>
                  <a:t>are red.</a:t>
                </a:r>
                <a:endParaRPr lang="en-US" dirty="0"/>
              </a:p>
            </p:txBody>
          </p:sp>
        </mc:Fallback>
      </mc:AlternateContent>
      <p:sp>
        <p:nvSpPr>
          <p:cNvPr id="4" name="Slide Number Placeholder 3">
            <a:extLst>
              <a:ext uri="{FF2B5EF4-FFF2-40B4-BE49-F238E27FC236}">
                <a16:creationId xmlns:a16="http://schemas.microsoft.com/office/drawing/2014/main" id="{B7196222-3E26-7273-BB2E-AE064858BA00}"/>
              </a:ext>
            </a:extLst>
          </p:cNvPr>
          <p:cNvSpPr>
            <a:spLocks noGrp="1"/>
          </p:cNvSpPr>
          <p:nvPr>
            <p:ph type="sldNum" sz="quarter" idx="5"/>
          </p:nvPr>
        </p:nvSpPr>
        <p:spPr/>
        <p:txBody>
          <a:bodyPr/>
          <a:lstStyle/>
          <a:p>
            <a:fld id="{BD22A58C-8E2F-4CF4-BCC2-14D73B27F336}" type="slidenum">
              <a:rPr lang="en-US" smtClean="0"/>
              <a:t>21</a:t>
            </a:fld>
            <a:endParaRPr lang="en-US" dirty="0"/>
          </a:p>
        </p:txBody>
      </p:sp>
    </p:spTree>
    <p:extLst>
      <p:ext uri="{BB962C8B-B14F-4D97-AF65-F5344CB8AC3E}">
        <p14:creationId xmlns:p14="http://schemas.microsoft.com/office/powerpoint/2010/main" val="1155875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64C7-E1A8-3A4C-F65E-3CED66FEB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0CA51-F2A7-5426-8ADD-2A24F698B5F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CE0CBD1-36FB-D896-A9EB-CAACDBF0F80D}"/>
                  </a:ext>
                </a:extLst>
              </p:cNvPr>
              <p:cNvSpPr>
                <a:spLocks noGrp="1"/>
              </p:cNvSpPr>
              <p:nvPr>
                <p:ph type="body" idx="1"/>
              </p:nvPr>
            </p:nvSpPr>
            <p:spPr/>
            <p:txBody>
              <a:bodyPr/>
              <a:lstStyle/>
              <a:p>
                <a:pPr marL="514350" indent="-514350">
                  <a:buFont typeface="+mj-lt"/>
                  <a:buAutoNum type="alphaLcParenR"/>
                </a:pPr>
                <a:r>
                  <a:rPr lang="en-US" sz="4000" dirty="0"/>
                  <a:t>node </a:t>
                </a:r>
                <a14:m>
                  <m:oMath xmlns:m="http://schemas.openxmlformats.org/officeDocument/2006/math">
                    <m:r>
                      <a:rPr lang="en-US" sz="4000" i="1" dirty="0" smtClean="0">
                        <a:latin typeface="Cambria Math" panose="02040503050406030204" pitchFamily="18" charset="0"/>
                      </a:rPr>
                      <m:t>𝑧</m:t>
                    </m:r>
                  </m:oMath>
                </a14:m>
                <a:r>
                  <a:rPr lang="en-US" sz="4000" dirty="0"/>
                  <a:t> is red,</a:t>
                </a:r>
              </a:p>
              <a:p>
                <a:pPr marL="514350" indent="-514350">
                  <a:buFont typeface="+mj-lt"/>
                  <a:buAutoNum type="alphaLcParenR"/>
                </a:pPr>
                <a:r>
                  <a:rPr lang="en-US" sz="4000" dirty="0"/>
                  <a:t>If </a:t>
                </a:r>
                <a14:m>
                  <m:oMath xmlns:m="http://schemas.openxmlformats.org/officeDocument/2006/math">
                    <m:r>
                      <a:rPr lang="en-US" sz="4000" i="1" dirty="0" smtClean="0">
                        <a:latin typeface="Cambria Math" panose="02040503050406030204" pitchFamily="18" charset="0"/>
                      </a:rPr>
                      <m:t>𝑧</m:t>
                    </m:r>
                    <m:r>
                      <a:rPr lang="en-US" sz="4000" i="1" dirty="0" smtClean="0">
                        <a:latin typeface="Cambria Math" panose="02040503050406030204" pitchFamily="18" charset="0"/>
                      </a:rPr>
                      <m:t>.</m:t>
                    </m:r>
                    <m:r>
                      <a:rPr lang="en-US" sz="4000" i="1" dirty="0" smtClean="0">
                        <a:latin typeface="Cambria Math" panose="02040503050406030204" pitchFamily="18" charset="0"/>
                      </a:rPr>
                      <m:t>𝑝</m:t>
                    </m:r>
                  </m:oMath>
                </a14:m>
                <a:r>
                  <a:rPr lang="en-US" sz="4000" dirty="0"/>
                  <a:t> is the root, then </a:t>
                </a:r>
                <a14:m>
                  <m:oMath xmlns:m="http://schemas.openxmlformats.org/officeDocument/2006/math">
                    <m:r>
                      <a:rPr lang="en-US" sz="4000" i="1" dirty="0" smtClean="0">
                        <a:latin typeface="Cambria Math" panose="02040503050406030204" pitchFamily="18" charset="0"/>
                      </a:rPr>
                      <m:t>𝑧</m:t>
                    </m:r>
                    <m:r>
                      <a:rPr lang="en-US" sz="4000" i="1" dirty="0" smtClean="0">
                        <a:latin typeface="Cambria Math" panose="02040503050406030204" pitchFamily="18" charset="0"/>
                      </a:rPr>
                      <m:t>.</m:t>
                    </m:r>
                    <m:r>
                      <a:rPr lang="en-US" sz="4000" i="1" dirty="0" smtClean="0">
                        <a:latin typeface="Cambria Math" panose="02040503050406030204" pitchFamily="18" charset="0"/>
                      </a:rPr>
                      <m:t>𝑝</m:t>
                    </m:r>
                  </m:oMath>
                </a14:m>
                <a:r>
                  <a:rPr lang="en-US" sz="4000" dirty="0"/>
                  <a:t> is black,</a:t>
                </a:r>
              </a:p>
              <a:p>
                <a:pPr marL="514350" indent="-514350">
                  <a:buFont typeface="+mj-lt"/>
                  <a:buAutoNum type="alphaLcParenR"/>
                </a:pPr>
                <a:r>
                  <a:rPr lang="en-US" sz="4000" b="1" dirty="0"/>
                  <a:t>The tree at any moment may violate at most 1 red-black tree property.</a:t>
                </a:r>
              </a:p>
              <a:p>
                <a:pPr algn="l"/>
                <a:br>
                  <a:rPr lang="en-US" sz="1800" b="0" i="0" u="none" strike="noStrike" baseline="0" dirty="0">
                    <a:latin typeface="Times-Roman"/>
                  </a:rPr>
                </a:br>
                <a:r>
                  <a:rPr lang="en-US" sz="1800" b="0" i="0" u="none" strike="noStrike" baseline="0" dirty="0">
                    <a:latin typeface="Times-Roman"/>
                  </a:rPr>
                  <a:t>If the tree violates property 2, it is because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is the root and is red.</a:t>
                </a:r>
              </a:p>
              <a:p>
                <a:pPr algn="l"/>
                <a:r>
                  <a:rPr lang="en-US" sz="1800" b="0" i="0" u="none" strike="noStrike" baseline="0" dirty="0">
                    <a:latin typeface="Times-Roman"/>
                  </a:rPr>
                  <a:t>If the tree violates property 4, it is because both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and </a:t>
                </a:r>
                <a:r>
                  <a:rPr lang="en-US" sz="1800" b="1" i="0" u="none" strike="noStrike" baseline="0" dirty="0" err="1">
                    <a:latin typeface="MT2MIT"/>
                  </a:rPr>
                  <a:t>z.</a:t>
                </a:r>
                <a:r>
                  <a:rPr lang="en-US" sz="1800" b="1" i="1" u="none" strike="noStrike" baseline="0" dirty="0" err="1">
                    <a:latin typeface="Times-Italic"/>
                  </a:rPr>
                  <a:t>p</a:t>
                </a:r>
                <a:r>
                  <a:rPr lang="en-US" sz="1800" b="0" i="1" u="none" strike="noStrike" baseline="0" dirty="0">
                    <a:latin typeface="Times-Italic"/>
                  </a:rPr>
                  <a:t> </a:t>
                </a:r>
                <a:r>
                  <a:rPr lang="en-US" sz="1800" b="0" i="0" u="none" strike="noStrike" baseline="0" dirty="0">
                    <a:latin typeface="Times-Roman"/>
                  </a:rPr>
                  <a:t>are red.</a:t>
                </a:r>
                <a:endParaRPr lang="en-US" dirty="0"/>
              </a:p>
            </p:txBody>
          </p:sp>
        </mc:Choice>
        <mc:Fallback xmlns="">
          <p:sp>
            <p:nvSpPr>
              <p:cNvPr id="3" name="Notes Placeholder 2">
                <a:extLst>
                  <a:ext uri="{FF2B5EF4-FFF2-40B4-BE49-F238E27FC236}">
                    <a16:creationId xmlns:a16="http://schemas.microsoft.com/office/drawing/2014/main" id="{5CE0CBD1-36FB-D896-A9EB-CAACDBF0F80D}"/>
                  </a:ext>
                </a:extLst>
              </p:cNvPr>
              <p:cNvSpPr>
                <a:spLocks noGrp="1"/>
              </p:cNvSpPr>
              <p:nvPr>
                <p:ph type="body" idx="1"/>
              </p:nvPr>
            </p:nvSpPr>
            <p:spPr/>
            <p:txBody>
              <a:bodyPr/>
              <a:lstStyle/>
              <a:p>
                <a:pPr marL="514350" indent="-514350">
                  <a:buFont typeface="+mj-lt"/>
                  <a:buAutoNum type="alphaLcParenR"/>
                </a:pPr>
                <a:r>
                  <a:rPr lang="en-US" sz="4000" dirty="0"/>
                  <a:t>node </a:t>
                </a:r>
                <a:r>
                  <a:rPr lang="en-US" sz="4000" i="0" dirty="0">
                    <a:latin typeface="Cambria Math" panose="02040503050406030204" pitchFamily="18" charset="0"/>
                  </a:rPr>
                  <a:t>𝑧</a:t>
                </a:r>
                <a:r>
                  <a:rPr lang="en-US" sz="4000" dirty="0"/>
                  <a:t> is red,</a:t>
                </a:r>
              </a:p>
              <a:p>
                <a:pPr marL="514350" indent="-514350">
                  <a:buFont typeface="+mj-lt"/>
                  <a:buAutoNum type="alphaLcParenR"/>
                </a:pPr>
                <a:r>
                  <a:rPr lang="en-US" sz="4000" dirty="0"/>
                  <a:t>If </a:t>
                </a:r>
                <a:r>
                  <a:rPr lang="en-US" sz="4000" i="0" dirty="0">
                    <a:latin typeface="Cambria Math" panose="02040503050406030204" pitchFamily="18" charset="0"/>
                  </a:rPr>
                  <a:t>𝑧.𝑝</a:t>
                </a:r>
                <a:r>
                  <a:rPr lang="en-US" sz="4000" dirty="0"/>
                  <a:t> is the root, then </a:t>
                </a:r>
                <a:r>
                  <a:rPr lang="en-US" sz="4000" i="0" dirty="0">
                    <a:latin typeface="Cambria Math" panose="02040503050406030204" pitchFamily="18" charset="0"/>
                  </a:rPr>
                  <a:t>𝑧.𝑝</a:t>
                </a:r>
                <a:r>
                  <a:rPr lang="en-US" sz="4000" dirty="0"/>
                  <a:t> is black,</a:t>
                </a:r>
              </a:p>
              <a:p>
                <a:pPr marL="514350" indent="-514350">
                  <a:buFont typeface="+mj-lt"/>
                  <a:buAutoNum type="alphaLcParenR"/>
                </a:pPr>
                <a:r>
                  <a:rPr lang="en-US" sz="4000" b="1" dirty="0"/>
                  <a:t>The tree at any moment may violate at most 1 red-black tree property.</a:t>
                </a:r>
              </a:p>
              <a:p>
                <a:pPr algn="l"/>
                <a:br>
                  <a:rPr lang="en-US" sz="1800" b="0" i="0" u="none" strike="noStrike" baseline="0" dirty="0">
                    <a:latin typeface="Times-Roman"/>
                  </a:rPr>
                </a:br>
                <a:r>
                  <a:rPr lang="en-US" sz="1800" b="0" i="0" u="none" strike="noStrike" baseline="0" dirty="0">
                    <a:latin typeface="Times-Roman"/>
                  </a:rPr>
                  <a:t>If the tree violates property 2, it is because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is the root and is red.</a:t>
                </a:r>
              </a:p>
              <a:p>
                <a:pPr algn="l"/>
                <a:r>
                  <a:rPr lang="en-US" sz="1800" b="0" i="0" u="none" strike="noStrike" baseline="0" dirty="0">
                    <a:latin typeface="Times-Roman"/>
                  </a:rPr>
                  <a:t>If the tree violates property 4, it is because both </a:t>
                </a:r>
                <a:r>
                  <a:rPr lang="en-US" sz="1800" b="1" i="0" u="none" strike="noStrike" baseline="0" dirty="0">
                    <a:latin typeface="MT2MIT"/>
                  </a:rPr>
                  <a:t>z</a:t>
                </a:r>
                <a:r>
                  <a:rPr lang="en-US" sz="1800" b="0" i="0" u="none" strike="noStrike" baseline="0" dirty="0">
                    <a:latin typeface="MT2MIT"/>
                  </a:rPr>
                  <a:t> </a:t>
                </a:r>
                <a:r>
                  <a:rPr lang="en-US" sz="1800" b="0" i="0" u="none" strike="noStrike" baseline="0" dirty="0">
                    <a:latin typeface="Times-Roman"/>
                  </a:rPr>
                  <a:t>and </a:t>
                </a:r>
                <a:r>
                  <a:rPr lang="en-US" sz="1800" b="1" i="0" u="none" strike="noStrike" baseline="0" dirty="0" err="1">
                    <a:latin typeface="MT2MIT"/>
                  </a:rPr>
                  <a:t>z.</a:t>
                </a:r>
                <a:r>
                  <a:rPr lang="en-US" sz="1800" b="1" i="1" u="none" strike="noStrike" baseline="0" dirty="0" err="1">
                    <a:latin typeface="Times-Italic"/>
                  </a:rPr>
                  <a:t>p</a:t>
                </a:r>
                <a:r>
                  <a:rPr lang="en-US" sz="1800" b="0" i="1" u="none" strike="noStrike" baseline="0" dirty="0">
                    <a:latin typeface="Times-Italic"/>
                  </a:rPr>
                  <a:t> </a:t>
                </a:r>
                <a:r>
                  <a:rPr lang="en-US" sz="1800" b="0" i="0" u="none" strike="noStrike" baseline="0" dirty="0">
                    <a:latin typeface="Times-Roman"/>
                  </a:rPr>
                  <a:t>are red.</a:t>
                </a:r>
                <a:endParaRPr lang="en-US" dirty="0"/>
              </a:p>
            </p:txBody>
          </p:sp>
        </mc:Fallback>
      </mc:AlternateContent>
      <p:sp>
        <p:nvSpPr>
          <p:cNvPr id="4" name="Slide Number Placeholder 3">
            <a:extLst>
              <a:ext uri="{FF2B5EF4-FFF2-40B4-BE49-F238E27FC236}">
                <a16:creationId xmlns:a16="http://schemas.microsoft.com/office/drawing/2014/main" id="{7BDAE9A0-3374-76AD-4340-3AE61EBC2073}"/>
              </a:ext>
            </a:extLst>
          </p:cNvPr>
          <p:cNvSpPr>
            <a:spLocks noGrp="1"/>
          </p:cNvSpPr>
          <p:nvPr>
            <p:ph type="sldNum" sz="quarter" idx="5"/>
          </p:nvPr>
        </p:nvSpPr>
        <p:spPr/>
        <p:txBody>
          <a:bodyPr/>
          <a:lstStyle/>
          <a:p>
            <a:fld id="{BD22A58C-8E2F-4CF4-BCC2-14D73B27F336}" type="slidenum">
              <a:rPr lang="en-US" smtClean="0"/>
              <a:t>22</a:t>
            </a:fld>
            <a:endParaRPr lang="en-US" dirty="0"/>
          </a:p>
        </p:txBody>
      </p:sp>
    </p:spTree>
    <p:extLst>
      <p:ext uri="{BB962C8B-B14F-4D97-AF65-F5344CB8AC3E}">
        <p14:creationId xmlns:p14="http://schemas.microsoft.com/office/powerpoint/2010/main" val="1901962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F152-5D37-4988-1474-FA62542465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316DA-48EB-9891-3B80-022BCAF12D0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0A1CF4F-83CA-78A7-B8DD-23CBBA87CD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black inside the while loop as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red</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200" dirty="0"/>
              </a:p>
              <a:p>
                <a:pPr marL="0" indent="0">
                  <a:buNone/>
                </a:pPr>
                <a:r>
                  <a:rPr lang="en-US" dirty="0"/>
                  <a:t>The tree maintains the following invariants:</a:t>
                </a:r>
              </a:p>
              <a:p>
                <a:pPr marL="514350" indent="-514350">
                  <a:buFont typeface="+mj-lt"/>
                  <a:buAutoNum type="arabicPeriod"/>
                </a:pPr>
                <a:r>
                  <a:rPr lang="en-US" dirty="0"/>
                  <a:t>Every node is either red or black.</a:t>
                </a:r>
              </a:p>
              <a:p>
                <a:pPr marL="514350" indent="-514350">
                  <a:buFont typeface="+mj-lt"/>
                  <a:buAutoNum type="arabicPeriod"/>
                </a:pPr>
                <a:r>
                  <a:rPr lang="en-US" dirty="0"/>
                  <a:t>The root is always black.</a:t>
                </a:r>
              </a:p>
              <a:p>
                <a:pPr marL="514350" indent="-514350">
                  <a:buFont typeface="+mj-lt"/>
                  <a:buAutoNum type="arabicPeriod"/>
                </a:pPr>
                <a:r>
                  <a:rPr lang="en-US" dirty="0"/>
                  <a:t>All leaves (NIL nodes) are black.</a:t>
                </a:r>
              </a:p>
              <a:p>
                <a:pPr marL="514350" indent="-514350">
                  <a:buFont typeface="+mj-lt"/>
                  <a:buAutoNum type="arabicPeriod"/>
                </a:pPr>
                <a:r>
                  <a:rPr lang="en-US" dirty="0"/>
                  <a:t>Red nodes cannot have red children (i.e., no two red nodes can be adjacent).</a:t>
                </a:r>
              </a:p>
              <a:p>
                <a:pPr marL="514350" indent="-514350">
                  <a:buFont typeface="+mj-lt"/>
                  <a:buAutoNum type="arabicPeriod"/>
                </a:pPr>
                <a:r>
                  <a:rPr lang="en-US" dirty="0"/>
                  <a:t>Every path from a node to its descendant NIL nodes must have the same number of black nodes.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200" dirty="0"/>
              </a:p>
              <a:p>
                <a:pPr marL="0" indent="0">
                  <a:buFont typeface="+mj-lt"/>
                  <a:buNone/>
                </a:pPr>
                <a:endParaRPr lang="en-US" dirty="0"/>
              </a:p>
            </p:txBody>
          </p:sp>
        </mc:Choice>
        <mc:Fallback xmlns="">
          <p:sp>
            <p:nvSpPr>
              <p:cNvPr id="3" name="Notes Placeholder 2">
                <a:extLst>
                  <a:ext uri="{FF2B5EF4-FFF2-40B4-BE49-F238E27FC236}">
                    <a16:creationId xmlns:a16="http://schemas.microsoft.com/office/drawing/2014/main" id="{20A1CF4F-83CA-78A7-B8DD-23CBBA87CD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i="0" dirty="0">
                    <a:latin typeface="Cambria Math" panose="02040503050406030204" pitchFamily="18" charset="0"/>
                  </a:rPr>
                  <a:t>𝑧.𝑝.𝑝</a:t>
                </a:r>
                <a:r>
                  <a:rPr lang="en-US" sz="1200" dirty="0"/>
                  <a:t> is black inside the while loop as </a:t>
                </a:r>
                <a:r>
                  <a:rPr lang="en-US" sz="1200" i="0" dirty="0">
                    <a:latin typeface="Cambria Math" panose="02040503050406030204" pitchFamily="18" charset="0"/>
                  </a:rPr>
                  <a:t>𝑧.𝑝</a:t>
                </a:r>
                <a:r>
                  <a:rPr lang="en-US" sz="1200" dirty="0"/>
                  <a:t> is red</a:t>
                </a:r>
              </a:p>
              <a:p>
                <a:pPr marL="0" indent="0">
                  <a:buFont typeface="+mj-lt"/>
                  <a:buNone/>
                </a:pPr>
                <a:endParaRPr lang="en-US" dirty="0"/>
              </a:p>
            </p:txBody>
          </p:sp>
        </mc:Fallback>
      </mc:AlternateContent>
      <p:sp>
        <p:nvSpPr>
          <p:cNvPr id="4" name="Slide Number Placeholder 3">
            <a:extLst>
              <a:ext uri="{FF2B5EF4-FFF2-40B4-BE49-F238E27FC236}">
                <a16:creationId xmlns:a16="http://schemas.microsoft.com/office/drawing/2014/main" id="{31E2CADE-DAF5-BEAA-75FE-F71872C25DB5}"/>
              </a:ext>
            </a:extLst>
          </p:cNvPr>
          <p:cNvSpPr>
            <a:spLocks noGrp="1"/>
          </p:cNvSpPr>
          <p:nvPr>
            <p:ph type="sldNum" sz="quarter" idx="5"/>
          </p:nvPr>
        </p:nvSpPr>
        <p:spPr/>
        <p:txBody>
          <a:bodyPr/>
          <a:lstStyle/>
          <a:p>
            <a:fld id="{BD22A58C-8E2F-4CF4-BCC2-14D73B27F336}" type="slidenum">
              <a:rPr lang="en-US" smtClean="0"/>
              <a:t>23</a:t>
            </a:fld>
            <a:endParaRPr lang="en-US" dirty="0"/>
          </a:p>
        </p:txBody>
      </p:sp>
    </p:spTree>
    <p:extLst>
      <p:ext uri="{BB962C8B-B14F-4D97-AF65-F5344CB8AC3E}">
        <p14:creationId xmlns:p14="http://schemas.microsoft.com/office/powerpoint/2010/main" val="235313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9FF4E-EBFB-1CE7-6222-AA390270C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A7917-0097-2E18-0A63-A7314F921B0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5F49893-B0E2-DD5A-F1AA-F7B0C56B9FBD}"/>
                  </a:ext>
                </a:extLst>
              </p:cNvPr>
              <p:cNvSpPr>
                <a:spLocks noGrp="1"/>
              </p:cNvSpPr>
              <p:nvPr>
                <p:ph type="body" idx="1"/>
              </p:nvPr>
            </p:nvSpPr>
            <p:spPr/>
            <p:txBody>
              <a:bodyPr/>
              <a:lstStyle/>
              <a:p>
                <a:pPr marL="514350" indent="-514350">
                  <a:buFont typeface="+mj-lt"/>
                  <a:buAutoNum type="alphaLcParenR"/>
                </a:pPr>
                <a:r>
                  <a:rPr lang="en-US" sz="1200" dirty="0"/>
                  <a:t>node </a:t>
                </a:r>
                <a14:m>
                  <m:oMath xmlns:m="http://schemas.openxmlformats.org/officeDocument/2006/math">
                    <m:r>
                      <a:rPr lang="en-US" sz="1200" i="1" dirty="0" smtClean="0">
                        <a:latin typeface="Cambria Math" panose="02040503050406030204" pitchFamily="18" charset="0"/>
                      </a:rPr>
                      <m:t>𝑧</m:t>
                    </m:r>
                  </m:oMath>
                </a14:m>
                <a:r>
                  <a:rPr lang="en-US" sz="1200" dirty="0"/>
                  <a:t> is red,</a:t>
                </a:r>
              </a:p>
              <a:p>
                <a:pPr marL="514350" indent="-514350">
                  <a:buFont typeface="+mj-lt"/>
                  <a:buAutoNum type="alphaLcParenR"/>
                </a:pPr>
                <a:r>
                  <a:rPr lang="en-US" sz="1200" dirty="0"/>
                  <a:t>If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the root, then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black,</a:t>
                </a:r>
              </a:p>
              <a:p>
                <a:pPr marL="514350" indent="-514350">
                  <a:buFont typeface="+mj-lt"/>
                  <a:buAutoNum type="alphaLcParenR"/>
                </a:pPr>
                <a:r>
                  <a:rPr lang="en-US" sz="1200" b="1" dirty="0"/>
                  <a:t>The tree at any moment may violate at most 1 red-black tree property.</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Line 8 doesn’t break invariant</a:t>
                </a:r>
              </a:p>
            </p:txBody>
          </p:sp>
        </mc:Choice>
        <mc:Fallback xmlns="">
          <p:sp>
            <p:nvSpPr>
              <p:cNvPr id="3" name="Notes Placeholder 2">
                <a:extLst>
                  <a:ext uri="{FF2B5EF4-FFF2-40B4-BE49-F238E27FC236}">
                    <a16:creationId xmlns:a16="http://schemas.microsoft.com/office/drawing/2014/main" id="{F5F49893-B0E2-DD5A-F1AA-F7B0C56B9FBD}"/>
                  </a:ext>
                </a:extLst>
              </p:cNvPr>
              <p:cNvSpPr>
                <a:spLocks noGrp="1"/>
              </p:cNvSpPr>
              <p:nvPr>
                <p:ph type="body" idx="1"/>
              </p:nvPr>
            </p:nvSpPr>
            <p:spPr/>
            <p:txBody>
              <a:bodyPr/>
              <a:lstStyle/>
              <a:p>
                <a:pPr marL="514350" indent="-514350">
                  <a:buFont typeface="+mj-lt"/>
                  <a:buAutoNum type="alphaLcParenR"/>
                </a:pPr>
                <a:r>
                  <a:rPr lang="en-US" sz="1200" dirty="0"/>
                  <a:t>node </a:t>
                </a:r>
                <a:r>
                  <a:rPr lang="en-US" sz="1200" i="0" dirty="0">
                    <a:latin typeface="Cambria Math" panose="02040503050406030204" pitchFamily="18" charset="0"/>
                  </a:rPr>
                  <a:t>𝑧</a:t>
                </a:r>
                <a:r>
                  <a:rPr lang="en-US" sz="1200" dirty="0"/>
                  <a:t> is red,</a:t>
                </a:r>
              </a:p>
              <a:p>
                <a:pPr marL="514350" indent="-514350">
                  <a:buFont typeface="+mj-lt"/>
                  <a:buAutoNum type="alphaLcParenR"/>
                </a:pPr>
                <a:r>
                  <a:rPr lang="en-US" sz="1200" dirty="0"/>
                  <a:t>If </a:t>
                </a:r>
                <a:r>
                  <a:rPr lang="en-US" sz="1200" i="0" dirty="0">
                    <a:latin typeface="Cambria Math" panose="02040503050406030204" pitchFamily="18" charset="0"/>
                  </a:rPr>
                  <a:t>𝑧.𝑝</a:t>
                </a:r>
                <a:r>
                  <a:rPr lang="en-US" sz="1200" dirty="0"/>
                  <a:t> is the root, then </a:t>
                </a:r>
                <a:r>
                  <a:rPr lang="en-US" sz="1200" i="0" dirty="0">
                    <a:latin typeface="Cambria Math" panose="02040503050406030204" pitchFamily="18" charset="0"/>
                  </a:rPr>
                  <a:t>𝑧.𝑝</a:t>
                </a:r>
                <a:r>
                  <a:rPr lang="en-US" sz="1200" dirty="0"/>
                  <a:t> is black,</a:t>
                </a:r>
              </a:p>
              <a:p>
                <a:pPr marL="514350" indent="-514350">
                  <a:buFont typeface="+mj-lt"/>
                  <a:buAutoNum type="alphaLcParenR"/>
                </a:pPr>
                <a:r>
                  <a:rPr lang="en-US" sz="1200" b="1" dirty="0"/>
                  <a:t>The tree at any moment may violate at most 1 red-black tree property.</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Line 8 doesn’t break invariant</a:t>
                </a:r>
              </a:p>
            </p:txBody>
          </p:sp>
        </mc:Fallback>
      </mc:AlternateContent>
      <p:sp>
        <p:nvSpPr>
          <p:cNvPr id="4" name="Slide Number Placeholder 3">
            <a:extLst>
              <a:ext uri="{FF2B5EF4-FFF2-40B4-BE49-F238E27FC236}">
                <a16:creationId xmlns:a16="http://schemas.microsoft.com/office/drawing/2014/main" id="{ADAB769A-7DA1-0749-DD0F-0A6F5BD19FCF}"/>
              </a:ext>
            </a:extLst>
          </p:cNvPr>
          <p:cNvSpPr>
            <a:spLocks noGrp="1"/>
          </p:cNvSpPr>
          <p:nvPr>
            <p:ph type="sldNum" sz="quarter" idx="5"/>
          </p:nvPr>
        </p:nvSpPr>
        <p:spPr/>
        <p:txBody>
          <a:bodyPr/>
          <a:lstStyle/>
          <a:p>
            <a:fld id="{BD22A58C-8E2F-4CF4-BCC2-14D73B27F336}" type="slidenum">
              <a:rPr lang="en-US" smtClean="0"/>
              <a:t>24</a:t>
            </a:fld>
            <a:endParaRPr lang="en-US" dirty="0"/>
          </a:p>
        </p:txBody>
      </p:sp>
    </p:spTree>
    <p:extLst>
      <p:ext uri="{BB962C8B-B14F-4D97-AF65-F5344CB8AC3E}">
        <p14:creationId xmlns:p14="http://schemas.microsoft.com/office/powerpoint/2010/main" val="3556000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295E-B7E2-2827-009C-5E54BBD70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CD48E-1936-DA8E-E781-579FFA95280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E6E337E-63B1-0D48-157B-765D5CC136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black inside the while loop as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red</a:t>
                </a:r>
              </a:p>
              <a:p>
                <a:pPr marL="0" indent="0">
                  <a:buFont typeface="+mj-lt"/>
                  <a:buNone/>
                </a:pPr>
                <a:endParaRPr lang="en-US" dirty="0"/>
              </a:p>
              <a:p>
                <a:pPr marL="514350" indent="-514350">
                  <a:buFont typeface="+mj-lt"/>
                  <a:buAutoNum type="alphaLcParenR"/>
                </a:pPr>
                <a:r>
                  <a:rPr lang="en-US" sz="1200" dirty="0"/>
                  <a:t>node </a:t>
                </a:r>
                <a14:m>
                  <m:oMath xmlns:m="http://schemas.openxmlformats.org/officeDocument/2006/math">
                    <m:r>
                      <a:rPr lang="en-US" sz="1200" i="1" dirty="0" smtClean="0">
                        <a:latin typeface="Cambria Math" panose="02040503050406030204" pitchFamily="18" charset="0"/>
                      </a:rPr>
                      <m:t>𝑧</m:t>
                    </m:r>
                  </m:oMath>
                </a14:m>
                <a:r>
                  <a:rPr lang="en-US" sz="1200" dirty="0"/>
                  <a:t> is red,</a:t>
                </a:r>
              </a:p>
              <a:p>
                <a:pPr marL="514350" indent="-514350">
                  <a:buFont typeface="+mj-lt"/>
                  <a:buAutoNum type="alphaLcParenR"/>
                </a:pPr>
                <a:r>
                  <a:rPr lang="en-US" sz="1200" dirty="0"/>
                  <a:t>If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the root, then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black,</a:t>
                </a:r>
              </a:p>
              <a:p>
                <a:pPr marL="514350" indent="-514350">
                  <a:buFont typeface="+mj-lt"/>
                  <a:buAutoNum type="alphaLcParenR"/>
                </a:pPr>
                <a:r>
                  <a:rPr lang="en-US" sz="1200" b="1" dirty="0"/>
                  <a:t>The tree at any moment may violate at most 1 red-black tree property.</a:t>
                </a:r>
              </a:p>
              <a:p>
                <a:pPr marL="0" indent="0">
                  <a:buFont typeface="+mj-lt"/>
                  <a:buNone/>
                </a:pPr>
                <a:endParaRPr lang="en-US" dirty="0"/>
              </a:p>
            </p:txBody>
          </p:sp>
        </mc:Choice>
        <mc:Fallback xmlns="">
          <p:sp>
            <p:nvSpPr>
              <p:cNvPr id="3" name="Notes Placeholder 2">
                <a:extLst>
                  <a:ext uri="{FF2B5EF4-FFF2-40B4-BE49-F238E27FC236}">
                    <a16:creationId xmlns:a16="http://schemas.microsoft.com/office/drawing/2014/main" id="{8E6E337E-63B1-0D48-157B-765D5CC136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i="0" dirty="0">
                    <a:latin typeface="Cambria Math" panose="02040503050406030204" pitchFamily="18" charset="0"/>
                  </a:rPr>
                  <a:t>𝑧.𝑝.𝑝</a:t>
                </a:r>
                <a:r>
                  <a:rPr lang="en-US" sz="1200" dirty="0"/>
                  <a:t> is black inside the while loop as </a:t>
                </a:r>
                <a:r>
                  <a:rPr lang="en-US" sz="1200" i="0" dirty="0">
                    <a:latin typeface="Cambria Math" panose="02040503050406030204" pitchFamily="18" charset="0"/>
                  </a:rPr>
                  <a:t>𝑧.𝑝</a:t>
                </a:r>
                <a:r>
                  <a:rPr lang="en-US" sz="1200" dirty="0"/>
                  <a:t> is red</a:t>
                </a:r>
              </a:p>
              <a:p>
                <a:pPr marL="0" indent="0">
                  <a:buFont typeface="+mj-lt"/>
                  <a:buNone/>
                </a:pPr>
                <a:endParaRPr lang="en-US" dirty="0"/>
              </a:p>
              <a:p>
                <a:pPr marL="514350" indent="-514350">
                  <a:buFont typeface="+mj-lt"/>
                  <a:buAutoNum type="alphaLcParenR"/>
                </a:pPr>
                <a:r>
                  <a:rPr lang="en-US" sz="1200" dirty="0"/>
                  <a:t>node </a:t>
                </a:r>
                <a:r>
                  <a:rPr lang="en-US" sz="1200" i="0" dirty="0">
                    <a:latin typeface="Cambria Math" panose="02040503050406030204" pitchFamily="18" charset="0"/>
                  </a:rPr>
                  <a:t>𝑧</a:t>
                </a:r>
                <a:r>
                  <a:rPr lang="en-US" sz="1200" dirty="0"/>
                  <a:t> is red,</a:t>
                </a:r>
              </a:p>
              <a:p>
                <a:pPr marL="514350" indent="-514350">
                  <a:buFont typeface="+mj-lt"/>
                  <a:buAutoNum type="alphaLcParenR"/>
                </a:pPr>
                <a:r>
                  <a:rPr lang="en-US" sz="1200" dirty="0"/>
                  <a:t>If </a:t>
                </a:r>
                <a:r>
                  <a:rPr lang="en-US" sz="1200" i="0" dirty="0">
                    <a:latin typeface="Cambria Math" panose="02040503050406030204" pitchFamily="18" charset="0"/>
                  </a:rPr>
                  <a:t>𝑧.𝑝</a:t>
                </a:r>
                <a:r>
                  <a:rPr lang="en-US" sz="1200" dirty="0"/>
                  <a:t> is the root, then </a:t>
                </a:r>
                <a:r>
                  <a:rPr lang="en-US" sz="1200" i="0" dirty="0">
                    <a:latin typeface="Cambria Math" panose="02040503050406030204" pitchFamily="18" charset="0"/>
                  </a:rPr>
                  <a:t>𝑧.𝑝</a:t>
                </a:r>
                <a:r>
                  <a:rPr lang="en-US" sz="1200" dirty="0"/>
                  <a:t> is black,</a:t>
                </a:r>
              </a:p>
              <a:p>
                <a:pPr marL="514350" indent="-514350">
                  <a:buFont typeface="+mj-lt"/>
                  <a:buAutoNum type="alphaLcParenR"/>
                </a:pPr>
                <a:r>
                  <a:rPr lang="en-US" sz="1200" b="1" dirty="0"/>
                  <a:t>The tree at any moment may violate at most 1 red-black tree property.</a:t>
                </a:r>
              </a:p>
              <a:p>
                <a:pPr marL="0" indent="0">
                  <a:buFont typeface="+mj-lt"/>
                  <a:buNone/>
                </a:pPr>
                <a:endParaRPr lang="en-US" dirty="0"/>
              </a:p>
            </p:txBody>
          </p:sp>
        </mc:Fallback>
      </mc:AlternateContent>
      <p:sp>
        <p:nvSpPr>
          <p:cNvPr id="4" name="Slide Number Placeholder 3">
            <a:extLst>
              <a:ext uri="{FF2B5EF4-FFF2-40B4-BE49-F238E27FC236}">
                <a16:creationId xmlns:a16="http://schemas.microsoft.com/office/drawing/2014/main" id="{EF713542-33C6-FB87-DE08-D1D90B7F9468}"/>
              </a:ext>
            </a:extLst>
          </p:cNvPr>
          <p:cNvSpPr>
            <a:spLocks noGrp="1"/>
          </p:cNvSpPr>
          <p:nvPr>
            <p:ph type="sldNum" sz="quarter" idx="5"/>
          </p:nvPr>
        </p:nvSpPr>
        <p:spPr/>
        <p:txBody>
          <a:bodyPr/>
          <a:lstStyle/>
          <a:p>
            <a:fld id="{BD22A58C-8E2F-4CF4-BCC2-14D73B27F336}" type="slidenum">
              <a:rPr lang="en-US" smtClean="0"/>
              <a:t>25</a:t>
            </a:fld>
            <a:endParaRPr lang="en-US" dirty="0"/>
          </a:p>
        </p:txBody>
      </p:sp>
    </p:spTree>
    <p:extLst>
      <p:ext uri="{BB962C8B-B14F-4D97-AF65-F5344CB8AC3E}">
        <p14:creationId xmlns:p14="http://schemas.microsoft.com/office/powerpoint/2010/main" val="1412056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BFBE-A15C-EEDC-A55D-6180483FF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4194C-11B2-5754-72AA-A98384B7C26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096C13D-8674-4AC4-0CA1-EF25793437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black inside the while loop as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red</a:t>
                </a:r>
              </a:p>
              <a:p>
                <a:pPr marL="0" indent="0">
                  <a:buFont typeface="+mj-lt"/>
                  <a:buNone/>
                </a:pPr>
                <a:endParaRPr lang="en-US" dirty="0"/>
              </a:p>
              <a:p>
                <a:pPr marL="514350" indent="-514350">
                  <a:buFont typeface="+mj-lt"/>
                  <a:buAutoNum type="alphaLcParenR"/>
                </a:pPr>
                <a:r>
                  <a:rPr lang="en-US" sz="1200" dirty="0"/>
                  <a:t>node </a:t>
                </a:r>
                <a14:m>
                  <m:oMath xmlns:m="http://schemas.openxmlformats.org/officeDocument/2006/math">
                    <m:r>
                      <a:rPr lang="en-US" sz="1200" i="1" dirty="0" smtClean="0">
                        <a:latin typeface="Cambria Math" panose="02040503050406030204" pitchFamily="18" charset="0"/>
                      </a:rPr>
                      <m:t>𝑧</m:t>
                    </m:r>
                  </m:oMath>
                </a14:m>
                <a:r>
                  <a:rPr lang="en-US" sz="1200" dirty="0"/>
                  <a:t> is red,</a:t>
                </a:r>
              </a:p>
              <a:p>
                <a:pPr marL="514350" indent="-514350">
                  <a:buFont typeface="+mj-lt"/>
                  <a:buAutoNum type="alphaLcParenR"/>
                </a:pPr>
                <a:r>
                  <a:rPr lang="en-US" sz="1200" dirty="0"/>
                  <a:t>If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the root, then </a:t>
                </a:r>
                <a14:m>
                  <m:oMath xmlns:m="http://schemas.openxmlformats.org/officeDocument/2006/math">
                    <m:r>
                      <a:rPr lang="en-US" sz="1200" i="1" dirty="0" smtClean="0">
                        <a:latin typeface="Cambria Math" panose="02040503050406030204" pitchFamily="18" charset="0"/>
                      </a:rPr>
                      <m:t>𝑧</m:t>
                    </m:r>
                    <m:r>
                      <a:rPr lang="en-US" sz="1200" i="1" dirty="0" smtClean="0">
                        <a:latin typeface="Cambria Math" panose="02040503050406030204" pitchFamily="18" charset="0"/>
                      </a:rPr>
                      <m:t>.</m:t>
                    </m:r>
                    <m:r>
                      <a:rPr lang="en-US" sz="1200" i="1" dirty="0" smtClean="0">
                        <a:latin typeface="Cambria Math" panose="02040503050406030204" pitchFamily="18" charset="0"/>
                      </a:rPr>
                      <m:t>𝑝</m:t>
                    </m:r>
                  </m:oMath>
                </a14:m>
                <a:r>
                  <a:rPr lang="en-US" sz="1200" dirty="0"/>
                  <a:t> is black,</a:t>
                </a:r>
              </a:p>
              <a:p>
                <a:pPr marL="514350" indent="-514350">
                  <a:buFont typeface="+mj-lt"/>
                  <a:buAutoNum type="alphaLcParenR"/>
                </a:pPr>
                <a:r>
                  <a:rPr lang="en-US" sz="1200" b="1" dirty="0"/>
                  <a:t>The tree at any moment may violate at most 1 red-black tree property.</a:t>
                </a:r>
              </a:p>
              <a:p>
                <a:pPr marL="0" indent="0">
                  <a:buFont typeface="+mj-lt"/>
                  <a:buNone/>
                </a:pPr>
                <a:endParaRPr lang="en-US" dirty="0"/>
              </a:p>
            </p:txBody>
          </p:sp>
        </mc:Choice>
        <mc:Fallback xmlns="">
          <p:sp>
            <p:nvSpPr>
              <p:cNvPr id="3" name="Notes Placeholder 2">
                <a:extLst>
                  <a:ext uri="{FF2B5EF4-FFF2-40B4-BE49-F238E27FC236}">
                    <a16:creationId xmlns:a16="http://schemas.microsoft.com/office/drawing/2014/main" id="{D096C13D-8674-4AC4-0CA1-EF25793437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i="0" dirty="0">
                    <a:latin typeface="Cambria Math" panose="02040503050406030204" pitchFamily="18" charset="0"/>
                  </a:rPr>
                  <a:t>𝑧.𝑝.𝑝</a:t>
                </a:r>
                <a:r>
                  <a:rPr lang="en-US" sz="1200" dirty="0"/>
                  <a:t> is black inside the while loop as </a:t>
                </a:r>
                <a:r>
                  <a:rPr lang="en-US" sz="1200" i="0" dirty="0">
                    <a:latin typeface="Cambria Math" panose="02040503050406030204" pitchFamily="18" charset="0"/>
                  </a:rPr>
                  <a:t>𝑧.𝑝</a:t>
                </a:r>
                <a:r>
                  <a:rPr lang="en-US" sz="1200" dirty="0"/>
                  <a:t> is red</a:t>
                </a:r>
              </a:p>
              <a:p>
                <a:pPr marL="0" indent="0">
                  <a:buFont typeface="+mj-lt"/>
                  <a:buNone/>
                </a:pPr>
                <a:endParaRPr lang="en-US" dirty="0"/>
              </a:p>
              <a:p>
                <a:pPr marL="514350" indent="-514350">
                  <a:buFont typeface="+mj-lt"/>
                  <a:buAutoNum type="alphaLcParenR"/>
                </a:pPr>
                <a:r>
                  <a:rPr lang="en-US" sz="1200" dirty="0"/>
                  <a:t>node </a:t>
                </a:r>
                <a:r>
                  <a:rPr lang="en-US" sz="1200" i="0" dirty="0">
                    <a:latin typeface="Cambria Math" panose="02040503050406030204" pitchFamily="18" charset="0"/>
                  </a:rPr>
                  <a:t>𝑧</a:t>
                </a:r>
                <a:r>
                  <a:rPr lang="en-US" sz="1200" dirty="0"/>
                  <a:t> is red,</a:t>
                </a:r>
              </a:p>
              <a:p>
                <a:pPr marL="514350" indent="-514350">
                  <a:buFont typeface="+mj-lt"/>
                  <a:buAutoNum type="alphaLcParenR"/>
                </a:pPr>
                <a:r>
                  <a:rPr lang="en-US" sz="1200" dirty="0"/>
                  <a:t>If </a:t>
                </a:r>
                <a:r>
                  <a:rPr lang="en-US" sz="1200" i="0" dirty="0">
                    <a:latin typeface="Cambria Math" panose="02040503050406030204" pitchFamily="18" charset="0"/>
                  </a:rPr>
                  <a:t>𝑧.𝑝</a:t>
                </a:r>
                <a:r>
                  <a:rPr lang="en-US" sz="1200" dirty="0"/>
                  <a:t> is the root, then </a:t>
                </a:r>
                <a:r>
                  <a:rPr lang="en-US" sz="1200" i="0" dirty="0">
                    <a:latin typeface="Cambria Math" panose="02040503050406030204" pitchFamily="18" charset="0"/>
                  </a:rPr>
                  <a:t>𝑧.𝑝</a:t>
                </a:r>
                <a:r>
                  <a:rPr lang="en-US" sz="1200" dirty="0"/>
                  <a:t> is black,</a:t>
                </a:r>
              </a:p>
              <a:p>
                <a:pPr marL="514350" indent="-514350">
                  <a:buFont typeface="+mj-lt"/>
                  <a:buAutoNum type="alphaLcParenR"/>
                </a:pPr>
                <a:r>
                  <a:rPr lang="en-US" sz="1200" b="1" dirty="0"/>
                  <a:t>The tree at any moment may violate at most 1 red-black tree property.</a:t>
                </a:r>
              </a:p>
              <a:p>
                <a:pPr marL="0" indent="0">
                  <a:buFont typeface="+mj-lt"/>
                  <a:buNone/>
                </a:pPr>
                <a:endParaRPr lang="en-US" dirty="0"/>
              </a:p>
            </p:txBody>
          </p:sp>
        </mc:Fallback>
      </mc:AlternateContent>
      <p:sp>
        <p:nvSpPr>
          <p:cNvPr id="4" name="Slide Number Placeholder 3">
            <a:extLst>
              <a:ext uri="{FF2B5EF4-FFF2-40B4-BE49-F238E27FC236}">
                <a16:creationId xmlns:a16="http://schemas.microsoft.com/office/drawing/2014/main" id="{8C8624CE-8B2A-7F9F-3F3E-4584BCB924B9}"/>
              </a:ext>
            </a:extLst>
          </p:cNvPr>
          <p:cNvSpPr>
            <a:spLocks noGrp="1"/>
          </p:cNvSpPr>
          <p:nvPr>
            <p:ph type="sldNum" sz="quarter" idx="5"/>
          </p:nvPr>
        </p:nvSpPr>
        <p:spPr/>
        <p:txBody>
          <a:bodyPr/>
          <a:lstStyle/>
          <a:p>
            <a:fld id="{BD22A58C-8E2F-4CF4-BCC2-14D73B27F336}" type="slidenum">
              <a:rPr lang="en-US" smtClean="0"/>
              <a:t>26</a:t>
            </a:fld>
            <a:endParaRPr lang="en-US" dirty="0"/>
          </a:p>
        </p:txBody>
      </p:sp>
    </p:spTree>
    <p:extLst>
      <p:ext uri="{BB962C8B-B14F-4D97-AF65-F5344CB8AC3E}">
        <p14:creationId xmlns:p14="http://schemas.microsoft.com/office/powerpoint/2010/main" val="4029998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31</a:t>
            </a:fld>
            <a:endParaRPr lang="en-US" dirty="0"/>
          </a:p>
        </p:txBody>
      </p:sp>
    </p:spTree>
    <p:extLst>
      <p:ext uri="{BB962C8B-B14F-4D97-AF65-F5344CB8AC3E}">
        <p14:creationId xmlns:p14="http://schemas.microsoft.com/office/powerpoint/2010/main" val="3075528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8CAD4-C574-9315-2DE0-DBAE9B3BD2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E712F-4BEC-25E1-B80D-2F4FF44FE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56200-B9FD-48EE-649F-97C789903173}"/>
              </a:ext>
            </a:extLst>
          </p:cNvPr>
          <p:cNvSpPr>
            <a:spLocks noGrp="1"/>
          </p:cNvSpPr>
          <p:nvPr>
            <p:ph type="body" idx="1"/>
          </p:nvPr>
        </p:nvSpPr>
        <p:spPr/>
        <p:txBody>
          <a:bodyPr/>
          <a:lstStyle/>
          <a:p>
            <a:r>
              <a:rPr lang="en-US" dirty="0"/>
              <a:t>line 13. when z=</a:t>
            </a:r>
            <a:r>
              <a:rPr lang="en-US" dirty="0" err="1"/>
              <a:t>y.p</a:t>
            </a:r>
            <a:r>
              <a:rPr lang="en-US" dirty="0"/>
              <a:t> x points to y as z will be removed.</a:t>
            </a:r>
          </a:p>
        </p:txBody>
      </p:sp>
      <p:sp>
        <p:nvSpPr>
          <p:cNvPr id="4" name="Slide Number Placeholder 3">
            <a:extLst>
              <a:ext uri="{FF2B5EF4-FFF2-40B4-BE49-F238E27FC236}">
                <a16:creationId xmlns:a16="http://schemas.microsoft.com/office/drawing/2014/main" id="{F320C402-1B6D-C412-82DB-121B6F06D41F}"/>
              </a:ext>
            </a:extLst>
          </p:cNvPr>
          <p:cNvSpPr>
            <a:spLocks noGrp="1"/>
          </p:cNvSpPr>
          <p:nvPr>
            <p:ph type="sldNum" sz="quarter" idx="5"/>
          </p:nvPr>
        </p:nvSpPr>
        <p:spPr/>
        <p:txBody>
          <a:bodyPr/>
          <a:lstStyle/>
          <a:p>
            <a:fld id="{BD22A58C-8E2F-4CF4-BCC2-14D73B27F336}" type="slidenum">
              <a:rPr lang="en-US" smtClean="0"/>
              <a:t>32</a:t>
            </a:fld>
            <a:endParaRPr lang="en-US" dirty="0"/>
          </a:p>
        </p:txBody>
      </p:sp>
    </p:spTree>
    <p:extLst>
      <p:ext uri="{BB962C8B-B14F-4D97-AF65-F5344CB8AC3E}">
        <p14:creationId xmlns:p14="http://schemas.microsoft.com/office/powerpoint/2010/main" val="3289797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9260B-23A1-EFDB-F93F-B544C59A3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2734E-05EC-AC8E-4305-0473D2452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D5AA03-A789-6F2F-C89D-421F7D921B1F}"/>
              </a:ext>
            </a:extLst>
          </p:cNvPr>
          <p:cNvSpPr>
            <a:spLocks noGrp="1"/>
          </p:cNvSpPr>
          <p:nvPr>
            <p:ph type="body" idx="1"/>
          </p:nvPr>
        </p:nvSpPr>
        <p:spPr/>
        <p:txBody>
          <a:bodyPr/>
          <a:lstStyle/>
          <a:p>
            <a:r>
              <a:rPr lang="en-US" dirty="0"/>
              <a:t>if y was a black 3 problems may rise</a:t>
            </a:r>
          </a:p>
          <a:p>
            <a:pPr marL="228600" indent="-228600">
              <a:buFont typeface="+mj-lt"/>
              <a:buAutoNum type="arabicPeriod"/>
            </a:pPr>
            <a:r>
              <a:rPr lang="en-US" dirty="0"/>
              <a:t>If y had been a root and a red node become a new root</a:t>
            </a:r>
          </a:p>
          <a:p>
            <a:pPr marL="228600" indent="-228600">
              <a:buFont typeface="+mj-lt"/>
              <a:buAutoNum type="arabicPeriod"/>
            </a:pPr>
            <a:r>
              <a:rPr lang="en-US" dirty="0"/>
              <a:t>if both x and </a:t>
            </a:r>
            <a:r>
              <a:rPr lang="en-US" dirty="0" err="1"/>
              <a:t>x.p</a:t>
            </a:r>
            <a:r>
              <a:rPr lang="en-US" dirty="0"/>
              <a:t> are red</a:t>
            </a:r>
          </a:p>
          <a:p>
            <a:pPr marL="228600" indent="-228600">
              <a:buFont typeface="+mj-lt"/>
              <a:buAutoNum type="arabicPeriod"/>
            </a:pPr>
            <a:r>
              <a:rPr lang="en-US" dirty="0"/>
              <a:t>moving y within a tree causes any path containing y to have one fewer black node.</a:t>
            </a:r>
          </a:p>
        </p:txBody>
      </p:sp>
      <p:sp>
        <p:nvSpPr>
          <p:cNvPr id="4" name="Slide Number Placeholder 3">
            <a:extLst>
              <a:ext uri="{FF2B5EF4-FFF2-40B4-BE49-F238E27FC236}">
                <a16:creationId xmlns:a16="http://schemas.microsoft.com/office/drawing/2014/main" id="{2A3DFE02-9906-D844-7764-A0424789CCA1}"/>
              </a:ext>
            </a:extLst>
          </p:cNvPr>
          <p:cNvSpPr>
            <a:spLocks noGrp="1"/>
          </p:cNvSpPr>
          <p:nvPr>
            <p:ph type="sldNum" sz="quarter" idx="5"/>
          </p:nvPr>
        </p:nvSpPr>
        <p:spPr/>
        <p:txBody>
          <a:bodyPr/>
          <a:lstStyle/>
          <a:p>
            <a:fld id="{BD22A58C-8E2F-4CF4-BCC2-14D73B27F336}" type="slidenum">
              <a:rPr lang="en-US" smtClean="0"/>
              <a:t>33</a:t>
            </a:fld>
            <a:endParaRPr lang="en-US" dirty="0"/>
          </a:p>
        </p:txBody>
      </p:sp>
    </p:spTree>
    <p:extLst>
      <p:ext uri="{BB962C8B-B14F-4D97-AF65-F5344CB8AC3E}">
        <p14:creationId xmlns:p14="http://schemas.microsoft.com/office/powerpoint/2010/main" val="3672241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51D-1AB8-4A55-9051-A4850FF0DE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C6D16F-41EB-C530-78CE-0B18178A86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6AA832-E3FE-8947-C7FA-0D781C4540D4}"/>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5" name="Footer Placeholder 4">
            <a:extLst>
              <a:ext uri="{FF2B5EF4-FFF2-40B4-BE49-F238E27FC236}">
                <a16:creationId xmlns:a16="http://schemas.microsoft.com/office/drawing/2014/main" id="{8DD9FE3B-1087-D5D0-361B-FC104D4AC1B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D8F0A0-7733-E96F-DC79-DACDE9499791}"/>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1918606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5360-8393-F8A7-9B4E-A5F91C25F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38C8A-E199-A705-6FB1-EFB25F255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872B8-8F94-B6C1-3137-90E3C7B59C81}"/>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5" name="Footer Placeholder 4">
            <a:extLst>
              <a:ext uri="{FF2B5EF4-FFF2-40B4-BE49-F238E27FC236}">
                <a16:creationId xmlns:a16="http://schemas.microsoft.com/office/drawing/2014/main" id="{C267A7F3-F5E8-E21B-CA86-E578C83C98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D81585B-DFE4-AA74-C10F-1BDADACE73C1}"/>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1964739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B468-8243-B0E9-A019-1B9445C34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2F40F6-9706-8C8D-2DF2-B51050C322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A4183-BAA7-0B79-A0AA-A700AAB253C1}"/>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5" name="Footer Placeholder 4">
            <a:extLst>
              <a:ext uri="{FF2B5EF4-FFF2-40B4-BE49-F238E27FC236}">
                <a16:creationId xmlns:a16="http://schemas.microsoft.com/office/drawing/2014/main" id="{9910D003-B433-16F0-6348-16048167AA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C807A1-7565-6E01-2D59-D66D5A01D829}"/>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809636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AAA8-63B4-C2F0-8CA3-B8F798B633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962E5-19BA-1876-5AE3-9E174F29AE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83F4F3-8D6D-20EF-D16A-9D4CF970F1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EA0B1A-0D87-5C43-32C0-1358CFD136DF}"/>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6" name="Footer Placeholder 5">
            <a:extLst>
              <a:ext uri="{FF2B5EF4-FFF2-40B4-BE49-F238E27FC236}">
                <a16:creationId xmlns:a16="http://schemas.microsoft.com/office/drawing/2014/main" id="{6187086C-C7D0-4D1F-FA23-54332C668A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BD90FBE-A8B2-329E-CCA0-94DB075C2832}"/>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580741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A20B-C9A8-6031-2DC7-6B412D8DE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A4FC9F-7BEC-554C-4B1F-3D5125729B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B22F46-6193-B43E-0D4C-6F5BC1B6D5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E8F3A4-E020-78E9-B267-50E92C529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40B438-BB33-DF3F-BA12-F7C1B8C4CC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D0D84-87B3-C51C-AC29-D9845F466299}"/>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8" name="Footer Placeholder 7">
            <a:extLst>
              <a:ext uri="{FF2B5EF4-FFF2-40B4-BE49-F238E27FC236}">
                <a16:creationId xmlns:a16="http://schemas.microsoft.com/office/drawing/2014/main" id="{9DA2DCA0-A536-8D48-7378-A626BECDB8B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B876080-45E6-416C-00C6-347A8A98AB02}"/>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921325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A7D1-749D-7264-FEEC-BD7FD8728D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59877B-B058-565C-757C-2907747E10F9}"/>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4" name="Footer Placeholder 3">
            <a:extLst>
              <a:ext uri="{FF2B5EF4-FFF2-40B4-BE49-F238E27FC236}">
                <a16:creationId xmlns:a16="http://schemas.microsoft.com/office/drawing/2014/main" id="{85444686-960D-94DB-FEB0-DA72E035D9C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9A8E631-05EE-2866-77A5-78C8249547A6}"/>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31939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2388AF-A5D5-0A2A-82A6-9CD7A811F9CF}"/>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3" name="Footer Placeholder 2">
            <a:extLst>
              <a:ext uri="{FF2B5EF4-FFF2-40B4-BE49-F238E27FC236}">
                <a16:creationId xmlns:a16="http://schemas.microsoft.com/office/drawing/2014/main" id="{3FBF5736-623E-B24E-3971-2F6AD9FFFD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EDBE808-390D-38AE-4A34-B1E033B13D7D}"/>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486480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E8AA-1F34-5D9C-A547-B828AF209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A2B504-3687-EE8F-6159-9F4195A21E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17951D-8F58-D234-7143-C946F4901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11AA36-9E0C-BAF8-2AF6-495CF68A9303}"/>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6" name="Footer Placeholder 5">
            <a:extLst>
              <a:ext uri="{FF2B5EF4-FFF2-40B4-BE49-F238E27FC236}">
                <a16:creationId xmlns:a16="http://schemas.microsoft.com/office/drawing/2014/main" id="{D8CC3457-1A37-75E2-CDEF-A08D51C8333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346739D-88BC-0A95-048E-487986B62A3B}"/>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2672395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85F3-E3A2-0034-D209-A44746D56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72E9A8-1577-EDFF-BA82-F43C0786B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8D70423-A7D2-FD06-9B28-CE2A07D75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A9DF61-F71D-5569-F144-7856376755FC}"/>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6" name="Footer Placeholder 5">
            <a:extLst>
              <a:ext uri="{FF2B5EF4-FFF2-40B4-BE49-F238E27FC236}">
                <a16:creationId xmlns:a16="http://schemas.microsoft.com/office/drawing/2014/main" id="{65EF9E7B-F0D5-2CF7-553A-892F1053CD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741547A-AB84-C515-772E-0B7683FD330B}"/>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807585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F46B-8307-541C-E9CF-83AF33F6A7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CE2592-5CE7-58A5-373B-321A1130F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F874E-49CB-B018-23C5-E5897AC8E5EF}"/>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5" name="Footer Placeholder 4">
            <a:extLst>
              <a:ext uri="{FF2B5EF4-FFF2-40B4-BE49-F238E27FC236}">
                <a16:creationId xmlns:a16="http://schemas.microsoft.com/office/drawing/2014/main" id="{8DAB249B-5A2E-3F8C-C0D2-08BF531302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07D5739-EB31-644D-B898-70968DCE944E}"/>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289804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DBD635-112D-AB74-DA68-5A8F79D582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7BA7F6-B791-16DD-20EC-DB18789367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49D594-7827-EE34-6C2E-F620C151B61A}"/>
              </a:ext>
            </a:extLst>
          </p:cNvPr>
          <p:cNvSpPr>
            <a:spLocks noGrp="1"/>
          </p:cNvSpPr>
          <p:nvPr>
            <p:ph type="dt" sz="half" idx="10"/>
          </p:nvPr>
        </p:nvSpPr>
        <p:spPr/>
        <p:txBody>
          <a:bodyPr/>
          <a:lstStyle/>
          <a:p>
            <a:fld id="{40AC09B7-BC59-4FDF-B344-E8A7C51BB8C6}" type="datetimeFigureOut">
              <a:rPr lang="en-US" smtClean="0"/>
              <a:t>2/23/2026</a:t>
            </a:fld>
            <a:endParaRPr lang="en-US" dirty="0"/>
          </a:p>
        </p:txBody>
      </p:sp>
      <p:sp>
        <p:nvSpPr>
          <p:cNvPr id="5" name="Footer Placeholder 4">
            <a:extLst>
              <a:ext uri="{FF2B5EF4-FFF2-40B4-BE49-F238E27FC236}">
                <a16:creationId xmlns:a16="http://schemas.microsoft.com/office/drawing/2014/main" id="{05044812-33F0-EAB7-7CE0-3153610CC2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CFADD4-1D22-273D-EEA9-2710F284B43A}"/>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992901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62182-6389-D39E-EB48-051E9B7F6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71F1FB-EE6D-B1EF-1BFC-F76DDD70C1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1F4C2-B8D9-56AA-BF23-257D597AF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AC09B7-BC59-4FDF-B344-E8A7C51BB8C6}" type="datetimeFigureOut">
              <a:rPr lang="en-US" smtClean="0"/>
              <a:t>2/23/2026</a:t>
            </a:fld>
            <a:endParaRPr lang="en-US" dirty="0"/>
          </a:p>
        </p:txBody>
      </p:sp>
      <p:sp>
        <p:nvSpPr>
          <p:cNvPr id="5" name="Footer Placeholder 4">
            <a:extLst>
              <a:ext uri="{FF2B5EF4-FFF2-40B4-BE49-F238E27FC236}">
                <a16:creationId xmlns:a16="http://schemas.microsoft.com/office/drawing/2014/main" id="{2F11E698-2BE3-B173-F1AE-1366188D37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80946E3-415D-563B-A77E-FA512FACD4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93447A-3B3E-403A-8835-99E0FFC7C0C8}" type="slidenum">
              <a:rPr lang="en-US" smtClean="0"/>
              <a:t>‹#›</a:t>
            </a:fld>
            <a:endParaRPr lang="en-US" dirty="0"/>
          </a:p>
        </p:txBody>
      </p:sp>
    </p:spTree>
    <p:extLst>
      <p:ext uri="{BB962C8B-B14F-4D97-AF65-F5344CB8AC3E}">
        <p14:creationId xmlns:p14="http://schemas.microsoft.com/office/powerpoint/2010/main" val="414764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80.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BCD6C4D-9BB3-2AA1-B3BD-B852BA6BA07B}"/>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Introduction to Algorithms</a:t>
            </a:r>
          </a:p>
        </p:txBody>
      </p:sp>
      <p:sp>
        <p:nvSpPr>
          <p:cNvPr id="3" name="Subtitle 2">
            <a:extLst>
              <a:ext uri="{FF2B5EF4-FFF2-40B4-BE49-F238E27FC236}">
                <a16:creationId xmlns:a16="http://schemas.microsoft.com/office/drawing/2014/main" id="{FB9410EE-202B-D036-4508-61A95E9374C1}"/>
              </a:ext>
            </a:extLst>
          </p:cNvPr>
          <p:cNvSpPr>
            <a:spLocks noGrp="1"/>
          </p:cNvSpPr>
          <p:nvPr>
            <p:ph type="subTitle" idx="1"/>
          </p:nvPr>
        </p:nvSpPr>
        <p:spPr>
          <a:xfrm>
            <a:off x="1350682" y="4870824"/>
            <a:ext cx="10005951" cy="1458258"/>
          </a:xfrm>
        </p:spPr>
        <p:txBody>
          <a:bodyPr anchor="ctr">
            <a:normAutofit/>
          </a:bodyPr>
          <a:lstStyle/>
          <a:p>
            <a:pPr algn="l"/>
            <a:r>
              <a:rPr lang="en-US" dirty="0"/>
              <a:t>Levon Prazyan</a:t>
            </a:r>
          </a:p>
        </p:txBody>
      </p:sp>
    </p:spTree>
    <p:extLst>
      <p:ext uri="{BB962C8B-B14F-4D97-AF65-F5344CB8AC3E}">
        <p14:creationId xmlns:p14="http://schemas.microsoft.com/office/powerpoint/2010/main" val="36004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1CF4-2135-E26A-87F1-B3EE885508E2}"/>
              </a:ext>
            </a:extLst>
          </p:cNvPr>
          <p:cNvSpPr>
            <a:spLocks noGrp="1"/>
          </p:cNvSpPr>
          <p:nvPr>
            <p:ph type="title"/>
          </p:nvPr>
        </p:nvSpPr>
        <p:spPr/>
        <p:txBody>
          <a:bodyPr/>
          <a:lstStyle/>
          <a:p>
            <a:r>
              <a:rPr lang="en-US" dirty="0"/>
              <a:t>Course Overview</a:t>
            </a:r>
          </a:p>
        </p:txBody>
      </p:sp>
      <p:sp>
        <p:nvSpPr>
          <p:cNvPr id="3" name="Content Placeholder 2">
            <a:extLst>
              <a:ext uri="{FF2B5EF4-FFF2-40B4-BE49-F238E27FC236}">
                <a16:creationId xmlns:a16="http://schemas.microsoft.com/office/drawing/2014/main" id="{4BC1998C-E6BD-C71A-C3E7-04FF6D66E39F}"/>
              </a:ext>
            </a:extLst>
          </p:cNvPr>
          <p:cNvSpPr>
            <a:spLocks noGrp="1"/>
          </p:cNvSpPr>
          <p:nvPr>
            <p:ph idx="1"/>
          </p:nvPr>
        </p:nvSpPr>
        <p:spPr/>
        <p:txBody>
          <a:bodyPr>
            <a:normAutofit lnSpcReduction="10000"/>
          </a:bodyPr>
          <a:lstStyle/>
          <a:p>
            <a:r>
              <a:rPr lang="en-US" sz="1800" b="1" dirty="0">
                <a:latin typeface="Arial" panose="020B0604020202020204" pitchFamily="34" charset="0"/>
                <a:ea typeface="MS Mincho" panose="02020609040205080304" pitchFamily="49" charset="-128"/>
              </a:rPr>
              <a:t>Introduction</a:t>
            </a:r>
          </a:p>
          <a:p>
            <a:r>
              <a:rPr lang="en-US" sz="1800" b="1" dirty="0">
                <a:latin typeface="Arial" panose="020B0604020202020204" pitchFamily="34" charset="0"/>
                <a:ea typeface="MS Mincho" panose="02020609040205080304" pitchFamily="49" charset="-128"/>
              </a:rPr>
              <a:t>Sorting and Searching</a:t>
            </a:r>
          </a:p>
          <a:p>
            <a:r>
              <a:rPr lang="en-US" sz="1800" b="1" dirty="0">
                <a:latin typeface="Arial" panose="020B0604020202020204" pitchFamily="34" charset="0"/>
                <a:ea typeface="MS Mincho" panose="02020609040205080304" pitchFamily="49" charset="-128"/>
              </a:rPr>
              <a:t>Arrays and Lists</a:t>
            </a:r>
          </a:p>
          <a:p>
            <a:r>
              <a:rPr lang="en-US" sz="1800" b="1" dirty="0">
                <a:latin typeface="Arial" panose="020B0604020202020204" pitchFamily="34" charset="0"/>
                <a:ea typeface="MS Mincho" panose="02020609040205080304" pitchFamily="49" charset="-128"/>
              </a:rPr>
              <a:t>Stacks and Queues, Double Ended Queue</a:t>
            </a:r>
          </a:p>
          <a:p>
            <a:r>
              <a:rPr lang="en-US" sz="1800" b="1" dirty="0">
                <a:latin typeface="Arial" panose="020B0604020202020204" pitchFamily="34" charset="0"/>
                <a:ea typeface="MS Mincho" panose="02020609040205080304" pitchFamily="49" charset="-128"/>
              </a:rPr>
              <a:t>Heaps</a:t>
            </a:r>
          </a:p>
          <a:p>
            <a:r>
              <a:rPr lang="en-US" sz="1800" b="1" dirty="0">
                <a:solidFill>
                  <a:schemeClr val="tx2">
                    <a:lumMod val="50000"/>
                    <a:lumOff val="50000"/>
                  </a:schemeClr>
                </a:solidFill>
                <a:latin typeface="Arial" panose="020B0604020202020204" pitchFamily="34" charset="0"/>
              </a:rPr>
              <a:t>Trees</a:t>
            </a:r>
          </a:p>
          <a:p>
            <a:r>
              <a:rPr lang="en-US" sz="1800" b="1" dirty="0">
                <a:latin typeface="Arial" panose="020B0604020202020204" pitchFamily="34" charset="0"/>
              </a:rPr>
              <a:t>Hash Tables</a:t>
            </a:r>
          </a:p>
          <a:p>
            <a:r>
              <a:rPr lang="en-US" sz="1800" b="1" dirty="0">
                <a:effectLst/>
                <a:latin typeface="Arial" panose="020B0604020202020204" pitchFamily="34" charset="0"/>
                <a:ea typeface="Times New Roman" panose="02020603050405020304" pitchFamily="18" charset="0"/>
              </a:rPr>
              <a:t>Dynamic Programming</a:t>
            </a:r>
            <a:endParaRPr lang="en-US" sz="1800" b="1" dirty="0">
              <a:effectLst/>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Greedy Algorithms</a:t>
            </a:r>
            <a:endParaRPr lang="en-US" sz="1800" b="1" dirty="0">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Graph Algorithms</a:t>
            </a:r>
            <a:endParaRPr lang="en-US" sz="1800" b="1" dirty="0">
              <a:effectLst/>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Network Flow</a:t>
            </a:r>
            <a:endParaRPr lang="en-US" sz="1800" b="1" dirty="0">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NP-Completeness</a:t>
            </a:r>
            <a:endParaRPr lang="en-US" sz="1800" b="1" dirty="0">
              <a:latin typeface="Arial" panose="020B0604020202020204" pitchFamily="34" charset="0"/>
            </a:endParaRPr>
          </a:p>
          <a:p>
            <a:pPr lvl="1"/>
            <a:endParaRPr lang="en-US" sz="1800" b="1" dirty="0">
              <a:latin typeface="Arial" panose="020B0604020202020204" pitchFamily="34" charset="0"/>
            </a:endParaRPr>
          </a:p>
          <a:p>
            <a:endParaRPr lang="en-US" b="1" dirty="0">
              <a:latin typeface="Arial" panose="020B0604020202020204" pitchFamily="34" charset="0"/>
            </a:endParaRPr>
          </a:p>
        </p:txBody>
      </p:sp>
    </p:spTree>
    <p:extLst>
      <p:ext uri="{BB962C8B-B14F-4D97-AF65-F5344CB8AC3E}">
        <p14:creationId xmlns:p14="http://schemas.microsoft.com/office/powerpoint/2010/main" val="41704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F1478-414E-C0E5-B841-194CB6DF2276}"/>
              </a:ext>
            </a:extLst>
          </p:cNvPr>
          <p:cNvSpPr>
            <a:spLocks noGrp="1"/>
          </p:cNvSpPr>
          <p:nvPr>
            <p:ph type="title"/>
          </p:nvPr>
        </p:nvSpPr>
        <p:spPr/>
        <p:txBody>
          <a:bodyPr/>
          <a:lstStyle/>
          <a:p>
            <a:r>
              <a:rPr lang="en-US" dirty="0"/>
              <a:t>Balanced vs Unbalanced </a:t>
            </a:r>
          </a:p>
        </p:txBody>
      </p:sp>
      <p:pic>
        <p:nvPicPr>
          <p:cNvPr id="1028" name="Picture 4" descr="java - Balanced vs Unbalanced Binary Tree - Clarification Needed - Stack  Overflow">
            <a:extLst>
              <a:ext uri="{FF2B5EF4-FFF2-40B4-BE49-F238E27FC236}">
                <a16:creationId xmlns:a16="http://schemas.microsoft.com/office/drawing/2014/main" id="{DE6BC7FE-B7FD-B95E-66B8-9A267B24E542}"/>
              </a:ext>
            </a:extLst>
          </p:cNvPr>
          <p:cNvPicPr>
            <a:picLocks noGrp="1" noChangeAspect="1" noChangeArrowheads="1"/>
          </p:cNvPicPr>
          <p:nvPr>
            <p:ph sz="half" idx="1"/>
          </p:nvPr>
        </p:nvPicPr>
        <p:blipFill rotWithShape="1">
          <a:blip r:embed="rId3">
            <a:extLst>
              <a:ext uri="{28A0092B-C50C-407E-A947-70E740481C1C}">
                <a14:useLocalDpi xmlns:a14="http://schemas.microsoft.com/office/drawing/2010/main" val="0"/>
              </a:ext>
            </a:extLst>
          </a:blip>
          <a:srcRect b="15715"/>
          <a:stretch/>
        </p:blipFill>
        <p:spPr bwMode="auto">
          <a:xfrm>
            <a:off x="3236495" y="1680629"/>
            <a:ext cx="5426242" cy="343011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93484E6-B699-7347-ED41-1B8D4B44AEAB}"/>
                  </a:ext>
                </a:extLst>
              </p:cNvPr>
              <p:cNvSpPr>
                <a:spLocks noGrp="1"/>
              </p:cNvSpPr>
              <p:nvPr>
                <p:ph sz="half" idx="2"/>
              </p:nvPr>
            </p:nvSpPr>
            <p:spPr>
              <a:xfrm>
                <a:off x="838200" y="5230363"/>
                <a:ext cx="10379242" cy="1195889"/>
              </a:xfrm>
            </p:spPr>
            <p:txBody>
              <a:bodyPr/>
              <a:lstStyle/>
              <a:p>
                <a:r>
                  <a:rPr lang="en-US" sz="1800" b="0" i="0" u="none" strike="noStrike" baseline="0" dirty="0">
                    <a:latin typeface="Times-Roman"/>
                  </a:rPr>
                  <a:t>Balanced BSTs guarantee </a:t>
                </a:r>
                <a:r>
                  <a:rPr lang="en-US" sz="1800" dirty="0">
                    <a:latin typeface="Times-Roman"/>
                  </a:rPr>
                  <a:t>that basic dynamic-set operations, such as </a:t>
                </a:r>
                <a14:m>
                  <m:oMath xmlns:m="http://schemas.openxmlformats.org/officeDocument/2006/math">
                    <m:r>
                      <a:rPr lang="en-US" sz="1800" i="1" dirty="0" smtClean="0">
                        <a:latin typeface="Cambria Math" panose="02040503050406030204"/>
                      </a:rPr>
                      <m:t>𝑆𝐸𝐴𝑅𝐶𝐻</m:t>
                    </m:r>
                  </m:oMath>
                </a14:m>
                <a:r>
                  <a:rPr lang="en-US" sz="1800" dirty="0">
                    <a:latin typeface="Times-Roman"/>
                  </a:rPr>
                  <a:t>, </a:t>
                </a:r>
                <a14:m>
                  <m:oMath xmlns:m="http://schemas.openxmlformats.org/officeDocument/2006/math">
                    <m:r>
                      <a:rPr lang="en-US" sz="1800" i="1" dirty="0" smtClean="0">
                        <a:latin typeface="Cambria Math" panose="02040503050406030204"/>
                      </a:rPr>
                      <m:t>𝑃𝑅𝐸𝐷𝐸𝐶𝐸𝑆𝑆𝑂𝑅</m:t>
                    </m:r>
                  </m:oMath>
                </a14:m>
                <a:r>
                  <a:rPr lang="en-US" sz="1800" dirty="0">
                    <a:latin typeface="Times-Roman"/>
                  </a:rPr>
                  <a:t>, </a:t>
                </a:r>
                <a14:m>
                  <m:oMath xmlns:m="http://schemas.openxmlformats.org/officeDocument/2006/math">
                    <m:r>
                      <a:rPr lang="en-US" sz="1800" i="1" dirty="0" smtClean="0">
                        <a:latin typeface="Cambria Math" panose="02040503050406030204"/>
                      </a:rPr>
                      <m:t>𝑆𝑈𝐶𝐶𝐸𝑆𝑆𝑂𝑅</m:t>
                    </m:r>
                  </m:oMath>
                </a14:m>
                <a:r>
                  <a:rPr lang="en-US" sz="1800" dirty="0">
                    <a:latin typeface="Times-Roman"/>
                  </a:rPr>
                  <a:t>, </a:t>
                </a:r>
                <a14:m>
                  <m:oMath xmlns:m="http://schemas.openxmlformats.org/officeDocument/2006/math">
                    <m:r>
                      <a:rPr lang="en-US" sz="1800" i="1" dirty="0" smtClean="0">
                        <a:latin typeface="Cambria Math" panose="02040503050406030204"/>
                      </a:rPr>
                      <m:t>𝑀𝐼𝑁𝐼𝑀𝑈𝑀</m:t>
                    </m:r>
                  </m:oMath>
                </a14:m>
                <a:r>
                  <a:rPr lang="en-US" sz="1800" dirty="0">
                    <a:latin typeface="Times-Roman"/>
                  </a:rPr>
                  <a:t>, </a:t>
                </a:r>
                <a14:m>
                  <m:oMath xmlns:m="http://schemas.openxmlformats.org/officeDocument/2006/math">
                    <m:r>
                      <a:rPr lang="en-US" sz="1800" i="1" dirty="0" smtClean="0">
                        <a:latin typeface="Cambria Math" panose="02040503050406030204"/>
                      </a:rPr>
                      <m:t>𝑀𝐴𝑋𝐼𝑀𝑈𝑀</m:t>
                    </m:r>
                  </m:oMath>
                </a14:m>
                <a:r>
                  <a:rPr lang="en-US" sz="1800" dirty="0">
                    <a:latin typeface="Times-Roman"/>
                  </a:rPr>
                  <a:t>, </a:t>
                </a:r>
                <a14:m>
                  <m:oMath xmlns:m="http://schemas.openxmlformats.org/officeDocument/2006/math">
                    <m:r>
                      <a:rPr lang="en-US" sz="1800" i="1" dirty="0" smtClean="0">
                        <a:latin typeface="Cambria Math" panose="02040503050406030204"/>
                      </a:rPr>
                      <m:t>𝐼𝑁𝑆𝐸𝑅𝑇</m:t>
                    </m:r>
                  </m:oMath>
                </a14:m>
                <a:r>
                  <a:rPr lang="en-US" sz="1800" dirty="0">
                    <a:latin typeface="Times-Roman"/>
                  </a:rPr>
                  <a:t>, and </a:t>
                </a:r>
                <a14:m>
                  <m:oMath xmlns:m="http://schemas.openxmlformats.org/officeDocument/2006/math">
                    <m:r>
                      <a:rPr lang="en-US" sz="1800" i="1" dirty="0" smtClean="0">
                        <a:latin typeface="Cambria Math" panose="02040503050406030204"/>
                      </a:rPr>
                      <m:t>𝐷𝐸𝐿𝐸𝑇𝐸</m:t>
                    </m:r>
                  </m:oMath>
                </a14:m>
                <a:r>
                  <a:rPr lang="en-US" sz="1800" dirty="0">
                    <a:latin typeface="Times-Roman"/>
                  </a:rPr>
                  <a:t> take </a:t>
                </a:r>
                <a14:m>
                  <m:oMath xmlns:m="http://schemas.openxmlformats.org/officeDocument/2006/math">
                    <m:r>
                      <a:rPr lang="en-US" sz="1800" b="0" i="1" u="none" strike="noStrike" baseline="0" dirty="0" smtClean="0">
                        <a:latin typeface="Cambria Math" panose="02040503050406030204"/>
                      </a:rPr>
                      <m:t>𝑂</m:t>
                    </m:r>
                    <m:r>
                      <a:rPr lang="en-US" sz="1800" b="0" i="1" u="none" strike="noStrike" baseline="0" dirty="0" smtClean="0">
                        <a:latin typeface="Cambria Math" panose="02040503050406030204"/>
                      </a:rPr>
                      <m:t>(</m:t>
                    </m:r>
                    <m:func>
                      <m:funcPr>
                        <m:ctrlPr>
                          <a:rPr lang="en-US" sz="1800" b="0" i="1" u="none" strike="noStrike" baseline="0" dirty="0" smtClean="0">
                            <a:latin typeface="Cambria Math" panose="02040503050406030204" pitchFamily="18" charset="0"/>
                          </a:rPr>
                        </m:ctrlPr>
                      </m:funcPr>
                      <m:fName>
                        <m:r>
                          <m:rPr>
                            <m:sty m:val="p"/>
                          </m:rPr>
                          <a:rPr lang="en-US" sz="1800" b="0" i="0" u="none" strike="noStrike" baseline="0" dirty="0" smtClean="0">
                            <a:latin typeface="Cambria Math" panose="02040503050406030204"/>
                          </a:rPr>
                          <m:t>log</m:t>
                        </m:r>
                      </m:fName>
                      <m:e>
                        <m:r>
                          <a:rPr lang="en-US" sz="1800" b="0" i="1" u="none" strike="noStrike" baseline="0" dirty="0" smtClean="0">
                            <a:latin typeface="Cambria Math" panose="02040503050406030204"/>
                          </a:rPr>
                          <m:t>𝑛</m:t>
                        </m:r>
                      </m:e>
                    </m:func>
                    <m:r>
                      <a:rPr lang="en-US" sz="1800" b="0" i="1" u="none" strike="noStrike" baseline="0" dirty="0" smtClean="0">
                        <a:latin typeface="Cambria Math" panose="02040503050406030204"/>
                      </a:rPr>
                      <m:t>)</m:t>
                    </m:r>
                  </m:oMath>
                </a14:m>
                <a:r>
                  <a:rPr lang="en-US" sz="1800" b="0" i="0" u="none" strike="noStrike" baseline="0" dirty="0">
                    <a:latin typeface="Times-Roman"/>
                  </a:rPr>
                  <a:t> </a:t>
                </a:r>
                <a:r>
                  <a:rPr lang="en-US" sz="1800" b="0" i="0" u="none" strike="noStrike" baseline="0" dirty="0">
                    <a:latin typeface="MT2MIT"/>
                  </a:rPr>
                  <a:t> </a:t>
                </a:r>
                <a:r>
                  <a:rPr lang="en-US" sz="1800" b="0" i="0" u="none" strike="noStrike" baseline="0" dirty="0">
                    <a:latin typeface="Times-Roman"/>
                  </a:rPr>
                  <a:t>time in the worst case.</a:t>
                </a:r>
                <a:endParaRPr lang="en-US" dirty="0"/>
              </a:p>
            </p:txBody>
          </p:sp>
        </mc:Choice>
        <mc:Fallback xmlns="">
          <p:sp>
            <p:nvSpPr>
              <p:cNvPr id="4" name="Content Placeholder 3">
                <a:extLst>
                  <a:ext uri="{FF2B5EF4-FFF2-40B4-BE49-F238E27FC236}">
                    <a16:creationId xmlns:a16="http://schemas.microsoft.com/office/drawing/2014/main" id="{D93484E6-B699-7347-ED41-1B8D4B44AEAB}"/>
                  </a:ext>
                </a:extLst>
              </p:cNvPr>
              <p:cNvSpPr>
                <a:spLocks noGrp="1" noRot="1" noChangeAspect="1" noMove="1" noResize="1" noEditPoints="1" noAdjustHandles="1" noChangeArrowheads="1" noChangeShapeType="1" noTextEdit="1"/>
              </p:cNvSpPr>
              <p:nvPr>
                <p:ph sz="half" idx="2"/>
              </p:nvPr>
            </p:nvSpPr>
            <p:spPr>
              <a:xfrm>
                <a:off x="838200" y="5230363"/>
                <a:ext cx="10379242" cy="1195889"/>
              </a:xfrm>
              <a:blipFill>
                <a:blip r:embed="rId4"/>
                <a:stretch>
                  <a:fillRect l="-411" t="-4082"/>
                </a:stretch>
              </a:blipFill>
            </p:spPr>
            <p:txBody>
              <a:bodyPr/>
              <a:lstStyle/>
              <a:p>
                <a:r>
                  <a:rPr lang="en-US">
                    <a:noFill/>
                  </a:rPr>
                  <a:t> </a:t>
                </a:r>
              </a:p>
            </p:txBody>
          </p:sp>
        </mc:Fallback>
      </mc:AlternateContent>
    </p:spTree>
    <p:extLst>
      <p:ext uri="{BB962C8B-B14F-4D97-AF65-F5344CB8AC3E}">
        <p14:creationId xmlns:p14="http://schemas.microsoft.com/office/powerpoint/2010/main" val="8580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9F5E-F1A0-9019-EC58-14A2F80BFBF0}"/>
              </a:ext>
            </a:extLst>
          </p:cNvPr>
          <p:cNvSpPr>
            <a:spLocks noGrp="1"/>
          </p:cNvSpPr>
          <p:nvPr>
            <p:ph type="title"/>
          </p:nvPr>
        </p:nvSpPr>
        <p:spPr/>
        <p:txBody>
          <a:bodyPr/>
          <a:lstStyle/>
          <a:p>
            <a:r>
              <a:rPr lang="en-US" dirty="0"/>
              <a:t>Red-Black Tree: Definition</a:t>
            </a:r>
          </a:p>
        </p:txBody>
      </p:sp>
      <p:sp>
        <p:nvSpPr>
          <p:cNvPr id="3" name="Content Placeholder 2">
            <a:extLst>
              <a:ext uri="{FF2B5EF4-FFF2-40B4-BE49-F238E27FC236}">
                <a16:creationId xmlns:a16="http://schemas.microsoft.com/office/drawing/2014/main" id="{5AA79DC5-8CD5-CAC5-40C1-99C4B10DB918}"/>
              </a:ext>
            </a:extLst>
          </p:cNvPr>
          <p:cNvSpPr>
            <a:spLocks noGrp="1"/>
          </p:cNvSpPr>
          <p:nvPr>
            <p:ph idx="1"/>
          </p:nvPr>
        </p:nvSpPr>
        <p:spPr>
          <a:xfrm>
            <a:off x="724930" y="1825625"/>
            <a:ext cx="10742139" cy="4351338"/>
          </a:xfrm>
        </p:spPr>
        <p:txBody>
          <a:bodyPr>
            <a:normAutofit lnSpcReduction="10000"/>
          </a:bodyPr>
          <a:lstStyle/>
          <a:p>
            <a:pPr marL="0" indent="0">
              <a:buNone/>
            </a:pPr>
            <a:r>
              <a:rPr lang="en-US" dirty="0"/>
              <a:t>A Red-Black Tree is a type of self-balancing binary search tree with one extra bit of storage per node: its color, which can be either RED or BLACK.</a:t>
            </a:r>
          </a:p>
          <a:p>
            <a:pPr marL="0" indent="0">
              <a:buNone/>
            </a:pPr>
            <a:r>
              <a:rPr lang="en-US" dirty="0"/>
              <a:t>The tree maintains the following invariants:</a:t>
            </a:r>
          </a:p>
          <a:p>
            <a:pPr marL="514350" indent="-514350">
              <a:buFont typeface="+mj-lt"/>
              <a:buAutoNum type="arabicPeriod"/>
            </a:pPr>
            <a:r>
              <a:rPr lang="en-US" dirty="0"/>
              <a:t>Every node is either red or black.</a:t>
            </a:r>
          </a:p>
          <a:p>
            <a:pPr marL="514350" indent="-514350">
              <a:buFont typeface="+mj-lt"/>
              <a:buAutoNum type="arabicPeriod"/>
            </a:pPr>
            <a:r>
              <a:rPr lang="en-US" dirty="0"/>
              <a:t>The root is always black.</a:t>
            </a:r>
          </a:p>
          <a:p>
            <a:pPr marL="514350" indent="-514350">
              <a:buFont typeface="+mj-lt"/>
              <a:buAutoNum type="arabicPeriod"/>
            </a:pPr>
            <a:r>
              <a:rPr lang="en-US" dirty="0"/>
              <a:t>All leaves (NIL nodes) are black.</a:t>
            </a:r>
          </a:p>
          <a:p>
            <a:pPr marL="514350" indent="-514350">
              <a:buFont typeface="+mj-lt"/>
              <a:buAutoNum type="arabicPeriod"/>
            </a:pPr>
            <a:r>
              <a:rPr lang="en-US" dirty="0"/>
              <a:t>Red nodes cannot have red children (i.e., no two red nodes can be adjacent).</a:t>
            </a:r>
          </a:p>
          <a:p>
            <a:pPr marL="514350" indent="-514350">
              <a:buFont typeface="+mj-lt"/>
              <a:buAutoNum type="arabicPeriod"/>
            </a:pPr>
            <a:r>
              <a:rPr lang="en-US" dirty="0"/>
              <a:t>Every path from a node to its descendant NIL nodes must have the same number of black nodes.</a:t>
            </a:r>
          </a:p>
        </p:txBody>
      </p:sp>
    </p:spTree>
    <p:extLst>
      <p:ext uri="{BB962C8B-B14F-4D97-AF65-F5344CB8AC3E}">
        <p14:creationId xmlns:p14="http://schemas.microsoft.com/office/powerpoint/2010/main" val="378039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7EAC-1DF4-FFF4-63DC-21AEB670E85E}"/>
              </a:ext>
            </a:extLst>
          </p:cNvPr>
          <p:cNvSpPr>
            <a:spLocks noGrp="1"/>
          </p:cNvSpPr>
          <p:nvPr>
            <p:ph type="title"/>
          </p:nvPr>
        </p:nvSpPr>
        <p:spPr/>
        <p:txBody>
          <a:bodyPr/>
          <a:lstStyle/>
          <a:p>
            <a:r>
              <a:rPr lang="en-US" dirty="0"/>
              <a:t>Red-Black Tree: Example (1)</a:t>
            </a:r>
          </a:p>
        </p:txBody>
      </p:sp>
      <p:pic>
        <p:nvPicPr>
          <p:cNvPr id="5" name="Content Placeholder 4">
            <a:extLst>
              <a:ext uri="{FF2B5EF4-FFF2-40B4-BE49-F238E27FC236}">
                <a16:creationId xmlns:a16="http://schemas.microsoft.com/office/drawing/2014/main" id="{BB8EA0AC-D7F1-4465-DDA6-22E3D0844E0B}"/>
              </a:ext>
            </a:extLst>
          </p:cNvPr>
          <p:cNvPicPr>
            <a:picLocks noGrp="1" noChangeAspect="1"/>
          </p:cNvPicPr>
          <p:nvPr>
            <p:ph idx="1"/>
          </p:nvPr>
        </p:nvPicPr>
        <p:blipFill>
          <a:blip r:embed="rId2"/>
          <a:stretch>
            <a:fillRect/>
          </a:stretch>
        </p:blipFill>
        <p:spPr>
          <a:xfrm>
            <a:off x="838200" y="2475249"/>
            <a:ext cx="10515600" cy="3052089"/>
          </a:xfrm>
        </p:spPr>
      </p:pic>
    </p:spTree>
    <p:extLst>
      <p:ext uri="{BB962C8B-B14F-4D97-AF65-F5344CB8AC3E}">
        <p14:creationId xmlns:p14="http://schemas.microsoft.com/office/powerpoint/2010/main" val="1661175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7D41E-4F60-CB4F-8480-AC71DBC0B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28C1E-C5FD-6059-60E0-FB262C62EDAD}"/>
              </a:ext>
            </a:extLst>
          </p:cNvPr>
          <p:cNvSpPr>
            <a:spLocks noGrp="1"/>
          </p:cNvSpPr>
          <p:nvPr>
            <p:ph type="title"/>
          </p:nvPr>
        </p:nvSpPr>
        <p:spPr/>
        <p:txBody>
          <a:bodyPr/>
          <a:lstStyle/>
          <a:p>
            <a:r>
              <a:rPr lang="en-US" dirty="0"/>
              <a:t>Red-Black Tree: Example (2)</a:t>
            </a:r>
          </a:p>
        </p:txBody>
      </p:sp>
      <p:pic>
        <p:nvPicPr>
          <p:cNvPr id="12" name="Content Placeholder 11">
            <a:extLst>
              <a:ext uri="{FF2B5EF4-FFF2-40B4-BE49-F238E27FC236}">
                <a16:creationId xmlns:a16="http://schemas.microsoft.com/office/drawing/2014/main" id="{DCE4DA17-C697-639B-9D9B-823DACC21175}"/>
              </a:ext>
            </a:extLst>
          </p:cNvPr>
          <p:cNvPicPr>
            <a:picLocks noGrp="1" noChangeAspect="1"/>
          </p:cNvPicPr>
          <p:nvPr>
            <p:ph sz="half" idx="2"/>
          </p:nvPr>
        </p:nvPicPr>
        <p:blipFill>
          <a:blip r:embed="rId3"/>
          <a:stretch>
            <a:fillRect/>
          </a:stretch>
        </p:blipFill>
        <p:spPr>
          <a:xfrm>
            <a:off x="6172200" y="3275252"/>
            <a:ext cx="5181600" cy="1452083"/>
          </a:xfrm>
        </p:spPr>
      </p:pic>
      <p:pic>
        <p:nvPicPr>
          <p:cNvPr id="10" name="Content Placeholder 9">
            <a:extLst>
              <a:ext uri="{FF2B5EF4-FFF2-40B4-BE49-F238E27FC236}">
                <a16:creationId xmlns:a16="http://schemas.microsoft.com/office/drawing/2014/main" id="{AE1755AE-4C0E-F461-44D8-4B0F3247E6B7}"/>
              </a:ext>
            </a:extLst>
          </p:cNvPr>
          <p:cNvPicPr>
            <a:picLocks noGrp="1" noChangeAspect="1"/>
          </p:cNvPicPr>
          <p:nvPr>
            <p:ph sz="half" idx="1"/>
          </p:nvPr>
        </p:nvPicPr>
        <p:blipFill>
          <a:blip r:embed="rId4"/>
          <a:stretch>
            <a:fillRect/>
          </a:stretch>
        </p:blipFill>
        <p:spPr>
          <a:xfrm>
            <a:off x="838200" y="2906191"/>
            <a:ext cx="5181600" cy="2190205"/>
          </a:xfrm>
        </p:spPr>
      </p:pic>
    </p:spTree>
    <p:extLst>
      <p:ext uri="{BB962C8B-B14F-4D97-AF65-F5344CB8AC3E}">
        <p14:creationId xmlns:p14="http://schemas.microsoft.com/office/powerpoint/2010/main" val="1852263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4DBBF-71D5-37C2-4145-A517E0AAC1F8}"/>
              </a:ext>
            </a:extLst>
          </p:cNvPr>
          <p:cNvSpPr>
            <a:spLocks noGrp="1"/>
          </p:cNvSpPr>
          <p:nvPr>
            <p:ph type="title"/>
          </p:nvPr>
        </p:nvSpPr>
        <p:spPr/>
        <p:txBody>
          <a:bodyPr/>
          <a:lstStyle/>
          <a:p>
            <a:r>
              <a:rPr lang="en-US" dirty="0"/>
              <a:t>Red-Black Tree: Black-Height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456892-0CDA-87C4-DA05-9731F3AF3100}"/>
                  </a:ext>
                </a:extLst>
              </p:cNvPr>
              <p:cNvSpPr>
                <a:spLocks noGrp="1"/>
              </p:cNvSpPr>
              <p:nvPr>
                <p:ph idx="1"/>
              </p:nvPr>
            </p:nvSpPr>
            <p:spPr/>
            <p:txBody>
              <a:bodyPr/>
              <a:lstStyle/>
              <a:p>
                <a:pPr marL="0" indent="0">
                  <a:buNone/>
                </a:pPr>
                <a:r>
                  <a:rPr lang="en-US" dirty="0"/>
                  <a:t>Black-height of the node is the number of black nodes (not counting the node itself) on any path from that node down to a leaf (NIL): </a:t>
                </a:r>
                <a14:m>
                  <m:oMath xmlns:m="http://schemas.openxmlformats.org/officeDocument/2006/math">
                    <m:r>
                      <a:rPr lang="en-US" i="1" dirty="0" smtClean="0">
                        <a:latin typeface="Cambria Math" panose="02040503050406030204"/>
                      </a:rPr>
                      <m:t>𝑏h</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a:rPr>
                        <m:t>𝑏h</m:t>
                      </m:r>
                      <m:r>
                        <a:rPr lang="en-US" i="1" dirty="0" smtClean="0">
                          <a:latin typeface="Cambria Math" panose="02040503050406030204"/>
                        </a:rPr>
                        <m:t>(</m:t>
                      </m:r>
                      <m:r>
                        <a:rPr lang="en-US" i="1" dirty="0" smtClean="0">
                          <a:latin typeface="Cambria Math" panose="02040503050406030204"/>
                        </a:rPr>
                        <m:t>𝑁𝐼𝐿</m:t>
                      </m:r>
                      <m:r>
                        <a:rPr lang="en-US" i="1" dirty="0" smtClean="0">
                          <a:latin typeface="Cambria Math" panose="02040503050406030204"/>
                        </a:rPr>
                        <m:t>)=0</m:t>
                      </m:r>
                    </m:oMath>
                  </m:oMathPara>
                </a14:m>
                <a:endParaRPr lang="en-US" dirty="0"/>
              </a:p>
              <a:p>
                <a:pPr marL="0" indent="0">
                  <a:buNone/>
                </a:pPr>
                <a:r>
                  <a:rPr lang="en-US" dirty="0"/>
                  <a:t>Black-height of a tree is a black-height of its root.</a:t>
                </a:r>
              </a:p>
              <a:p>
                <a:pPr marL="0" indent="0">
                  <a:buNone/>
                </a:pPr>
                <a:r>
                  <a:rPr lang="en-US" b="1" dirty="0"/>
                  <a:t>Lemma: </a:t>
                </a:r>
                <a:r>
                  <a:rPr lang="en-US" dirty="0"/>
                  <a:t>The height </a:t>
                </a:r>
                <a14:m>
                  <m:oMath xmlns:m="http://schemas.openxmlformats.org/officeDocument/2006/math">
                    <m:r>
                      <a:rPr lang="en-US" i="1" dirty="0" smtClean="0">
                        <a:latin typeface="Cambria Math" panose="02040503050406030204"/>
                      </a:rPr>
                      <m:t>h</m:t>
                    </m:r>
                  </m:oMath>
                </a14:m>
                <a:r>
                  <a:rPr lang="en-US" dirty="0"/>
                  <a:t> of a red-black tree </a:t>
                </a:r>
                <a14:m>
                  <m:oMath xmlns:m="http://schemas.openxmlformats.org/officeDocument/2006/math">
                    <m:r>
                      <a:rPr lang="en-US" i="1" dirty="0" smtClean="0">
                        <a:latin typeface="Cambria Math" panose="02040503050406030204"/>
                      </a:rPr>
                      <m:t>𝑇</m:t>
                    </m:r>
                  </m:oMath>
                </a14:m>
                <a:r>
                  <a:rPr lang="en-US" dirty="0"/>
                  <a:t> is at most </a:t>
                </a:r>
                <a14:m>
                  <m:oMath xmlns:m="http://schemas.openxmlformats.org/officeDocument/2006/math">
                    <m:r>
                      <a:rPr lang="en-US" b="0" i="1" smtClean="0">
                        <a:latin typeface="Cambria Math" panose="02040503050406030204"/>
                      </a:rPr>
                      <m:t>2∗</m:t>
                    </m:r>
                    <m:r>
                      <a:rPr lang="en-US" b="0" i="1" smtClean="0">
                        <a:latin typeface="Cambria Math" panose="02040503050406030204"/>
                      </a:rPr>
                      <m:t>𝑏h</m:t>
                    </m:r>
                    <m:d>
                      <m:dPr>
                        <m:ctrlPr>
                          <a:rPr lang="en-US" b="0" i="1" smtClean="0">
                            <a:latin typeface="Cambria Math" panose="02040503050406030204" pitchFamily="18" charset="0"/>
                          </a:rPr>
                        </m:ctrlPr>
                      </m:dPr>
                      <m:e>
                        <m:r>
                          <a:rPr lang="en-US" b="0" i="1" smtClean="0">
                            <a:latin typeface="Cambria Math" panose="02040503050406030204"/>
                          </a:rPr>
                          <m:t>𝑇</m:t>
                        </m:r>
                        <m:r>
                          <a:rPr lang="en-US" b="0" i="1" smtClean="0">
                            <a:latin typeface="Cambria Math" panose="02040503050406030204"/>
                          </a:rPr>
                          <m:t>.</m:t>
                        </m:r>
                        <m:r>
                          <a:rPr lang="en-US" b="0" i="1" smtClean="0">
                            <a:latin typeface="Cambria Math" panose="02040503050406030204"/>
                          </a:rPr>
                          <m:t>𝑟𝑜𝑜𝑡</m:t>
                        </m:r>
                      </m:e>
                    </m:d>
                  </m:oMath>
                </a14:m>
                <a:r>
                  <a:rPr lang="en-US" dirty="0"/>
                  <a:t>.</a:t>
                </a:r>
              </a:p>
              <a:p>
                <a:pPr marL="0" indent="0">
                  <a:buNone/>
                </a:pPr>
                <a:r>
                  <a:rPr lang="en-US" b="1" dirty="0"/>
                  <a:t>Proof: </a:t>
                </a:r>
                <a:r>
                  <a:rPr lang="en-US" dirty="0"/>
                  <a:t>No two red nodes in a row. Any path from root to leaf, red nodes must be followed by black nodes. The longest possible path </a:t>
                </a:r>
              </a:p>
              <a:p>
                <a:pPr marL="0" indent="0">
                  <a:buNone/>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a:rPr>
                        <m:t>𝑇</m:t>
                      </m:r>
                      <m:r>
                        <a:rPr lang="en-US" sz="2000" b="0" i="1" dirty="0" smtClean="0">
                          <a:latin typeface="Cambria Math" panose="02040503050406030204"/>
                        </a:rPr>
                        <m:t>.</m:t>
                      </m:r>
                      <m:r>
                        <a:rPr lang="en-US" sz="2000" b="0" i="1" dirty="0" smtClean="0">
                          <a:latin typeface="Cambria Math" panose="02040503050406030204"/>
                        </a:rPr>
                        <m:t>𝑟𝑜𝑜𝑡</m:t>
                      </m:r>
                      <m:r>
                        <a:rPr lang="en-US" sz="2000" i="1" dirty="0" smtClean="0">
                          <a:latin typeface="Cambria Math" panose="02040503050406030204"/>
                        </a:rPr>
                        <m:t> −&gt; </m:t>
                      </m:r>
                      <m:r>
                        <a:rPr lang="en-US" sz="2000" i="1" dirty="0" smtClean="0">
                          <a:latin typeface="Cambria Math" panose="02040503050406030204"/>
                        </a:rPr>
                        <m:t>𝑟𝑒𝑑</m:t>
                      </m:r>
                      <m:r>
                        <a:rPr lang="en-US" sz="2000" i="1" dirty="0" smtClean="0">
                          <a:latin typeface="Cambria Math" panose="02040503050406030204"/>
                        </a:rPr>
                        <m:t> −&gt; </m:t>
                      </m:r>
                      <m:r>
                        <a:rPr lang="en-US" sz="2000" i="1" dirty="0" smtClean="0">
                          <a:latin typeface="Cambria Math" panose="02040503050406030204"/>
                        </a:rPr>
                        <m:t>𝑏𝑙𝑎𝑐𝑘</m:t>
                      </m:r>
                      <m:r>
                        <a:rPr lang="en-US" sz="2000" i="1" dirty="0" smtClean="0">
                          <a:latin typeface="Cambria Math" panose="02040503050406030204"/>
                        </a:rPr>
                        <m:t> −&gt; </m:t>
                      </m:r>
                      <m:r>
                        <a:rPr lang="en-US" sz="2000" i="1" dirty="0" smtClean="0">
                          <a:latin typeface="Cambria Math" panose="02040503050406030204"/>
                        </a:rPr>
                        <m:t>𝑟𝑒𝑑</m:t>
                      </m:r>
                      <m:r>
                        <a:rPr lang="en-US" sz="2000" i="1" dirty="0" smtClean="0">
                          <a:latin typeface="Cambria Math" panose="02040503050406030204"/>
                        </a:rPr>
                        <m:t> −&gt; … −&gt; </m:t>
                      </m:r>
                      <m:r>
                        <a:rPr lang="en-US" sz="2000" i="1" dirty="0" smtClean="0">
                          <a:latin typeface="Cambria Math" panose="02040503050406030204"/>
                        </a:rPr>
                        <m:t>𝑁𝐼𝐿</m:t>
                      </m:r>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a:rPr>
                        <m:t>h</m:t>
                      </m:r>
                      <m:r>
                        <a:rPr lang="en-US" sz="2000" b="0" i="1" smtClean="0">
                          <a:latin typeface="Cambria Math" panose="02040503050406030204"/>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a:rPr>
                            <m:t>max</m:t>
                          </m:r>
                        </m:fName>
                        <m:e>
                          <m:d>
                            <m:dPr>
                              <m:ctrlPr>
                                <a:rPr lang="en-US" sz="2000" b="0" i="1" smtClean="0">
                                  <a:latin typeface="Cambria Math" panose="02040503050406030204" pitchFamily="18" charset="0"/>
                                </a:rPr>
                              </m:ctrlPr>
                            </m:dPr>
                            <m:e>
                              <m:r>
                                <a:rPr lang="en-US" sz="2000" b="0" i="1" smtClean="0">
                                  <a:latin typeface="Cambria Math" panose="02040503050406030204"/>
                                </a:rPr>
                                <m:t>𝑐𝑜𝑢𝑛𝑡</m:t>
                              </m:r>
                              <m:d>
                                <m:dPr>
                                  <m:ctrlPr>
                                    <a:rPr lang="en-US" sz="2000" b="0" i="1" smtClean="0">
                                      <a:latin typeface="Cambria Math" panose="02040503050406030204" pitchFamily="18" charset="0"/>
                                    </a:rPr>
                                  </m:ctrlPr>
                                </m:dPr>
                                <m:e>
                                  <m:r>
                                    <a:rPr lang="en-US" sz="2000" b="0" i="1" smtClean="0">
                                      <a:latin typeface="Cambria Math" panose="02040503050406030204"/>
                                    </a:rPr>
                                    <m:t>𝑏𝑙𝑎𝑐𝑘</m:t>
                                  </m:r>
                                </m:e>
                              </m:d>
                              <m:r>
                                <a:rPr lang="en-US" sz="2000" b="0" i="1" smtClean="0">
                                  <a:latin typeface="Cambria Math" panose="02040503050406030204"/>
                                </a:rPr>
                                <m:t>+</m:t>
                              </m:r>
                              <m:r>
                                <a:rPr lang="en-US" sz="2000" b="0" i="1" smtClean="0">
                                  <a:latin typeface="Cambria Math" panose="02040503050406030204"/>
                                </a:rPr>
                                <m:t>𝑐𝑜𝑢𝑛𝑡</m:t>
                              </m:r>
                              <m:d>
                                <m:dPr>
                                  <m:ctrlPr>
                                    <a:rPr lang="en-US" sz="2000" b="0" i="1" smtClean="0">
                                      <a:latin typeface="Cambria Math" panose="02040503050406030204" pitchFamily="18" charset="0"/>
                                    </a:rPr>
                                  </m:ctrlPr>
                                </m:dPr>
                                <m:e>
                                  <m:r>
                                    <a:rPr lang="en-US" sz="2000" b="0" i="1" smtClean="0">
                                      <a:latin typeface="Cambria Math" panose="02040503050406030204"/>
                                    </a:rPr>
                                    <m:t>𝑟𝑒𝑑</m:t>
                                  </m:r>
                                </m:e>
                              </m:d>
                            </m:e>
                          </m:d>
                        </m:e>
                      </m:func>
                      <m:r>
                        <a:rPr lang="en-US" sz="2000" b="0" i="1" smtClean="0">
                          <a:latin typeface="Cambria Math" panose="02040503050406030204"/>
                        </a:rPr>
                        <m:t>=2∗</m:t>
                      </m:r>
                      <m:r>
                        <a:rPr lang="en-US" sz="2000" b="0" i="1" smtClean="0">
                          <a:latin typeface="Cambria Math" panose="02040503050406030204"/>
                        </a:rPr>
                        <m:t>𝑐𝑜𝑢𝑛𝑡</m:t>
                      </m:r>
                      <m:r>
                        <a:rPr lang="en-US" sz="2000" b="0" i="1" smtClean="0">
                          <a:latin typeface="Cambria Math" panose="02040503050406030204"/>
                        </a:rPr>
                        <m:t>(</m:t>
                      </m:r>
                      <m:r>
                        <a:rPr lang="en-US" sz="2000" b="0" i="1" smtClean="0">
                          <a:latin typeface="Cambria Math" panose="02040503050406030204"/>
                        </a:rPr>
                        <m:t>𝑏𝑙𝑎𝑐𝑘</m:t>
                      </m:r>
                      <m:r>
                        <a:rPr lang="en-US" sz="2000" b="0" i="1" smtClean="0">
                          <a:latin typeface="Cambria Math" panose="02040503050406030204"/>
                        </a:rPr>
                        <m:t>)</m:t>
                      </m:r>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a:rPr>
                        <m:t>h</m:t>
                      </m:r>
                      <m:r>
                        <a:rPr lang="en-US" sz="2000" b="0" i="1" smtClean="0">
                          <a:latin typeface="Cambria Math" panose="02040503050406030204"/>
                        </a:rPr>
                        <m:t>≤</m:t>
                      </m:r>
                      <m:r>
                        <a:rPr lang="en-US" sz="2000" b="0" i="1" smtClean="0">
                          <a:latin typeface="Cambria Math" panose="02040503050406030204"/>
                        </a:rPr>
                        <m:t>𝑏h</m:t>
                      </m:r>
                      <m:r>
                        <a:rPr lang="en-US" sz="2000" b="0" i="1" smtClean="0">
                          <a:latin typeface="Cambria Math" panose="02040503050406030204"/>
                        </a:rPr>
                        <m:t>(</m:t>
                      </m:r>
                      <m:r>
                        <a:rPr lang="en-US" sz="2000" b="0" i="1" smtClean="0">
                          <a:latin typeface="Cambria Math" panose="02040503050406030204"/>
                        </a:rPr>
                        <m:t>𝑇</m:t>
                      </m:r>
                      <m:r>
                        <a:rPr lang="en-US" sz="2000" b="0" i="1" smtClean="0">
                          <a:latin typeface="Cambria Math" panose="02040503050406030204"/>
                        </a:rPr>
                        <m:t>.</m:t>
                      </m:r>
                      <m:r>
                        <a:rPr lang="en-US" sz="2000" b="0" i="1" smtClean="0">
                          <a:latin typeface="Cambria Math" panose="02040503050406030204"/>
                        </a:rPr>
                        <m:t>𝑟𝑜𝑜𝑡</m:t>
                      </m:r>
                      <m:r>
                        <a:rPr lang="en-US" sz="2000" b="0" i="1" smtClean="0">
                          <a:latin typeface="Cambria Math" panose="02040503050406030204"/>
                        </a:rPr>
                        <m:t>)</m:t>
                      </m:r>
                    </m:oMath>
                  </m:oMathPara>
                </a14:m>
                <a:endParaRPr lang="en-US" sz="2000" dirty="0"/>
              </a:p>
            </p:txBody>
          </p:sp>
        </mc:Choice>
        <mc:Fallback xmlns="">
          <p:sp>
            <p:nvSpPr>
              <p:cNvPr id="3" name="Content Placeholder 2">
                <a:extLst>
                  <a:ext uri="{FF2B5EF4-FFF2-40B4-BE49-F238E27FC236}">
                    <a16:creationId xmlns:a16="http://schemas.microsoft.com/office/drawing/2014/main" id="{50456892-0CDA-87C4-DA05-9731F3AF3100}"/>
                  </a:ext>
                </a:extLst>
              </p:cNvPr>
              <p:cNvSpPr>
                <a:spLocks noGrp="1" noRot="1" noChangeAspect="1" noMove="1" noResize="1" noEditPoints="1" noAdjustHandles="1" noChangeArrowheads="1" noChangeShapeType="1" noTextEdit="1"/>
              </p:cNvSpPr>
              <p:nvPr>
                <p:ph idx="1"/>
              </p:nvPr>
            </p:nvSpPr>
            <p:spPr>
              <a:blipFill>
                <a:blip r:embed="rId2"/>
                <a:stretch>
                  <a:fillRect l="-1217" t="-2241" r="-1623"/>
                </a:stretch>
              </a:blipFill>
            </p:spPr>
            <p:txBody>
              <a:bodyPr/>
              <a:lstStyle/>
              <a:p>
                <a:r>
                  <a:rPr lang="en-US">
                    <a:noFill/>
                  </a:rPr>
                  <a:t> </a:t>
                </a:r>
              </a:p>
            </p:txBody>
          </p:sp>
        </mc:Fallback>
      </mc:AlternateContent>
    </p:spTree>
    <p:extLst>
      <p:ext uri="{BB962C8B-B14F-4D97-AF65-F5344CB8AC3E}">
        <p14:creationId xmlns:p14="http://schemas.microsoft.com/office/powerpoint/2010/main" val="183221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4EAE-A8A4-FDC2-9A31-F5F2AAEFA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6DC31-C5D9-031C-0972-2C9326CA3063}"/>
              </a:ext>
            </a:extLst>
          </p:cNvPr>
          <p:cNvSpPr>
            <a:spLocks noGrp="1"/>
          </p:cNvSpPr>
          <p:nvPr>
            <p:ph type="title"/>
          </p:nvPr>
        </p:nvSpPr>
        <p:spPr/>
        <p:txBody>
          <a:bodyPr/>
          <a:lstStyle/>
          <a:p>
            <a:r>
              <a:rPr lang="en-US" dirty="0"/>
              <a:t>Red-Black Tree: Height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048D9B-AD67-A313-8C6C-0BB731DBF818}"/>
                  </a:ext>
                </a:extLst>
              </p:cNvPr>
              <p:cNvSpPr>
                <a:spLocks noGrp="1"/>
              </p:cNvSpPr>
              <p:nvPr>
                <p:ph idx="1"/>
              </p:nvPr>
            </p:nvSpPr>
            <p:spPr/>
            <p:txBody>
              <a:bodyPr/>
              <a:lstStyle/>
              <a:p>
                <a:pPr marL="0" indent="0">
                  <a:buNone/>
                </a:pPr>
                <a:r>
                  <a:rPr lang="en-US" sz="2400" b="1" dirty="0"/>
                  <a:t>Lemma: </a:t>
                </a:r>
                <a:r>
                  <a:rPr lang="en-US" sz="2400" dirty="0"/>
                  <a:t>A red-black tree with n internal nodes has height at most </a:t>
                </a:r>
                <a14:m>
                  <m:oMath xmlns:m="http://schemas.openxmlformats.org/officeDocument/2006/math">
                    <m:r>
                      <a:rPr lang="en-US" sz="2400" b="0" i="1" smtClean="0">
                        <a:latin typeface="Cambria Math" panose="02040503050406030204"/>
                      </a:rPr>
                      <m:t>2</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a:rPr>
                          <m:t>log</m:t>
                        </m:r>
                      </m:fName>
                      <m:e>
                        <m:d>
                          <m:dPr>
                            <m:ctrlPr>
                              <a:rPr lang="en-US" sz="2400" b="0" i="1" smtClean="0">
                                <a:latin typeface="Cambria Math" panose="02040503050406030204" pitchFamily="18" charset="0"/>
                              </a:rPr>
                            </m:ctrlPr>
                          </m:dPr>
                          <m:e>
                            <m:r>
                              <a:rPr lang="en-US" sz="2400" b="0" i="1" smtClean="0">
                                <a:latin typeface="Cambria Math" panose="02040503050406030204"/>
                              </a:rPr>
                              <m:t>𝑛</m:t>
                            </m:r>
                            <m:r>
                              <a:rPr lang="en-US" sz="2400" b="0" i="1" smtClean="0">
                                <a:latin typeface="Cambria Math" panose="02040503050406030204"/>
                              </a:rPr>
                              <m:t>+1</m:t>
                            </m:r>
                          </m:e>
                        </m:d>
                      </m:e>
                    </m:func>
                  </m:oMath>
                </a14:m>
                <a:endParaRPr lang="en-US" sz="2400" b="1" dirty="0"/>
              </a:p>
              <a:p>
                <a:pPr marL="0" indent="0">
                  <a:buNone/>
                </a:pPr>
                <a:r>
                  <a:rPr lang="en-US" sz="2400" b="1" dirty="0"/>
                  <a:t>Proof:</a:t>
                </a:r>
              </a:p>
              <a:p>
                <a:pPr marL="457200" indent="-457200">
                  <a:buFont typeface="+mj-lt"/>
                  <a:buAutoNum type="arabicPeriod"/>
                </a:pPr>
                <a:r>
                  <a:rPr lang="en-US" sz="2400" dirty="0"/>
                  <a:t>Need to show that internal nodes of subtree rooted at any node </a:t>
                </a:r>
                <a14:m>
                  <m:oMath xmlns:m="http://schemas.openxmlformats.org/officeDocument/2006/math">
                    <m:r>
                      <a:rPr lang="en-US" sz="2400" i="1" dirty="0" smtClean="0">
                        <a:latin typeface="Cambria Math" panose="02040503050406030204"/>
                      </a:rPr>
                      <m:t>𝑥</m:t>
                    </m:r>
                  </m:oMath>
                </a14:m>
                <a:r>
                  <a:rPr lang="en-US" sz="2400" dirty="0"/>
                  <a:t> is at least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a:rPr>
                          <m:t>2</m:t>
                        </m:r>
                      </m:e>
                      <m:sup>
                        <m:r>
                          <a:rPr lang="en-US" sz="2400" b="0" i="1" smtClean="0">
                            <a:latin typeface="Cambria Math" panose="02040503050406030204"/>
                          </a:rPr>
                          <m:t>𝑏h</m:t>
                        </m:r>
                        <m:d>
                          <m:dPr>
                            <m:ctrlPr>
                              <a:rPr lang="en-US" sz="2400" b="0" i="1" smtClean="0">
                                <a:latin typeface="Cambria Math" panose="02040503050406030204" pitchFamily="18" charset="0"/>
                              </a:rPr>
                            </m:ctrlPr>
                          </m:dPr>
                          <m:e>
                            <m:r>
                              <a:rPr lang="en-US" sz="2400" b="0" i="1" smtClean="0">
                                <a:latin typeface="Cambria Math" panose="02040503050406030204"/>
                              </a:rPr>
                              <m:t>𝑥</m:t>
                            </m:r>
                          </m:e>
                        </m:d>
                      </m:sup>
                    </m:sSup>
                    <m:r>
                      <a:rPr lang="en-US" sz="2400" b="0" i="1" smtClean="0">
                        <a:latin typeface="Cambria Math" panose="02040503050406030204"/>
                      </a:rPr>
                      <m:t>−1</m:t>
                    </m:r>
                  </m:oMath>
                </a14:m>
                <a:r>
                  <a:rPr lang="en-US" sz="2400" dirty="0"/>
                  <a:t>.</a:t>
                </a:r>
                <a:br>
                  <a:rPr lang="en-US" sz="2400" dirty="0"/>
                </a:br>
                <a:r>
                  <a:rPr lang="en-US" sz="2400" dirty="0"/>
                  <a:t>Proof by induction:</a:t>
                </a:r>
              </a:p>
              <a:p>
                <a:pPr marL="914400" lvl="1" indent="-457200">
                  <a:buFont typeface="+mj-lt"/>
                  <a:buAutoNum type="arabicPeriod"/>
                </a:pPr>
                <a:r>
                  <a:rPr lang="en-US" sz="2000" dirty="0"/>
                  <a:t>Base: if </a:t>
                </a:r>
                <a14:m>
                  <m:oMath xmlns:m="http://schemas.openxmlformats.org/officeDocument/2006/math">
                    <m:r>
                      <a:rPr lang="en-US" sz="2000" b="0" i="1" smtClean="0">
                        <a:latin typeface="Cambria Math" panose="02040503050406030204"/>
                      </a:rPr>
                      <m:t>h</m:t>
                    </m:r>
                    <m:d>
                      <m:dPr>
                        <m:ctrlPr>
                          <a:rPr lang="en-US" sz="2000" b="0" i="1" smtClean="0">
                            <a:latin typeface="Cambria Math" panose="02040503050406030204" pitchFamily="18" charset="0"/>
                          </a:rPr>
                        </m:ctrlPr>
                      </m:dPr>
                      <m:e>
                        <m:r>
                          <a:rPr lang="en-US" sz="2000" b="0" i="1" smtClean="0">
                            <a:latin typeface="Cambria Math" panose="02040503050406030204"/>
                          </a:rPr>
                          <m:t>𝑥</m:t>
                        </m:r>
                      </m:e>
                    </m:d>
                    <m:r>
                      <a:rPr lang="en-US" sz="2000" b="0" i="1" smtClean="0">
                        <a:latin typeface="Cambria Math" panose="02040503050406030204"/>
                      </a:rPr>
                      <m:t>=0</m:t>
                    </m:r>
                  </m:oMath>
                </a14:m>
                <a:r>
                  <a:rPr lang="en-US" sz="2000" dirty="0"/>
                  <a:t> (i.e. </a:t>
                </a:r>
                <a14:m>
                  <m:oMath xmlns:m="http://schemas.openxmlformats.org/officeDocument/2006/math">
                    <m:r>
                      <a:rPr lang="en-US" sz="2000" i="1" dirty="0">
                        <a:latin typeface="Cambria Math" panose="02040503050406030204"/>
                      </a:rPr>
                      <m:t>𝑥</m:t>
                    </m:r>
                  </m:oMath>
                </a14:m>
                <a:r>
                  <a:rPr lang="en-US" sz="2000" dirty="0"/>
                  <a:t> is a leaf – </a:t>
                </a:r>
                <a14:m>
                  <m:oMath xmlns:m="http://schemas.openxmlformats.org/officeDocument/2006/math">
                    <m:r>
                      <a:rPr lang="en-US" sz="2000" i="1" dirty="0" smtClean="0">
                        <a:latin typeface="Cambria Math" panose="02040503050406030204"/>
                      </a:rPr>
                      <m:t>𝑇</m:t>
                    </m:r>
                    <m:r>
                      <a:rPr lang="en-US" sz="2000" i="1" dirty="0" smtClean="0">
                        <a:latin typeface="Cambria Math" panose="02040503050406030204"/>
                      </a:rPr>
                      <m:t>.</m:t>
                    </m:r>
                    <m:r>
                      <a:rPr lang="en-US" sz="2000" i="1" dirty="0" smtClean="0">
                        <a:latin typeface="Cambria Math" panose="02040503050406030204"/>
                      </a:rPr>
                      <m:t>𝑛𝑖𝑙</m:t>
                    </m:r>
                  </m:oMath>
                </a14:m>
                <a:r>
                  <a:rPr lang="en-US" sz="2000" dirty="0"/>
                  <a:t>) then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a:rPr>
                          <m:t>2</m:t>
                        </m:r>
                      </m:e>
                      <m:sup>
                        <m:r>
                          <a:rPr lang="en-US" sz="2000" i="1">
                            <a:latin typeface="Cambria Math" panose="02040503050406030204"/>
                          </a:rPr>
                          <m:t>𝑏h</m:t>
                        </m:r>
                        <m:d>
                          <m:dPr>
                            <m:ctrlPr>
                              <a:rPr lang="en-US" sz="2000" i="1">
                                <a:latin typeface="Cambria Math" panose="02040503050406030204" pitchFamily="18" charset="0"/>
                              </a:rPr>
                            </m:ctrlPr>
                          </m:dPr>
                          <m:e>
                            <m:r>
                              <a:rPr lang="en-US" sz="2000" i="1">
                                <a:latin typeface="Cambria Math" panose="02040503050406030204"/>
                              </a:rPr>
                              <m:t>𝑥</m:t>
                            </m:r>
                          </m:e>
                        </m:d>
                      </m:sup>
                    </m:sSup>
                    <m:r>
                      <a:rPr lang="en-US" sz="2000" i="1">
                        <a:latin typeface="Cambria Math" panose="02040503050406030204"/>
                      </a:rPr>
                      <m:t>−1</m:t>
                    </m:r>
                    <m:r>
                      <a:rPr lang="en-US" sz="2000" b="0" i="1" smtClean="0">
                        <a:latin typeface="Cambria Math" panose="02040503050406030204"/>
                      </a:rPr>
                      <m:t>=</m:t>
                    </m:r>
                    <m:sSup>
                      <m:sSupPr>
                        <m:ctrlPr>
                          <a:rPr lang="en-US" sz="2000" b="0" i="1" smtClean="0">
                            <a:latin typeface="Cambria Math" panose="02040503050406030204" pitchFamily="18" charset="0"/>
                          </a:rPr>
                        </m:ctrlPr>
                      </m:sSupPr>
                      <m:e>
                        <m:r>
                          <a:rPr lang="en-US" sz="2000" b="0" i="1" smtClean="0">
                            <a:latin typeface="Cambria Math" panose="02040503050406030204"/>
                          </a:rPr>
                          <m:t>2</m:t>
                        </m:r>
                      </m:e>
                      <m:sup>
                        <m:r>
                          <a:rPr lang="en-US" sz="2000" b="0" i="1" smtClean="0">
                            <a:latin typeface="Cambria Math" panose="02040503050406030204"/>
                          </a:rPr>
                          <m:t>0</m:t>
                        </m:r>
                      </m:sup>
                    </m:sSup>
                    <m:r>
                      <a:rPr lang="en-US" sz="2000" b="0" i="1" smtClean="0">
                        <a:latin typeface="Cambria Math" panose="02040503050406030204"/>
                      </a:rPr>
                      <m:t>−1=0</m:t>
                    </m:r>
                  </m:oMath>
                </a14:m>
                <a:endParaRPr lang="en-US" sz="2000" dirty="0"/>
              </a:p>
              <a:p>
                <a:pPr marL="914400" lvl="1" indent="-457200">
                  <a:buFont typeface="+mj-lt"/>
                  <a:buAutoNum type="arabicPeriod"/>
                </a:pPr>
                <a:r>
                  <a:rPr lang="en-US" sz="2000" dirty="0"/>
                  <a:t>Induction step: Each child of node </a:t>
                </a:r>
                <a14:m>
                  <m:oMath xmlns:m="http://schemas.openxmlformats.org/officeDocument/2006/math">
                    <m:r>
                      <a:rPr lang="en-US" sz="2000" i="1" dirty="0" smtClean="0">
                        <a:latin typeface="Cambria Math" panose="02040503050406030204"/>
                      </a:rPr>
                      <m:t>𝑥</m:t>
                    </m:r>
                  </m:oMath>
                </a14:m>
                <a:r>
                  <a:rPr lang="en-US" sz="2000" dirty="0"/>
                  <a:t> has a black-heigh </a:t>
                </a:r>
                <a14:m>
                  <m:oMath xmlns:m="http://schemas.openxmlformats.org/officeDocument/2006/math">
                    <m:r>
                      <a:rPr lang="en-US" sz="2000" i="1">
                        <a:latin typeface="Cambria Math" panose="02040503050406030204"/>
                      </a:rPr>
                      <m:t>𝑏h</m:t>
                    </m:r>
                    <m:d>
                      <m:dPr>
                        <m:ctrlPr>
                          <a:rPr lang="en-US" sz="2000" i="1">
                            <a:latin typeface="Cambria Math" panose="02040503050406030204" pitchFamily="18" charset="0"/>
                          </a:rPr>
                        </m:ctrlPr>
                      </m:dPr>
                      <m:e>
                        <m:r>
                          <a:rPr lang="en-US" sz="2000" i="1">
                            <a:latin typeface="Cambria Math" panose="02040503050406030204"/>
                          </a:rPr>
                          <m:t>𝑥</m:t>
                        </m:r>
                      </m:e>
                    </m:d>
                  </m:oMath>
                </a14:m>
                <a:r>
                  <a:rPr lang="en-US" sz="2000" dirty="0"/>
                  <a:t> or </a:t>
                </a:r>
                <a14:m>
                  <m:oMath xmlns:m="http://schemas.openxmlformats.org/officeDocument/2006/math">
                    <m:r>
                      <a:rPr lang="en-US" sz="2000" i="1">
                        <a:latin typeface="Cambria Math" panose="02040503050406030204"/>
                      </a:rPr>
                      <m:t>𝑏h</m:t>
                    </m:r>
                    <m:d>
                      <m:dPr>
                        <m:ctrlPr>
                          <a:rPr lang="en-US" sz="2000" i="1">
                            <a:latin typeface="Cambria Math" panose="02040503050406030204" pitchFamily="18" charset="0"/>
                          </a:rPr>
                        </m:ctrlPr>
                      </m:dPr>
                      <m:e>
                        <m:r>
                          <a:rPr lang="en-US" sz="2000" i="1">
                            <a:latin typeface="Cambria Math" panose="02040503050406030204"/>
                          </a:rPr>
                          <m:t>𝑥</m:t>
                        </m:r>
                      </m:e>
                    </m:d>
                    <m:r>
                      <a:rPr lang="en-US" sz="2000" b="0" i="1" smtClean="0">
                        <a:latin typeface="Cambria Math" panose="02040503050406030204"/>
                      </a:rPr>
                      <m:t>−1</m:t>
                    </m:r>
                  </m:oMath>
                </a14:m>
                <a:r>
                  <a:rPr lang="en-US" sz="2000" dirty="0"/>
                  <a:t>. By assumption, each subtree rooted by a child has at least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a:rPr>
                          <m:t>2</m:t>
                        </m:r>
                      </m:e>
                      <m:sup>
                        <m:r>
                          <a:rPr lang="en-US" sz="2000" i="1">
                            <a:latin typeface="Cambria Math" panose="02040503050406030204"/>
                          </a:rPr>
                          <m:t>𝑏h</m:t>
                        </m:r>
                        <m:d>
                          <m:dPr>
                            <m:ctrlPr>
                              <a:rPr lang="en-US" sz="2000" i="1">
                                <a:latin typeface="Cambria Math" panose="02040503050406030204" pitchFamily="18" charset="0"/>
                              </a:rPr>
                            </m:ctrlPr>
                          </m:dPr>
                          <m:e>
                            <m:r>
                              <a:rPr lang="en-US" sz="2000" i="1">
                                <a:latin typeface="Cambria Math" panose="02040503050406030204"/>
                              </a:rPr>
                              <m:t>𝑥</m:t>
                            </m:r>
                          </m:e>
                        </m:d>
                        <m:r>
                          <a:rPr lang="en-US" sz="2000" b="0" i="1" smtClean="0">
                            <a:latin typeface="Cambria Math" panose="02040503050406030204"/>
                          </a:rPr>
                          <m:t>−1</m:t>
                        </m:r>
                      </m:sup>
                    </m:sSup>
                    <m:r>
                      <a:rPr lang="en-US" sz="2000" i="1">
                        <a:latin typeface="Cambria Math" panose="02040503050406030204"/>
                      </a:rPr>
                      <m:t>−1</m:t>
                    </m:r>
                  </m:oMath>
                </a14:m>
                <a:r>
                  <a:rPr lang="en-US" sz="2000" dirty="0"/>
                  <a:t> internal nodes.</a:t>
                </a:r>
              </a:p>
              <a:p>
                <a:pPr marL="914400" lvl="1" indent="-457200">
                  <a:buFont typeface="+mj-lt"/>
                  <a:buAutoNum type="arabicPeriod"/>
                </a:pPr>
                <a:r>
                  <a:rPr lang="en-US" sz="2000" dirty="0"/>
                  <a:t>Conclusion: The subtree rooted by </a:t>
                </a:r>
                <a14:m>
                  <m:oMath xmlns:m="http://schemas.openxmlformats.org/officeDocument/2006/math">
                    <m:r>
                      <a:rPr lang="en-US" sz="2000" i="1" dirty="0" smtClean="0">
                        <a:latin typeface="Cambria Math" panose="02040503050406030204"/>
                      </a:rPr>
                      <m:t>𝑥</m:t>
                    </m:r>
                  </m:oMath>
                </a14:m>
                <a:r>
                  <a:rPr lang="en-US" sz="2000" dirty="0"/>
                  <a:t> has at least </a:t>
                </a:r>
                <a14:m>
                  <m:oMath xmlns:m="http://schemas.openxmlformats.org/officeDocument/2006/math">
                    <m:r>
                      <a:rPr lang="en-US" sz="2000" b="0" i="0" smtClean="0">
                        <a:latin typeface="Cambria Math" panose="02040503050406030204"/>
                      </a:rPr>
                      <m:t>2∗</m:t>
                    </m:r>
                    <m:d>
                      <m:dPr>
                        <m:ctrlPr>
                          <a:rPr lang="en-US" sz="2000" b="0" i="1" smtClean="0">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a:rPr>
                              <m:t>2</m:t>
                            </m:r>
                          </m:e>
                          <m:sup>
                            <m:r>
                              <a:rPr lang="en-US" sz="2000" i="1">
                                <a:latin typeface="Cambria Math" panose="02040503050406030204"/>
                              </a:rPr>
                              <m:t>𝑏h</m:t>
                            </m:r>
                            <m:d>
                              <m:dPr>
                                <m:ctrlPr>
                                  <a:rPr lang="en-US" sz="2000" i="1">
                                    <a:latin typeface="Cambria Math" panose="02040503050406030204" pitchFamily="18" charset="0"/>
                                  </a:rPr>
                                </m:ctrlPr>
                              </m:dPr>
                              <m:e>
                                <m:r>
                                  <a:rPr lang="en-US" sz="2000" i="1">
                                    <a:latin typeface="Cambria Math" panose="02040503050406030204"/>
                                  </a:rPr>
                                  <m:t>𝑥</m:t>
                                </m:r>
                              </m:e>
                            </m:d>
                            <m:r>
                              <a:rPr lang="en-US" sz="2000" i="1">
                                <a:latin typeface="Cambria Math" panose="02040503050406030204"/>
                              </a:rPr>
                              <m:t>−1</m:t>
                            </m:r>
                          </m:sup>
                        </m:sSup>
                        <m:r>
                          <a:rPr lang="en-US" sz="2000" i="1">
                            <a:latin typeface="Cambria Math" panose="02040503050406030204"/>
                          </a:rPr>
                          <m:t>−1</m:t>
                        </m:r>
                      </m:e>
                    </m:d>
                    <m:r>
                      <a:rPr lang="en-US" sz="2000" b="0" i="1" smtClean="0">
                        <a:latin typeface="Cambria Math" panose="02040503050406030204"/>
                      </a:rPr>
                      <m:t>+</m:t>
                    </m:r>
                    <m:r>
                      <a:rPr lang="en-US" sz="2000" i="1">
                        <a:latin typeface="Cambria Math" panose="02040503050406030204"/>
                      </a:rPr>
                      <m:t>1</m:t>
                    </m:r>
                    <m:r>
                      <a:rPr lang="en-US" sz="2000" b="0" i="1" smtClean="0">
                        <a:latin typeface="Cambria Math" panose="02040503050406030204"/>
                      </a:rPr>
                      <m:t>=</m:t>
                    </m:r>
                    <m:sSup>
                      <m:sSupPr>
                        <m:ctrlPr>
                          <a:rPr lang="en-US" sz="2000" i="1">
                            <a:latin typeface="Cambria Math" panose="02040503050406030204" pitchFamily="18" charset="0"/>
                          </a:rPr>
                        </m:ctrlPr>
                      </m:sSupPr>
                      <m:e>
                        <m:r>
                          <a:rPr lang="en-US" sz="2000" i="1">
                            <a:latin typeface="Cambria Math" panose="02040503050406030204"/>
                          </a:rPr>
                          <m:t>2</m:t>
                        </m:r>
                      </m:e>
                      <m:sup>
                        <m:r>
                          <a:rPr lang="en-US" sz="2000" i="1">
                            <a:latin typeface="Cambria Math" panose="02040503050406030204"/>
                          </a:rPr>
                          <m:t>𝑏h</m:t>
                        </m:r>
                        <m:d>
                          <m:dPr>
                            <m:ctrlPr>
                              <a:rPr lang="en-US" sz="2000" i="1">
                                <a:latin typeface="Cambria Math" panose="02040503050406030204" pitchFamily="18" charset="0"/>
                              </a:rPr>
                            </m:ctrlPr>
                          </m:dPr>
                          <m:e>
                            <m:r>
                              <a:rPr lang="en-US" sz="2000" i="1">
                                <a:latin typeface="Cambria Math" panose="02040503050406030204"/>
                              </a:rPr>
                              <m:t>𝑥</m:t>
                            </m:r>
                          </m:e>
                        </m:d>
                      </m:sup>
                    </m:sSup>
                    <m:r>
                      <a:rPr lang="en-US" sz="2000" i="1">
                        <a:latin typeface="Cambria Math" panose="02040503050406030204"/>
                      </a:rPr>
                      <m:t>−1</m:t>
                    </m:r>
                  </m:oMath>
                </a14:m>
                <a:r>
                  <a:rPr lang="en-US" sz="2000" dirty="0"/>
                  <a:t> internal nodes. </a:t>
                </a:r>
                <a14:m>
                  <m:oMath xmlns:m="http://schemas.openxmlformats.org/officeDocument/2006/math">
                    <m:r>
                      <a:rPr lang="en-US" sz="2000" b="0" i="1" smtClean="0">
                        <a:latin typeface="Cambria Math" panose="02040503050406030204"/>
                      </a:rPr>
                      <m:t>𝑛</m:t>
                    </m:r>
                    <m:r>
                      <a:rPr lang="en-US" sz="2000" b="0" i="1" smtClean="0">
                        <a:latin typeface="Cambria Math" panose="02040503050406030204"/>
                      </a:rPr>
                      <m:t>≥</m:t>
                    </m:r>
                    <m:sSup>
                      <m:sSupPr>
                        <m:ctrlPr>
                          <a:rPr lang="en-US" sz="2000" i="1">
                            <a:latin typeface="Cambria Math" panose="02040503050406030204" pitchFamily="18" charset="0"/>
                          </a:rPr>
                        </m:ctrlPr>
                      </m:sSupPr>
                      <m:e>
                        <m:r>
                          <a:rPr lang="en-US" sz="2000" i="1">
                            <a:latin typeface="Cambria Math" panose="02040503050406030204"/>
                          </a:rPr>
                          <m:t>2</m:t>
                        </m:r>
                      </m:e>
                      <m:sup>
                        <m:r>
                          <a:rPr lang="en-US" sz="2000" i="1">
                            <a:latin typeface="Cambria Math" panose="02040503050406030204"/>
                          </a:rPr>
                          <m:t>𝑏h</m:t>
                        </m:r>
                        <m:d>
                          <m:dPr>
                            <m:ctrlPr>
                              <a:rPr lang="en-US" sz="2000" i="1">
                                <a:latin typeface="Cambria Math" panose="02040503050406030204" pitchFamily="18" charset="0"/>
                              </a:rPr>
                            </m:ctrlPr>
                          </m:dPr>
                          <m:e>
                            <m:r>
                              <a:rPr lang="en-US" sz="2000" i="1">
                                <a:latin typeface="Cambria Math" panose="02040503050406030204"/>
                              </a:rPr>
                              <m:t>𝑥</m:t>
                            </m:r>
                          </m:e>
                        </m:d>
                      </m:sup>
                    </m:sSup>
                    <m:r>
                      <a:rPr lang="en-US" sz="2000" i="1">
                        <a:latin typeface="Cambria Math" panose="02040503050406030204"/>
                      </a:rPr>
                      <m:t>−1</m:t>
                    </m:r>
                  </m:oMath>
                </a14:m>
                <a:r>
                  <a:rPr lang="en-US" sz="2000" dirty="0"/>
                  <a:t>;</a:t>
                </a:r>
              </a:p>
              <a:p>
                <a:pPr marL="457200" indent="-457200">
                  <a:buFont typeface="+mj-lt"/>
                  <a:buAutoNum type="arabicPeriod"/>
                </a:pPr>
                <a14:m>
                  <m:oMath xmlns:m="http://schemas.openxmlformats.org/officeDocument/2006/math">
                    <m:f>
                      <m:fPr>
                        <m:type m:val="lin"/>
                        <m:ctrlPr>
                          <a:rPr lang="en-US" sz="2400" b="0" i="1" smtClean="0">
                            <a:latin typeface="Cambria Math" panose="02040503050406030204" pitchFamily="18" charset="0"/>
                          </a:rPr>
                        </m:ctrlPr>
                      </m:fPr>
                      <m:num>
                        <m:r>
                          <a:rPr lang="en-US" sz="2400" b="0" i="1" smtClean="0">
                            <a:latin typeface="Cambria Math" panose="02040503050406030204"/>
                          </a:rPr>
                          <m:t>h</m:t>
                        </m:r>
                      </m:num>
                      <m:den>
                        <m:r>
                          <a:rPr lang="en-US" sz="2400" b="0" i="1" smtClean="0">
                            <a:latin typeface="Cambria Math" panose="02040503050406030204"/>
                          </a:rPr>
                          <m:t>2</m:t>
                        </m:r>
                      </m:den>
                    </m:f>
                    <m:r>
                      <a:rPr lang="en-US" sz="2400" b="0" i="1" smtClean="0">
                        <a:latin typeface="Cambria Math" panose="02040503050406030204"/>
                      </a:rPr>
                      <m:t>≤</m:t>
                    </m:r>
                    <m:r>
                      <a:rPr lang="en-US" sz="2400" b="0" i="1" smtClean="0">
                        <a:latin typeface="Cambria Math" panose="02040503050406030204"/>
                      </a:rPr>
                      <m:t>𝑏h</m:t>
                    </m:r>
                    <m:d>
                      <m:dPr>
                        <m:ctrlPr>
                          <a:rPr lang="en-US" sz="2400" b="0" i="1" smtClean="0">
                            <a:latin typeface="Cambria Math" panose="02040503050406030204" pitchFamily="18" charset="0"/>
                          </a:rPr>
                        </m:ctrlPr>
                      </m:dPr>
                      <m:e>
                        <m:r>
                          <a:rPr lang="en-US" sz="2400" b="0" i="1" smtClean="0">
                            <a:latin typeface="Cambria Math" panose="02040503050406030204"/>
                          </a:rPr>
                          <m:t>𝑇</m:t>
                        </m:r>
                        <m:r>
                          <a:rPr lang="en-US" sz="2400" b="0" i="1" smtClean="0">
                            <a:latin typeface="Cambria Math" panose="02040503050406030204"/>
                          </a:rPr>
                          <m:t>.</m:t>
                        </m:r>
                        <m:r>
                          <a:rPr lang="en-US" sz="2400" b="0" i="1" smtClean="0">
                            <a:latin typeface="Cambria Math" panose="02040503050406030204"/>
                          </a:rPr>
                          <m:t>𝑟𝑜𝑜𝑡</m:t>
                        </m:r>
                      </m:e>
                    </m:d>
                    <m:r>
                      <a:rPr lang="en-US" sz="2400" b="0" i="1" smtClean="0">
                        <a:latin typeface="Cambria Math" panose="02040503050406030204"/>
                      </a:rPr>
                      <m:t>⇒</m:t>
                    </m:r>
                  </m:oMath>
                </a14:m>
                <a:r>
                  <a:rPr lang="en-US" sz="2400" dirty="0"/>
                  <a:t> </a:t>
                </a:r>
                <a14:m>
                  <m:oMath xmlns:m="http://schemas.openxmlformats.org/officeDocument/2006/math">
                    <m:sSup>
                      <m:sSupPr>
                        <m:ctrlPr>
                          <a:rPr lang="en-US" sz="2400" b="0" i="1" dirty="0" smtClean="0">
                            <a:latin typeface="Cambria Math" panose="02040503050406030204" pitchFamily="18" charset="0"/>
                          </a:rPr>
                        </m:ctrlPr>
                      </m:sSupPr>
                      <m:e>
                        <m:r>
                          <a:rPr lang="en-US" sz="2400" b="0" i="1" dirty="0" smtClean="0">
                            <a:latin typeface="Cambria Math" panose="02040503050406030204"/>
                          </a:rPr>
                          <m:t>2</m:t>
                        </m:r>
                      </m:e>
                      <m:sup>
                        <m:r>
                          <a:rPr lang="en-US" sz="2400" b="0" i="1" dirty="0" smtClean="0">
                            <a:latin typeface="Cambria Math" panose="02040503050406030204"/>
                          </a:rPr>
                          <m:t>h</m:t>
                        </m:r>
                        <m:r>
                          <a:rPr lang="en-US" sz="2400" b="0" i="1" dirty="0" smtClean="0">
                            <a:latin typeface="Cambria Math" panose="02040503050406030204"/>
                          </a:rPr>
                          <m:t>/2</m:t>
                        </m:r>
                      </m:sup>
                    </m:sSup>
                    <m:r>
                      <a:rPr lang="en-US" sz="2400" b="0" i="1" dirty="0" smtClean="0">
                        <a:latin typeface="Cambria Math" panose="02040503050406030204"/>
                      </a:rPr>
                      <m:t>−1≤</m:t>
                    </m:r>
                    <m:r>
                      <a:rPr lang="en-US" sz="2400" b="0" i="1" dirty="0" smtClean="0">
                        <a:latin typeface="Cambria Math" panose="02040503050406030204"/>
                      </a:rPr>
                      <m:t>𝑛</m:t>
                    </m:r>
                    <m:r>
                      <a:rPr lang="en-US" sz="2400" b="0" i="1" dirty="0" smtClean="0">
                        <a:latin typeface="Cambria Math" panose="02040503050406030204"/>
                      </a:rPr>
                      <m:t> </m:t>
                    </m:r>
                    <m:r>
                      <a:rPr lang="en-US" sz="2400" b="1" i="0">
                        <a:latin typeface="Cambria Math" panose="02040503050406030204"/>
                      </a:rPr>
                      <m:t>⇒</m:t>
                    </m:r>
                  </m:oMath>
                </a14:m>
                <a:r>
                  <a:rPr lang="en-US" sz="2400" dirty="0"/>
                  <a:t> </a:t>
                </a:r>
                <a14:m>
                  <m:oMath xmlns:m="http://schemas.openxmlformats.org/officeDocument/2006/math">
                    <m:r>
                      <a:rPr lang="en-US" sz="2400" b="0" i="1" dirty="0" smtClean="0">
                        <a:latin typeface="Cambria Math" panose="02040503050406030204"/>
                      </a:rPr>
                      <m:t>h</m:t>
                    </m:r>
                    <m:r>
                      <a:rPr lang="en-US" sz="2400" b="0" i="1" dirty="0" smtClean="0">
                        <a:latin typeface="Cambria Math" panose="02040503050406030204"/>
                      </a:rPr>
                      <m:t>≤2</m:t>
                    </m:r>
                    <m:func>
                      <m:funcPr>
                        <m:ctrlPr>
                          <a:rPr lang="en-US" sz="2400" b="0" i="1" dirty="0" smtClean="0">
                            <a:latin typeface="Cambria Math" panose="02040503050406030204" pitchFamily="18" charset="0"/>
                          </a:rPr>
                        </m:ctrlPr>
                      </m:funcPr>
                      <m:fName>
                        <m:r>
                          <m:rPr>
                            <m:sty m:val="p"/>
                          </m:rPr>
                          <a:rPr lang="en-US" sz="2400" b="0" i="0" dirty="0" smtClean="0">
                            <a:latin typeface="Cambria Math" panose="02040503050406030204"/>
                          </a:rPr>
                          <m:t>log</m:t>
                        </m:r>
                      </m:fName>
                      <m:e>
                        <m:d>
                          <m:dPr>
                            <m:ctrlPr>
                              <a:rPr lang="en-US" sz="2400" i="1" dirty="0">
                                <a:latin typeface="Cambria Math" panose="02040503050406030204" pitchFamily="18" charset="0"/>
                              </a:rPr>
                            </m:ctrlPr>
                          </m:dPr>
                          <m:e>
                            <m:r>
                              <a:rPr lang="en-US" sz="2400" i="1" dirty="0">
                                <a:latin typeface="Cambria Math" panose="02040503050406030204"/>
                              </a:rPr>
                              <m:t>𝑛</m:t>
                            </m:r>
                            <m:r>
                              <a:rPr lang="en-US" sz="2400" i="1" dirty="0">
                                <a:latin typeface="Cambria Math" panose="02040503050406030204"/>
                              </a:rPr>
                              <m:t>+1</m:t>
                            </m:r>
                          </m:e>
                        </m:d>
                      </m:e>
                    </m:func>
                  </m:oMath>
                </a14:m>
                <a:endParaRPr lang="en-US" sz="2400" dirty="0"/>
              </a:p>
            </p:txBody>
          </p:sp>
        </mc:Choice>
        <mc:Fallback xmlns="">
          <p:sp>
            <p:nvSpPr>
              <p:cNvPr id="3" name="Content Placeholder 2">
                <a:extLst>
                  <a:ext uri="{FF2B5EF4-FFF2-40B4-BE49-F238E27FC236}">
                    <a16:creationId xmlns:a16="http://schemas.microsoft.com/office/drawing/2014/main" id="{2B048D9B-AD67-A313-8C6C-0BB731DBF818}"/>
                  </a:ext>
                </a:extLst>
              </p:cNvPr>
              <p:cNvSpPr>
                <a:spLocks noGrp="1" noRot="1" noChangeAspect="1" noMove="1" noResize="1" noEditPoints="1" noAdjustHandles="1" noChangeArrowheads="1" noChangeShapeType="1" noTextEdit="1"/>
              </p:cNvSpPr>
              <p:nvPr>
                <p:ph idx="1"/>
              </p:nvPr>
            </p:nvSpPr>
            <p:spPr>
              <a:blipFill>
                <a:blip r:embed="rId2"/>
                <a:stretch>
                  <a:fillRect l="-928" t="-1961" r="-232" b="-15546"/>
                </a:stretch>
              </a:blipFill>
            </p:spPr>
            <p:txBody>
              <a:bodyPr/>
              <a:lstStyle/>
              <a:p>
                <a:r>
                  <a:rPr lang="en-US">
                    <a:noFill/>
                  </a:rPr>
                  <a:t> </a:t>
                </a:r>
              </a:p>
            </p:txBody>
          </p:sp>
        </mc:Fallback>
      </mc:AlternateContent>
    </p:spTree>
    <p:extLst>
      <p:ext uri="{BB962C8B-B14F-4D97-AF65-F5344CB8AC3E}">
        <p14:creationId xmlns:p14="http://schemas.microsoft.com/office/powerpoint/2010/main" val="1447521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2E0D5-05C9-B572-E48C-1820EF0E9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54078-7312-CF29-433E-EF3199006EFC}"/>
              </a:ext>
            </a:extLst>
          </p:cNvPr>
          <p:cNvSpPr>
            <a:spLocks noGrp="1"/>
          </p:cNvSpPr>
          <p:nvPr>
            <p:ph type="title"/>
          </p:nvPr>
        </p:nvSpPr>
        <p:spPr/>
        <p:txBody>
          <a:bodyPr/>
          <a:lstStyle/>
          <a:p>
            <a:r>
              <a:rPr lang="en-US" dirty="0"/>
              <a:t>Red-Black Tree: Exercises 1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688003-1D22-0AF6-C508-275438ADC28C}"/>
                  </a:ext>
                </a:extLst>
              </p:cNvPr>
              <p:cNvSpPr>
                <a:spLocks noGrp="1"/>
              </p:cNvSpPr>
              <p:nvPr>
                <p:ph idx="1"/>
              </p:nvPr>
            </p:nvSpPr>
            <p:spPr>
              <a:xfrm>
                <a:off x="838200" y="1825625"/>
                <a:ext cx="10515600" cy="1717828"/>
              </a:xfrm>
            </p:spPr>
            <p:txBody>
              <a:bodyPr>
                <a:normAutofit/>
              </a:bodyPr>
              <a:lstStyle/>
              <a:p>
                <a:pPr marL="342900" indent="-342900">
                  <a:buFont typeface="+mj-lt"/>
                  <a:buAutoNum type="arabicPeriod"/>
                </a:pPr>
                <a:r>
                  <a:rPr lang="en-US" sz="2400" dirty="0"/>
                  <a:t>True or False: A Red-Black Tree can be perfectly balanced.</a:t>
                </a:r>
              </a:p>
              <a:p>
                <a:pPr marL="342900" indent="-342900">
                  <a:buFont typeface="+mj-lt"/>
                  <a:buAutoNum type="arabicPeriod"/>
                </a:pPr>
                <a:r>
                  <a:rPr lang="en-US" sz="2400" dirty="0"/>
                  <a:t>What is the largest possible number of internal nodes in a red-black tree with black-height </a:t>
                </a:r>
                <a14:m>
                  <m:oMath xmlns:m="http://schemas.openxmlformats.org/officeDocument/2006/math">
                    <m:r>
                      <a:rPr lang="en-US" sz="2400" dirty="0">
                        <a:latin typeface="Cambria Math" panose="02040503050406030204" pitchFamily="18" charset="0"/>
                      </a:rPr>
                      <m:t>𝑘</m:t>
                    </m:r>
                  </m:oMath>
                </a14:m>
                <a:r>
                  <a:rPr lang="en-US" sz="2400" dirty="0"/>
                  <a:t>? What is the smallest possible number?</a:t>
                </a:r>
              </a:p>
              <a:p>
                <a:pPr marL="342900" indent="-342900" algn="l">
                  <a:buFont typeface="+mj-lt"/>
                  <a:buAutoNum type="arabicPeriod"/>
                </a:pPr>
                <a:r>
                  <a:rPr lang="en-US" sz="2400" dirty="0"/>
                  <a:t>Add 36 to the following tree. Examine 2 cases: inserted node is red and black</a:t>
                </a:r>
              </a:p>
            </p:txBody>
          </p:sp>
        </mc:Choice>
        <mc:Fallback xmlns="">
          <p:sp>
            <p:nvSpPr>
              <p:cNvPr id="3" name="Content Placeholder 2">
                <a:extLst>
                  <a:ext uri="{FF2B5EF4-FFF2-40B4-BE49-F238E27FC236}">
                    <a16:creationId xmlns:a16="http://schemas.microsoft.com/office/drawing/2014/main" id="{DB688003-1D22-0AF6-C508-275438ADC28C}"/>
                  </a:ext>
                </a:extLst>
              </p:cNvPr>
              <p:cNvSpPr>
                <a:spLocks noGrp="1" noRot="1" noChangeAspect="1" noMove="1" noResize="1" noEditPoints="1" noAdjustHandles="1" noChangeArrowheads="1" noChangeShapeType="1" noTextEdit="1"/>
              </p:cNvSpPr>
              <p:nvPr>
                <p:ph idx="1"/>
              </p:nvPr>
            </p:nvSpPr>
            <p:spPr>
              <a:xfrm>
                <a:off x="838200" y="1825625"/>
                <a:ext cx="10515600" cy="1717828"/>
              </a:xfrm>
              <a:blipFill>
                <a:blip r:embed="rId3"/>
                <a:stretch>
                  <a:fillRect l="-928" t="-5319" b="-4965"/>
                </a:stretch>
              </a:blipFill>
            </p:spPr>
            <p:txBody>
              <a:bodyPr/>
              <a:lstStyle/>
              <a:p>
                <a:r>
                  <a:rPr lang="en-US">
                    <a:noFill/>
                  </a:rPr>
                  <a:t> </a:t>
                </a:r>
              </a:p>
            </p:txBody>
          </p:sp>
        </mc:Fallback>
      </mc:AlternateContent>
      <p:pic>
        <p:nvPicPr>
          <p:cNvPr id="4" name="Content Placeholder 11">
            <a:extLst>
              <a:ext uri="{FF2B5EF4-FFF2-40B4-BE49-F238E27FC236}">
                <a16:creationId xmlns:a16="http://schemas.microsoft.com/office/drawing/2014/main" id="{3C29663D-2B40-B0C8-85D3-24AAEB3370E7}"/>
              </a:ext>
            </a:extLst>
          </p:cNvPr>
          <p:cNvPicPr>
            <a:picLocks noChangeAspect="1"/>
          </p:cNvPicPr>
          <p:nvPr/>
        </p:nvPicPr>
        <p:blipFill>
          <a:blip r:embed="rId4"/>
          <a:stretch>
            <a:fillRect/>
          </a:stretch>
        </p:blipFill>
        <p:spPr>
          <a:xfrm>
            <a:off x="838200" y="3543453"/>
            <a:ext cx="10524691" cy="2949422"/>
          </a:xfrm>
          <a:prstGeom prst="rect">
            <a:avLst/>
          </a:prstGeom>
        </p:spPr>
      </p:pic>
    </p:spTree>
    <p:extLst>
      <p:ext uri="{BB962C8B-B14F-4D97-AF65-F5344CB8AC3E}">
        <p14:creationId xmlns:p14="http://schemas.microsoft.com/office/powerpoint/2010/main" val="1602634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013C-EA1B-E746-C849-16EA52FE1B58}"/>
              </a:ext>
            </a:extLst>
          </p:cNvPr>
          <p:cNvSpPr>
            <a:spLocks noGrp="1"/>
          </p:cNvSpPr>
          <p:nvPr>
            <p:ph type="title"/>
          </p:nvPr>
        </p:nvSpPr>
        <p:spPr/>
        <p:txBody>
          <a:bodyPr/>
          <a:lstStyle/>
          <a:p>
            <a:r>
              <a:rPr lang="en-US" dirty="0"/>
              <a:t>Red-Black Tree: Rotations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4418C0-96DC-8E4B-0592-7763AE01AACC}"/>
                  </a:ext>
                </a:extLst>
              </p:cNvPr>
              <p:cNvSpPr>
                <a:spLocks noGrp="1"/>
              </p:cNvSpPr>
              <p:nvPr>
                <p:ph idx="1"/>
              </p:nvPr>
            </p:nvSpPr>
            <p:spPr>
              <a:xfrm>
                <a:off x="838200" y="1825626"/>
                <a:ext cx="10515600" cy="2210916"/>
              </a:xfrm>
            </p:spPr>
            <p:txBody>
              <a:bodyPr/>
              <a:lstStyle/>
              <a:p>
                <a:pPr marL="0" indent="0" algn="just">
                  <a:buNone/>
                </a:pPr>
                <a:r>
                  <a:rPr lang="en-US" sz="1800" b="0" i="0" u="none" strike="noStrike" baseline="0" dirty="0"/>
                  <a:t>Because </a:t>
                </a:r>
                <a14:m>
                  <m:oMath xmlns:m="http://schemas.openxmlformats.org/officeDocument/2006/math">
                    <m:r>
                      <a:rPr lang="en-US" sz="1800" b="0" i="1" u="none" strike="noStrike" baseline="0" dirty="0" smtClean="0">
                        <a:latin typeface="Cambria Math" panose="02040503050406030204" pitchFamily="18" charset="0"/>
                      </a:rPr>
                      <m:t>𝑇𝑅𝐸𝐸</m:t>
                    </m:r>
                    <m:r>
                      <a:rPr lang="en-US" sz="1800" b="0" i="1" u="none" strike="noStrike" baseline="0" dirty="0" smtClean="0">
                        <a:latin typeface="Cambria Math" panose="02040503050406030204" pitchFamily="18" charset="0"/>
                      </a:rPr>
                      <m:t>−</m:t>
                    </m:r>
                    <m:r>
                      <a:rPr lang="en-US" sz="1800" b="0" i="1" u="none" strike="noStrike" baseline="0" dirty="0" smtClean="0">
                        <a:latin typeface="Cambria Math" panose="02040503050406030204" pitchFamily="18" charset="0"/>
                      </a:rPr>
                      <m:t>𝐼𝑁𝑆𝐸𝑅𝑇</m:t>
                    </m:r>
                  </m:oMath>
                </a14:m>
                <a:r>
                  <a:rPr lang="en-US" sz="1800" b="0" i="0" u="none" strike="noStrike" baseline="0" dirty="0"/>
                  <a:t> and </a:t>
                </a:r>
                <a14:m>
                  <m:oMath xmlns:m="http://schemas.openxmlformats.org/officeDocument/2006/math">
                    <m:r>
                      <a:rPr lang="en-US" sz="1800" b="0" i="1" u="none" strike="noStrike" baseline="0" dirty="0" smtClean="0">
                        <a:latin typeface="Cambria Math" panose="02040503050406030204" pitchFamily="18" charset="0"/>
                      </a:rPr>
                      <m:t>𝑇𝑅𝐸𝐸</m:t>
                    </m:r>
                    <m:r>
                      <a:rPr lang="en-US" sz="1800" b="0" i="1" u="none" strike="noStrike" baseline="0" dirty="0" smtClean="0">
                        <a:latin typeface="Cambria Math" panose="02040503050406030204" pitchFamily="18" charset="0"/>
                      </a:rPr>
                      <m:t>−</m:t>
                    </m:r>
                    <m:r>
                      <a:rPr lang="en-US" sz="1800" b="0" i="1" u="none" strike="noStrike" baseline="0" dirty="0" smtClean="0">
                        <a:latin typeface="Cambria Math" panose="02040503050406030204" pitchFamily="18" charset="0"/>
                      </a:rPr>
                      <m:t>𝐷𝐸𝐿𝐸𝑇𝐸</m:t>
                    </m:r>
                  </m:oMath>
                </a14:m>
                <a:r>
                  <a:rPr lang="en-US" sz="1800" b="0" i="0" u="none" strike="noStrike" baseline="0" dirty="0"/>
                  <a:t> modify the tree, the result may violate the red-black properties. </a:t>
                </a:r>
              </a:p>
              <a:p>
                <a:pPr marL="0" indent="0" algn="just">
                  <a:buNone/>
                </a:pPr>
                <a:r>
                  <a:rPr lang="en-US" sz="1800" b="0" i="0" u="none" strike="noStrike" baseline="0" dirty="0"/>
                  <a:t>To restore these properties, we must change</a:t>
                </a:r>
              </a:p>
              <a:p>
                <a:pPr marL="342900" indent="-342900" algn="just">
                  <a:buFont typeface="+mj-lt"/>
                  <a:buAutoNum type="arabicPeriod"/>
                </a:pPr>
                <a:r>
                  <a:rPr lang="en-US" sz="1800" b="0" i="0" u="none" strike="noStrike" baseline="0" dirty="0"/>
                  <a:t>the colors of some of the nodes in the tree </a:t>
                </a:r>
              </a:p>
              <a:p>
                <a:pPr marL="342900" indent="-342900" algn="just">
                  <a:buFont typeface="+mj-lt"/>
                  <a:buAutoNum type="arabicPeriod"/>
                </a:pPr>
                <a:r>
                  <a:rPr lang="en-US" sz="1800" b="0" i="0" u="none" strike="noStrike" baseline="0" dirty="0"/>
                  <a:t>the pointer structure </a:t>
                </a:r>
                <a:r>
                  <a:rPr lang="en-US" sz="1800" i="0" u="none" strike="noStrike" baseline="0" dirty="0"/>
                  <a:t>(rotate).</a:t>
                </a:r>
              </a:p>
              <a:p>
                <a:pPr marL="0" indent="0" algn="just">
                  <a:buNone/>
                </a:pPr>
                <a:r>
                  <a:rPr lang="en-US" sz="1800" b="1" dirty="0"/>
                  <a:t>Rotation </a:t>
                </a:r>
                <a:r>
                  <a:rPr lang="en-US" sz="1800" dirty="0"/>
                  <a:t>operation change the pointer structure that preserves the binary-search-tree invariants.</a:t>
                </a:r>
                <a:endParaRPr lang="en-US" b="1" dirty="0"/>
              </a:p>
            </p:txBody>
          </p:sp>
        </mc:Choice>
        <mc:Fallback xmlns="">
          <p:sp>
            <p:nvSpPr>
              <p:cNvPr id="3" name="Content Placeholder 2">
                <a:extLst>
                  <a:ext uri="{FF2B5EF4-FFF2-40B4-BE49-F238E27FC236}">
                    <a16:creationId xmlns:a16="http://schemas.microsoft.com/office/drawing/2014/main" id="{8B4418C0-96DC-8E4B-0592-7763AE01AACC}"/>
                  </a:ext>
                </a:extLst>
              </p:cNvPr>
              <p:cNvSpPr>
                <a:spLocks noGrp="1" noRot="1" noChangeAspect="1" noMove="1" noResize="1" noEditPoints="1" noAdjustHandles="1" noChangeArrowheads="1" noChangeShapeType="1" noTextEdit="1"/>
              </p:cNvSpPr>
              <p:nvPr>
                <p:ph idx="1"/>
              </p:nvPr>
            </p:nvSpPr>
            <p:spPr>
              <a:xfrm>
                <a:off x="838200" y="1825626"/>
                <a:ext cx="10515600" cy="2210916"/>
              </a:xfrm>
              <a:blipFill>
                <a:blip r:embed="rId2"/>
                <a:stretch>
                  <a:fillRect l="-522" t="-2479" r="-46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758ABAF-F739-55A6-31DB-28B5230BD92F}"/>
              </a:ext>
            </a:extLst>
          </p:cNvPr>
          <p:cNvPicPr>
            <a:picLocks noChangeAspect="1"/>
          </p:cNvPicPr>
          <p:nvPr/>
        </p:nvPicPr>
        <p:blipFill>
          <a:blip r:embed="rId3"/>
          <a:stretch>
            <a:fillRect/>
          </a:stretch>
        </p:blipFill>
        <p:spPr>
          <a:xfrm>
            <a:off x="2704626" y="4055181"/>
            <a:ext cx="6782747" cy="2053343"/>
          </a:xfrm>
          <a:prstGeom prst="rect">
            <a:avLst/>
          </a:prstGeom>
        </p:spPr>
      </p:pic>
    </p:spTree>
    <p:extLst>
      <p:ext uri="{BB962C8B-B14F-4D97-AF65-F5344CB8AC3E}">
        <p14:creationId xmlns:p14="http://schemas.microsoft.com/office/powerpoint/2010/main" val="399322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BF29C-76F8-62CB-A60C-BF159FC9A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5EAE3-5BD1-EC8E-3CD1-AA2550A0DA7C}"/>
              </a:ext>
            </a:extLst>
          </p:cNvPr>
          <p:cNvSpPr>
            <a:spLocks noGrp="1"/>
          </p:cNvSpPr>
          <p:nvPr>
            <p:ph type="title"/>
          </p:nvPr>
        </p:nvSpPr>
        <p:spPr>
          <a:xfrm>
            <a:off x="393357" y="299222"/>
            <a:ext cx="10515600" cy="1325563"/>
          </a:xfrm>
        </p:spPr>
        <p:txBody>
          <a:bodyPr/>
          <a:lstStyle/>
          <a:p>
            <a:r>
              <a:rPr lang="en-US" dirty="0"/>
              <a:t>Red-Black Tree: Left Rotate</a:t>
            </a:r>
          </a:p>
        </p:txBody>
      </p:sp>
      <p:pic>
        <p:nvPicPr>
          <p:cNvPr id="8" name="Content Placeholder 7">
            <a:extLst>
              <a:ext uri="{FF2B5EF4-FFF2-40B4-BE49-F238E27FC236}">
                <a16:creationId xmlns:a16="http://schemas.microsoft.com/office/drawing/2014/main" id="{046BA32F-CB37-F3B7-6AB4-65E84552E0DE}"/>
              </a:ext>
            </a:extLst>
          </p:cNvPr>
          <p:cNvPicPr>
            <a:picLocks noGrp="1" noChangeAspect="1"/>
          </p:cNvPicPr>
          <p:nvPr>
            <p:ph sz="half" idx="1"/>
          </p:nvPr>
        </p:nvPicPr>
        <p:blipFill>
          <a:blip r:embed="rId3"/>
          <a:stretch>
            <a:fillRect/>
          </a:stretch>
        </p:blipFill>
        <p:spPr>
          <a:xfrm>
            <a:off x="393357" y="1690688"/>
            <a:ext cx="2759649" cy="4351338"/>
          </a:xfrm>
        </p:spPr>
      </p:pic>
      <p:pic>
        <p:nvPicPr>
          <p:cNvPr id="6" name="Content Placeholder 5">
            <a:extLst>
              <a:ext uri="{FF2B5EF4-FFF2-40B4-BE49-F238E27FC236}">
                <a16:creationId xmlns:a16="http://schemas.microsoft.com/office/drawing/2014/main" id="{E532528D-B00D-36CB-4C0A-C47636E8E191}"/>
              </a:ext>
            </a:extLst>
          </p:cNvPr>
          <p:cNvPicPr>
            <a:picLocks noGrp="1" noChangeAspect="1"/>
          </p:cNvPicPr>
          <p:nvPr>
            <p:ph sz="half" idx="2"/>
          </p:nvPr>
        </p:nvPicPr>
        <p:blipFill>
          <a:blip r:embed="rId4"/>
          <a:stretch>
            <a:fillRect/>
          </a:stretch>
        </p:blipFill>
        <p:spPr>
          <a:xfrm>
            <a:off x="5080059" y="1630774"/>
            <a:ext cx="5181600" cy="1673831"/>
          </a:xfrm>
          <a:prstGeom prst="rect">
            <a:avLst/>
          </a:prstGeom>
        </p:spPr>
      </p:pic>
      <p:pic>
        <p:nvPicPr>
          <p:cNvPr id="10" name="Picture 9">
            <a:extLst>
              <a:ext uri="{FF2B5EF4-FFF2-40B4-BE49-F238E27FC236}">
                <a16:creationId xmlns:a16="http://schemas.microsoft.com/office/drawing/2014/main" id="{226B4370-B5C9-4FA0-8099-035591252A8A}"/>
              </a:ext>
            </a:extLst>
          </p:cNvPr>
          <p:cNvPicPr>
            <a:picLocks noChangeAspect="1"/>
          </p:cNvPicPr>
          <p:nvPr/>
        </p:nvPicPr>
        <p:blipFill>
          <a:blip r:embed="rId5"/>
          <a:stretch>
            <a:fillRect/>
          </a:stretch>
        </p:blipFill>
        <p:spPr>
          <a:xfrm>
            <a:off x="3318845" y="3429000"/>
            <a:ext cx="2262503" cy="1900503"/>
          </a:xfrm>
          <a:prstGeom prst="rect">
            <a:avLst/>
          </a:prstGeom>
        </p:spPr>
      </p:pic>
      <p:pic>
        <p:nvPicPr>
          <p:cNvPr id="14" name="Picture 13">
            <a:extLst>
              <a:ext uri="{FF2B5EF4-FFF2-40B4-BE49-F238E27FC236}">
                <a16:creationId xmlns:a16="http://schemas.microsoft.com/office/drawing/2014/main" id="{DFEF02F0-821A-205F-C515-24E6F1B87490}"/>
              </a:ext>
            </a:extLst>
          </p:cNvPr>
          <p:cNvPicPr>
            <a:picLocks noChangeAspect="1"/>
          </p:cNvPicPr>
          <p:nvPr/>
        </p:nvPicPr>
        <p:blipFill>
          <a:blip r:embed="rId6"/>
          <a:stretch>
            <a:fillRect/>
          </a:stretch>
        </p:blipFill>
        <p:spPr>
          <a:xfrm>
            <a:off x="5581349" y="3429002"/>
            <a:ext cx="2262504" cy="1900503"/>
          </a:xfrm>
          <a:prstGeom prst="rect">
            <a:avLst/>
          </a:prstGeom>
        </p:spPr>
      </p:pic>
      <p:pic>
        <p:nvPicPr>
          <p:cNvPr id="16" name="Picture 15">
            <a:extLst>
              <a:ext uri="{FF2B5EF4-FFF2-40B4-BE49-F238E27FC236}">
                <a16:creationId xmlns:a16="http://schemas.microsoft.com/office/drawing/2014/main" id="{1A6B5700-A9A4-C745-FAC4-591275C60471}"/>
              </a:ext>
            </a:extLst>
          </p:cNvPr>
          <p:cNvPicPr>
            <a:picLocks noChangeAspect="1"/>
          </p:cNvPicPr>
          <p:nvPr/>
        </p:nvPicPr>
        <p:blipFill>
          <a:blip r:embed="rId7"/>
          <a:stretch>
            <a:fillRect/>
          </a:stretch>
        </p:blipFill>
        <p:spPr>
          <a:xfrm>
            <a:off x="7843853" y="3429001"/>
            <a:ext cx="2262504" cy="1900503"/>
          </a:xfrm>
          <a:prstGeom prst="rect">
            <a:avLst/>
          </a:prstGeom>
        </p:spPr>
      </p:pic>
      <p:pic>
        <p:nvPicPr>
          <p:cNvPr id="18" name="Picture 17">
            <a:extLst>
              <a:ext uri="{FF2B5EF4-FFF2-40B4-BE49-F238E27FC236}">
                <a16:creationId xmlns:a16="http://schemas.microsoft.com/office/drawing/2014/main" id="{BEB1D8C0-841E-D841-8D30-142105F35596}"/>
              </a:ext>
            </a:extLst>
          </p:cNvPr>
          <p:cNvPicPr>
            <a:picLocks noChangeAspect="1"/>
          </p:cNvPicPr>
          <p:nvPr/>
        </p:nvPicPr>
        <p:blipFill>
          <a:blip r:embed="rId8"/>
          <a:stretch>
            <a:fillRect/>
          </a:stretch>
        </p:blipFill>
        <p:spPr>
          <a:xfrm>
            <a:off x="10099202" y="3429000"/>
            <a:ext cx="1956911" cy="1900503"/>
          </a:xfrm>
          <a:prstGeom prst="rect">
            <a:avLst/>
          </a:prstGeom>
        </p:spPr>
      </p:pic>
    </p:spTree>
    <p:extLst>
      <p:ext uri="{BB962C8B-B14F-4D97-AF65-F5344CB8AC3E}">
        <p14:creationId xmlns:p14="http://schemas.microsoft.com/office/powerpoint/2010/main" val="266034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9A082-4DD9-DFDD-491D-7EF236E1793F}"/>
              </a:ext>
            </a:extLst>
          </p:cNvPr>
          <p:cNvSpPr>
            <a:spLocks noGrp="1"/>
          </p:cNvSpPr>
          <p:nvPr>
            <p:ph type="title"/>
          </p:nvPr>
        </p:nvSpPr>
        <p:spPr/>
        <p:txBody>
          <a:bodyPr/>
          <a:lstStyle/>
          <a:p>
            <a:r>
              <a:rPr lang="en-US" dirty="0"/>
              <a:t>Red-Black Tree: Left Rotate Example</a:t>
            </a:r>
          </a:p>
        </p:txBody>
      </p:sp>
      <p:pic>
        <p:nvPicPr>
          <p:cNvPr id="7" name="Content Placeholder 6">
            <a:extLst>
              <a:ext uri="{FF2B5EF4-FFF2-40B4-BE49-F238E27FC236}">
                <a16:creationId xmlns:a16="http://schemas.microsoft.com/office/drawing/2014/main" id="{E025185A-76AC-1149-A8C4-0DCF8614036B}"/>
              </a:ext>
            </a:extLst>
          </p:cNvPr>
          <p:cNvPicPr>
            <a:picLocks noGrp="1" noChangeAspect="1"/>
          </p:cNvPicPr>
          <p:nvPr>
            <p:ph idx="1"/>
          </p:nvPr>
        </p:nvPicPr>
        <p:blipFill>
          <a:blip r:embed="rId2"/>
          <a:stretch>
            <a:fillRect/>
          </a:stretch>
        </p:blipFill>
        <p:spPr>
          <a:xfrm>
            <a:off x="2504582" y="1690688"/>
            <a:ext cx="7049773" cy="4710111"/>
          </a:xfrm>
          <a:prstGeom prst="rect">
            <a:avLst/>
          </a:prstGeom>
        </p:spPr>
      </p:pic>
    </p:spTree>
    <p:extLst>
      <p:ext uri="{BB962C8B-B14F-4D97-AF65-F5344CB8AC3E}">
        <p14:creationId xmlns:p14="http://schemas.microsoft.com/office/powerpoint/2010/main" val="1916585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C16EE-6C94-3B7C-ED4B-EB955EFFD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6E4A67-B1B1-81C5-7A1E-20B0B9649842}"/>
              </a:ext>
            </a:extLst>
          </p:cNvPr>
          <p:cNvSpPr>
            <a:spLocks noGrp="1"/>
          </p:cNvSpPr>
          <p:nvPr>
            <p:ph type="title"/>
          </p:nvPr>
        </p:nvSpPr>
        <p:spPr/>
        <p:txBody>
          <a:bodyPr/>
          <a:lstStyle/>
          <a:p>
            <a:r>
              <a:rPr lang="en-US" dirty="0"/>
              <a:t>Red-Black Tree: Exercises 2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24A2B4-5F89-226B-0299-E3EDC8A42DD3}"/>
                  </a:ext>
                </a:extLst>
              </p:cNvPr>
              <p:cNvSpPr>
                <a:spLocks noGrp="1"/>
              </p:cNvSpPr>
              <p:nvPr>
                <p:ph idx="1"/>
              </p:nvPr>
            </p:nvSpPr>
            <p:spPr/>
            <p:txBody>
              <a:bodyPr>
                <a:normAutofit/>
              </a:bodyPr>
              <a:lstStyle/>
              <a:p>
                <a:pPr marL="342900" indent="-342900">
                  <a:buFont typeface="+mj-lt"/>
                  <a:buAutoNum type="arabicPeriod"/>
                </a:pPr>
                <a:r>
                  <a:rPr lang="en-US" sz="2400" dirty="0"/>
                  <a:t>Write pseudocode for </a:t>
                </a:r>
                <a14:m>
                  <m:oMath xmlns:m="http://schemas.openxmlformats.org/officeDocument/2006/math">
                    <m:r>
                      <a:rPr lang="en-US" sz="2400" i="1" dirty="0" smtClean="0">
                        <a:latin typeface="Cambria Math" panose="02040503050406030204" pitchFamily="18" charset="0"/>
                      </a:rPr>
                      <m:t>𝑅𝐼𝐺𝐻𝑇</m:t>
                    </m:r>
                    <m:r>
                      <a:rPr lang="en-US" sz="2400" i="1" dirty="0" smtClean="0">
                        <a:latin typeface="Cambria Math" panose="02040503050406030204" pitchFamily="18" charset="0"/>
                      </a:rPr>
                      <m:t>−</m:t>
                    </m:r>
                    <m:r>
                      <a:rPr lang="en-US" sz="2400" i="1" dirty="0" smtClean="0">
                        <a:latin typeface="Cambria Math" panose="02040503050406030204" pitchFamily="18" charset="0"/>
                      </a:rPr>
                      <m:t>𝑅𝑂𝑇𝐴𝑇𝐸</m:t>
                    </m:r>
                  </m:oMath>
                </a14:m>
                <a:r>
                  <a:rPr lang="en-US" sz="2400" dirty="0"/>
                  <a:t>.</a:t>
                </a:r>
              </a:p>
              <a:p>
                <a:pPr marL="342900" indent="-342900" algn="l">
                  <a:buFont typeface="+mj-lt"/>
                  <a:buAutoNum type="arabicPeriod"/>
                </a:pPr>
                <a:r>
                  <a:rPr lang="en-US" sz="2400" dirty="0"/>
                  <a:t>How many rotations are possible in a </a:t>
                </a:r>
                <a14:m>
                  <m:oMath xmlns:m="http://schemas.openxmlformats.org/officeDocument/2006/math">
                    <m:r>
                      <a:rPr lang="en-US" sz="2400" i="1" dirty="0" smtClean="0">
                        <a:latin typeface="Cambria Math" panose="02040503050406030204" pitchFamily="18" charset="0"/>
                      </a:rPr>
                      <m:t>𝑛</m:t>
                    </m:r>
                  </m:oMath>
                </a14:m>
                <a:r>
                  <a:rPr lang="en-US" sz="2400" dirty="0"/>
                  <a:t>-node binary search tree?</a:t>
                </a:r>
              </a:p>
              <a:p>
                <a:pPr marL="342900" indent="-342900">
                  <a:buFont typeface="+mj-lt"/>
                  <a:buAutoNum type="arabicPeriod"/>
                </a:pPr>
                <a:r>
                  <a:rPr lang="en-US" sz="2400" dirty="0"/>
                  <a:t>We say that a binary search tree </a:t>
                </a:r>
                <a14:m>
                  <m:oMath xmlns:m="http://schemas.openxmlformats.org/officeDocument/2006/math">
                    <m:sSub>
                      <m:sSubPr>
                        <m:ctrlPr>
                          <a:rPr lang="en-US" sz="2400" b="0" i="1" dirty="0" smtClean="0">
                            <a:latin typeface="Cambria Math" panose="02040503050406030204" pitchFamily="18" charset="0"/>
                          </a:rPr>
                        </m:ctrlPr>
                      </m:sSubPr>
                      <m:e>
                        <m:r>
                          <a:rPr lang="en-US" sz="2400" i="1" dirty="0" smtClean="0">
                            <a:latin typeface="Cambria Math" panose="02040503050406030204" pitchFamily="18" charset="0"/>
                          </a:rPr>
                          <m:t>𝑇</m:t>
                        </m:r>
                      </m:e>
                      <m:sub>
                        <m:r>
                          <a:rPr lang="en-US" sz="2400" i="1" dirty="0" smtClean="0">
                            <a:latin typeface="Cambria Math" panose="02040503050406030204" pitchFamily="18" charset="0"/>
                          </a:rPr>
                          <m:t>1</m:t>
                        </m:r>
                      </m:sub>
                    </m:sSub>
                  </m:oMath>
                </a14:m>
                <a:r>
                  <a:rPr lang="en-US" sz="2400" dirty="0"/>
                  <a:t> can be right-converted to binary search tree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𝑇</m:t>
                        </m:r>
                      </m:e>
                      <m:sub>
                        <m:r>
                          <a:rPr lang="en-US" sz="2400" i="1" dirty="0" smtClean="0">
                            <a:latin typeface="Cambria Math" panose="02040503050406030204" pitchFamily="18" charset="0"/>
                          </a:rPr>
                          <m:t>2</m:t>
                        </m:r>
                      </m:sub>
                    </m:sSub>
                  </m:oMath>
                </a14:m>
                <a:r>
                  <a:rPr lang="en-US" sz="2400" dirty="0"/>
                  <a:t> if it is possible to obtain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2</m:t>
                        </m:r>
                      </m:sub>
                    </m:sSub>
                  </m:oMath>
                </a14:m>
                <a:r>
                  <a:rPr lang="en-US" sz="2400" dirty="0"/>
                  <a:t> from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1</m:t>
                        </m:r>
                      </m:sub>
                    </m:sSub>
                  </m:oMath>
                </a14:m>
                <a:r>
                  <a:rPr lang="en-US" sz="2400" dirty="0"/>
                  <a:t> via a series of calls to </a:t>
                </a:r>
                <a14:m>
                  <m:oMath xmlns:m="http://schemas.openxmlformats.org/officeDocument/2006/math">
                    <m:r>
                      <a:rPr lang="en-US" sz="2400" i="1" dirty="0" smtClean="0">
                        <a:latin typeface="Cambria Math" panose="02040503050406030204" pitchFamily="18" charset="0"/>
                      </a:rPr>
                      <m:t>𝑅𝐼𝐺𝐻𝑇</m:t>
                    </m:r>
                    <m:r>
                      <a:rPr lang="en-US" sz="2400" i="1" dirty="0" smtClean="0">
                        <a:latin typeface="Cambria Math" panose="02040503050406030204" pitchFamily="18" charset="0"/>
                      </a:rPr>
                      <m:t>−</m:t>
                    </m:r>
                    <m:r>
                      <a:rPr lang="en-US" sz="2400" i="1" dirty="0" smtClean="0">
                        <a:latin typeface="Cambria Math" panose="02040503050406030204" pitchFamily="18" charset="0"/>
                      </a:rPr>
                      <m:t>𝑅𝑂𝑇𝐴𝑇𝐸</m:t>
                    </m:r>
                  </m:oMath>
                </a14:m>
                <a:r>
                  <a:rPr lang="en-US" sz="2400" dirty="0"/>
                  <a:t>. Give an example of two trees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1</m:t>
                        </m:r>
                      </m:sub>
                    </m:sSub>
                  </m:oMath>
                </a14:m>
                <a:r>
                  <a:rPr lang="en-US" sz="2400" dirty="0"/>
                  <a:t> and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2</m:t>
                        </m:r>
                      </m:sub>
                    </m:sSub>
                  </m:oMath>
                </a14:m>
                <a:r>
                  <a:rPr lang="en-US" sz="2400" dirty="0"/>
                  <a:t> such that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1</m:t>
                        </m:r>
                      </m:sub>
                    </m:sSub>
                  </m:oMath>
                </a14:m>
                <a:r>
                  <a:rPr lang="en-US" sz="2400" dirty="0"/>
                  <a:t> cannot be right-converted to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2</m:t>
                        </m:r>
                      </m:sub>
                    </m:sSub>
                  </m:oMath>
                </a14:m>
                <a:r>
                  <a:rPr lang="en-US" sz="2400" dirty="0"/>
                  <a:t>. Then, show that if a tree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1</m:t>
                        </m:r>
                      </m:sub>
                    </m:sSub>
                  </m:oMath>
                </a14:m>
                <a:r>
                  <a:rPr lang="en-US" sz="2400" dirty="0"/>
                  <a:t> can be right-converted to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𝑇</m:t>
                        </m:r>
                      </m:e>
                      <m:sub>
                        <m:r>
                          <a:rPr lang="en-US" sz="2400" i="1" dirty="0">
                            <a:latin typeface="Cambria Math" panose="02040503050406030204" pitchFamily="18" charset="0"/>
                          </a:rPr>
                          <m:t>2</m:t>
                        </m:r>
                      </m:sub>
                    </m:sSub>
                  </m:oMath>
                </a14:m>
                <a:r>
                  <a:rPr lang="en-US" sz="2400" dirty="0"/>
                  <a:t>, it can be right-converted using </a:t>
                </a:r>
                <a14:m>
                  <m:oMath xmlns:m="http://schemas.openxmlformats.org/officeDocument/2006/math">
                    <m:r>
                      <a:rPr lang="en-US" sz="2400" i="1" dirty="0" smtClean="0">
                        <a:latin typeface="Cambria Math" panose="02040503050406030204" pitchFamily="18" charset="0"/>
                      </a:rPr>
                      <m:t>𝑂</m:t>
                    </m:r>
                    <m:d>
                      <m:dPr>
                        <m:ctrlPr>
                          <a:rPr lang="en-US" sz="2400" i="1" dirty="0" smtClean="0">
                            <a:latin typeface="Cambria Math" panose="02040503050406030204" pitchFamily="18" charset="0"/>
                          </a:rPr>
                        </m:ctrlPr>
                      </m:dPr>
                      <m:e>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𝑛</m:t>
                            </m:r>
                          </m:e>
                          <m:sup>
                            <m:r>
                              <a:rPr lang="en-US" sz="2400" b="0" i="1" dirty="0" smtClean="0">
                                <a:latin typeface="Cambria Math" panose="02040503050406030204" pitchFamily="18" charset="0"/>
                              </a:rPr>
                              <m:t>2</m:t>
                            </m:r>
                          </m:sup>
                        </m:sSup>
                      </m:e>
                    </m:d>
                  </m:oMath>
                </a14:m>
                <a:r>
                  <a:rPr lang="en-US" sz="2400" dirty="0"/>
                  <a:t> calls to </a:t>
                </a:r>
                <a14:m>
                  <m:oMath xmlns:m="http://schemas.openxmlformats.org/officeDocument/2006/math">
                    <m:r>
                      <a:rPr lang="en-US" sz="2400" i="1" dirty="0" smtClean="0">
                        <a:latin typeface="Cambria Math" panose="02040503050406030204" pitchFamily="18" charset="0"/>
                      </a:rPr>
                      <m:t>𝑅𝐼𝐺𝐻𝑇</m:t>
                    </m:r>
                    <m:r>
                      <a:rPr lang="en-US" sz="2400" i="1" dirty="0" smtClean="0">
                        <a:latin typeface="Cambria Math" panose="02040503050406030204" pitchFamily="18" charset="0"/>
                      </a:rPr>
                      <m:t>−</m:t>
                    </m:r>
                    <m:r>
                      <a:rPr lang="en-US" sz="2400" i="1" dirty="0" smtClean="0">
                        <a:latin typeface="Cambria Math" panose="02040503050406030204" pitchFamily="18" charset="0"/>
                      </a:rPr>
                      <m:t>𝑅𝑂𝑇𝐴𝑇𝐸</m:t>
                    </m:r>
                  </m:oMath>
                </a14:m>
                <a:r>
                  <a:rPr lang="en-US" sz="2400" dirty="0"/>
                  <a:t>.</a:t>
                </a:r>
              </a:p>
              <a:p>
                <a:pPr marL="342900" indent="-342900" algn="l">
                  <a:buFont typeface="+mj-lt"/>
                  <a:buAutoNum type="arabicPeriod"/>
                </a:pPr>
                <a:endParaRPr lang="en-US" sz="2400" dirty="0"/>
              </a:p>
            </p:txBody>
          </p:sp>
        </mc:Choice>
        <mc:Fallback xmlns="">
          <p:sp>
            <p:nvSpPr>
              <p:cNvPr id="3" name="Content Placeholder 2">
                <a:extLst>
                  <a:ext uri="{FF2B5EF4-FFF2-40B4-BE49-F238E27FC236}">
                    <a16:creationId xmlns:a16="http://schemas.microsoft.com/office/drawing/2014/main" id="{AB24A2B4-5F89-226B-0299-E3EDC8A42DD3}"/>
                  </a:ext>
                </a:extLst>
              </p:cNvPr>
              <p:cNvSpPr>
                <a:spLocks noGrp="1" noRot="1" noChangeAspect="1" noMove="1" noResize="1" noEditPoints="1" noAdjustHandles="1" noChangeArrowheads="1" noChangeShapeType="1" noTextEdit="1"/>
              </p:cNvSpPr>
              <p:nvPr>
                <p:ph idx="1"/>
              </p:nvPr>
            </p:nvSpPr>
            <p:spPr>
              <a:blipFill>
                <a:blip r:embed="rId2"/>
                <a:stretch>
                  <a:fillRect l="-928" t="-2101" r="-696"/>
                </a:stretch>
              </a:blipFill>
            </p:spPr>
            <p:txBody>
              <a:bodyPr/>
              <a:lstStyle/>
              <a:p>
                <a:r>
                  <a:rPr lang="en-US">
                    <a:noFill/>
                  </a:rPr>
                  <a:t> </a:t>
                </a:r>
              </a:p>
            </p:txBody>
          </p:sp>
        </mc:Fallback>
      </mc:AlternateContent>
    </p:spTree>
    <p:extLst>
      <p:ext uri="{BB962C8B-B14F-4D97-AF65-F5344CB8AC3E}">
        <p14:creationId xmlns:p14="http://schemas.microsoft.com/office/powerpoint/2010/main" val="1762188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331B9-E81D-46D6-5E69-4E65BF24AEFA}"/>
              </a:ext>
            </a:extLst>
          </p:cNvPr>
          <p:cNvSpPr>
            <a:spLocks noGrp="1"/>
          </p:cNvSpPr>
          <p:nvPr>
            <p:ph type="title"/>
          </p:nvPr>
        </p:nvSpPr>
        <p:spPr/>
        <p:txBody>
          <a:bodyPr/>
          <a:lstStyle/>
          <a:p>
            <a:r>
              <a:rPr lang="en-US" dirty="0"/>
              <a:t>Red-Black Tree: Insert (1)</a:t>
            </a:r>
          </a:p>
        </p:txBody>
      </p:sp>
      <p:pic>
        <p:nvPicPr>
          <p:cNvPr id="9" name="Content Placeholder 8">
            <a:extLst>
              <a:ext uri="{FF2B5EF4-FFF2-40B4-BE49-F238E27FC236}">
                <a16:creationId xmlns:a16="http://schemas.microsoft.com/office/drawing/2014/main" id="{9BFDF131-3652-A66D-5F68-E1B9524C9C63}"/>
              </a:ext>
            </a:extLst>
          </p:cNvPr>
          <p:cNvPicPr>
            <a:picLocks noGrp="1" noChangeAspect="1"/>
          </p:cNvPicPr>
          <p:nvPr>
            <p:ph sz="half" idx="1"/>
          </p:nvPr>
        </p:nvPicPr>
        <p:blipFill>
          <a:blip r:embed="rId3"/>
          <a:stretch>
            <a:fillRect/>
          </a:stretch>
        </p:blipFill>
        <p:spPr>
          <a:xfrm>
            <a:off x="920266" y="1690688"/>
            <a:ext cx="2762048" cy="4782253"/>
          </a:xfrm>
        </p:spPr>
      </p:pic>
      <p:pic>
        <p:nvPicPr>
          <p:cNvPr id="15" name="Content Placeholder 4">
            <a:extLst>
              <a:ext uri="{FF2B5EF4-FFF2-40B4-BE49-F238E27FC236}">
                <a16:creationId xmlns:a16="http://schemas.microsoft.com/office/drawing/2014/main" id="{3BCBDFEB-F758-9D62-1D1B-840743A794B9}"/>
              </a:ext>
            </a:extLst>
          </p:cNvPr>
          <p:cNvPicPr>
            <a:picLocks noGrp="1" noChangeAspect="1"/>
          </p:cNvPicPr>
          <p:nvPr>
            <p:ph sz="half" idx="2"/>
          </p:nvPr>
        </p:nvPicPr>
        <p:blipFill>
          <a:blip r:embed="rId4"/>
          <a:stretch>
            <a:fillRect/>
          </a:stretch>
        </p:blipFill>
        <p:spPr>
          <a:xfrm>
            <a:off x="6969122" y="1690688"/>
            <a:ext cx="2466257" cy="3836901"/>
          </a:xfrm>
        </p:spPr>
      </p:pic>
    </p:spTree>
    <p:extLst>
      <p:ext uri="{BB962C8B-B14F-4D97-AF65-F5344CB8AC3E}">
        <p14:creationId xmlns:p14="http://schemas.microsoft.com/office/powerpoint/2010/main" val="4109576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56307-F64F-E644-EB9B-0AE2F7582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018CE-5974-766B-8793-C11A311CBC50}"/>
              </a:ext>
            </a:extLst>
          </p:cNvPr>
          <p:cNvSpPr>
            <a:spLocks noGrp="1"/>
          </p:cNvSpPr>
          <p:nvPr>
            <p:ph type="title"/>
          </p:nvPr>
        </p:nvSpPr>
        <p:spPr/>
        <p:txBody>
          <a:bodyPr/>
          <a:lstStyle/>
          <a:p>
            <a:r>
              <a:rPr lang="en-US" dirty="0"/>
              <a:t>Red-Black Tree: Insert (2)</a:t>
            </a:r>
          </a:p>
        </p:txBody>
      </p:sp>
      <p:pic>
        <p:nvPicPr>
          <p:cNvPr id="9" name="Content Placeholder 8">
            <a:extLst>
              <a:ext uri="{FF2B5EF4-FFF2-40B4-BE49-F238E27FC236}">
                <a16:creationId xmlns:a16="http://schemas.microsoft.com/office/drawing/2014/main" id="{E8452362-DADF-B46F-1925-C35846DC5414}"/>
              </a:ext>
            </a:extLst>
          </p:cNvPr>
          <p:cNvPicPr>
            <a:picLocks noGrp="1" noChangeAspect="1"/>
          </p:cNvPicPr>
          <p:nvPr>
            <p:ph sz="half" idx="1"/>
          </p:nvPr>
        </p:nvPicPr>
        <p:blipFill>
          <a:blip r:embed="rId3"/>
          <a:stretch>
            <a:fillRect/>
          </a:stretch>
        </p:blipFill>
        <p:spPr>
          <a:xfrm>
            <a:off x="920266" y="1690688"/>
            <a:ext cx="2762048" cy="4782253"/>
          </a:xfrm>
        </p:spPr>
      </p:pic>
      <p:pic>
        <p:nvPicPr>
          <p:cNvPr id="14" name="Content Placeholder 13">
            <a:extLst>
              <a:ext uri="{FF2B5EF4-FFF2-40B4-BE49-F238E27FC236}">
                <a16:creationId xmlns:a16="http://schemas.microsoft.com/office/drawing/2014/main" id="{3A523208-6CE8-64AF-DFE4-DFBB27227DEE}"/>
              </a:ext>
            </a:extLst>
          </p:cNvPr>
          <p:cNvPicPr>
            <a:picLocks noGrp="1" noChangeAspect="1"/>
          </p:cNvPicPr>
          <p:nvPr>
            <p:ph sz="half" idx="2"/>
          </p:nvPr>
        </p:nvPicPr>
        <p:blipFill>
          <a:blip r:embed="rId4"/>
          <a:stretch>
            <a:fillRect/>
          </a:stretch>
        </p:blipFill>
        <p:spPr>
          <a:xfrm>
            <a:off x="6623550" y="1690688"/>
            <a:ext cx="4428012" cy="4782253"/>
          </a:xfrm>
          <a:prstGeom prst="rect">
            <a:avLst/>
          </a:prstGeom>
        </p:spPr>
      </p:pic>
    </p:spTree>
    <p:extLst>
      <p:ext uri="{BB962C8B-B14F-4D97-AF65-F5344CB8AC3E}">
        <p14:creationId xmlns:p14="http://schemas.microsoft.com/office/powerpoint/2010/main" val="2416616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5DD06-A956-2395-414B-7EC69630D18F}"/>
              </a:ext>
            </a:extLst>
          </p:cNvPr>
          <p:cNvSpPr>
            <a:spLocks noGrp="1"/>
          </p:cNvSpPr>
          <p:nvPr>
            <p:ph type="title"/>
          </p:nvPr>
        </p:nvSpPr>
        <p:spPr/>
        <p:txBody>
          <a:bodyPr/>
          <a:lstStyle/>
          <a:p>
            <a:r>
              <a:rPr lang="en-US" dirty="0"/>
              <a:t>Red-Black Tree: Insert Fixup (1)</a:t>
            </a:r>
          </a:p>
        </p:txBody>
      </p:sp>
      <p:pic>
        <p:nvPicPr>
          <p:cNvPr id="11" name="Content Placeholder 10">
            <a:extLst>
              <a:ext uri="{FF2B5EF4-FFF2-40B4-BE49-F238E27FC236}">
                <a16:creationId xmlns:a16="http://schemas.microsoft.com/office/drawing/2014/main" id="{C958B628-A0A7-8B84-746E-C6AA45047C07}"/>
              </a:ext>
            </a:extLst>
          </p:cNvPr>
          <p:cNvPicPr>
            <a:picLocks noGrp="1" noChangeAspect="1"/>
          </p:cNvPicPr>
          <p:nvPr>
            <p:ph idx="1"/>
          </p:nvPr>
        </p:nvPicPr>
        <p:blipFill>
          <a:blip r:embed="rId2"/>
          <a:stretch>
            <a:fillRect/>
          </a:stretch>
        </p:blipFill>
        <p:spPr>
          <a:xfrm>
            <a:off x="1818502" y="1690688"/>
            <a:ext cx="7523205" cy="5023483"/>
          </a:xfrm>
        </p:spPr>
      </p:pic>
    </p:spTree>
    <p:extLst>
      <p:ext uri="{BB962C8B-B14F-4D97-AF65-F5344CB8AC3E}">
        <p14:creationId xmlns:p14="http://schemas.microsoft.com/office/powerpoint/2010/main" val="1316577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74F19-5E46-115D-042C-59237E14B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49E98-FBA7-4908-8AFC-FC90D8ABFC9B}"/>
              </a:ext>
            </a:extLst>
          </p:cNvPr>
          <p:cNvSpPr>
            <a:spLocks noGrp="1"/>
          </p:cNvSpPr>
          <p:nvPr>
            <p:ph type="title"/>
          </p:nvPr>
        </p:nvSpPr>
        <p:spPr/>
        <p:txBody>
          <a:bodyPr/>
          <a:lstStyle/>
          <a:p>
            <a:r>
              <a:rPr lang="en-US" dirty="0"/>
              <a:t>Red-Black Tree: Insert Fixup (2)</a:t>
            </a:r>
          </a:p>
        </p:txBody>
      </p:sp>
      <p:pic>
        <p:nvPicPr>
          <p:cNvPr id="8" name="Content Placeholder 7">
            <a:extLst>
              <a:ext uri="{FF2B5EF4-FFF2-40B4-BE49-F238E27FC236}">
                <a16:creationId xmlns:a16="http://schemas.microsoft.com/office/drawing/2014/main" id="{FA4E3AEA-F40D-5B02-1CD4-39A4D6F64C2D}"/>
              </a:ext>
            </a:extLst>
          </p:cNvPr>
          <p:cNvPicPr>
            <a:picLocks noGrp="1" noChangeAspect="1"/>
          </p:cNvPicPr>
          <p:nvPr>
            <p:ph idx="1"/>
          </p:nvPr>
        </p:nvPicPr>
        <p:blipFill>
          <a:blip r:embed="rId2"/>
          <a:stretch>
            <a:fillRect/>
          </a:stretch>
        </p:blipFill>
        <p:spPr>
          <a:xfrm>
            <a:off x="1750270" y="1690688"/>
            <a:ext cx="7484347" cy="4944874"/>
          </a:xfrm>
        </p:spPr>
      </p:pic>
    </p:spTree>
    <p:extLst>
      <p:ext uri="{BB962C8B-B14F-4D97-AF65-F5344CB8AC3E}">
        <p14:creationId xmlns:p14="http://schemas.microsoft.com/office/powerpoint/2010/main" val="223374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C9D4-2F98-7EFB-580C-E32E5E0F3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01595-68CE-19DE-BC44-FA4CB0878485}"/>
              </a:ext>
            </a:extLst>
          </p:cNvPr>
          <p:cNvSpPr>
            <a:spLocks noGrp="1"/>
          </p:cNvSpPr>
          <p:nvPr>
            <p:ph type="title"/>
          </p:nvPr>
        </p:nvSpPr>
        <p:spPr/>
        <p:txBody>
          <a:bodyPr/>
          <a:lstStyle/>
          <a:p>
            <a:r>
              <a:rPr lang="en-US" dirty="0"/>
              <a:t>Red-Black Tree: Insert Fixup (3)</a:t>
            </a:r>
          </a:p>
        </p:txBody>
      </p:sp>
      <p:pic>
        <p:nvPicPr>
          <p:cNvPr id="6" name="Content Placeholder 5">
            <a:extLst>
              <a:ext uri="{FF2B5EF4-FFF2-40B4-BE49-F238E27FC236}">
                <a16:creationId xmlns:a16="http://schemas.microsoft.com/office/drawing/2014/main" id="{8CE61EBA-AD9F-4C3E-74C7-97895BED89BC}"/>
              </a:ext>
            </a:extLst>
          </p:cNvPr>
          <p:cNvPicPr>
            <a:picLocks noGrp="1" noChangeAspect="1"/>
          </p:cNvPicPr>
          <p:nvPr>
            <p:ph idx="1"/>
          </p:nvPr>
        </p:nvPicPr>
        <p:blipFill>
          <a:blip r:embed="rId2"/>
          <a:stretch>
            <a:fillRect/>
          </a:stretch>
        </p:blipFill>
        <p:spPr>
          <a:xfrm>
            <a:off x="1257280" y="1690688"/>
            <a:ext cx="8735218" cy="4848089"/>
          </a:xfrm>
        </p:spPr>
      </p:pic>
    </p:spTree>
    <p:extLst>
      <p:ext uri="{BB962C8B-B14F-4D97-AF65-F5344CB8AC3E}">
        <p14:creationId xmlns:p14="http://schemas.microsoft.com/office/powerpoint/2010/main" val="4279265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3C73-0189-EDCB-B41B-E9D9605DD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68E26-6BA5-E19D-27A3-5C527B61F10A}"/>
              </a:ext>
            </a:extLst>
          </p:cNvPr>
          <p:cNvSpPr>
            <a:spLocks noGrp="1"/>
          </p:cNvSpPr>
          <p:nvPr>
            <p:ph type="title"/>
          </p:nvPr>
        </p:nvSpPr>
        <p:spPr/>
        <p:txBody>
          <a:bodyPr/>
          <a:lstStyle/>
          <a:p>
            <a:r>
              <a:rPr lang="en-US" dirty="0"/>
              <a:t>Red-Black Tree: Analyzing Insert Fixup (1)</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50055A1-1789-98CE-F7A6-A768812F0D23}"/>
                  </a:ext>
                </a:extLst>
              </p:cNvPr>
              <p:cNvSpPr>
                <a:spLocks noGrp="1"/>
              </p:cNvSpPr>
              <p:nvPr>
                <p:ph sz="half" idx="2"/>
              </p:nvPr>
            </p:nvSpPr>
            <p:spPr>
              <a:xfrm>
                <a:off x="4694856" y="1825625"/>
                <a:ext cx="6658944" cy="4351338"/>
              </a:xfrm>
            </p:spPr>
            <p:txBody>
              <a:bodyPr>
                <a:normAutofit/>
              </a:bodyPr>
              <a:lstStyle/>
              <a:p>
                <a:pPr marL="0" indent="0">
                  <a:buNone/>
                </a:pPr>
                <a:r>
                  <a:rPr lang="en-US" dirty="0"/>
                  <a:t>The while loop invariant:</a:t>
                </a:r>
              </a:p>
              <a:p>
                <a:pPr marL="514350" indent="-514350">
                  <a:buFont typeface="+mj-lt"/>
                  <a:buAutoNum type="alphaLcParenR"/>
                </a:pPr>
                <a:r>
                  <a:rPr lang="en-US" dirty="0"/>
                  <a:t>node </a:t>
                </a:r>
                <a14:m>
                  <m:oMath xmlns:m="http://schemas.openxmlformats.org/officeDocument/2006/math">
                    <m:r>
                      <a:rPr lang="en-US" i="1" dirty="0" smtClean="0">
                        <a:latin typeface="Cambria Math" panose="02040503050406030204" pitchFamily="18" charset="0"/>
                      </a:rPr>
                      <m:t>𝑧</m:t>
                    </m:r>
                  </m:oMath>
                </a14:m>
                <a:r>
                  <a:rPr lang="en-US" dirty="0"/>
                  <a:t> is red,</a:t>
                </a:r>
              </a:p>
              <a:p>
                <a:pPr marL="514350" indent="-514350">
                  <a:buFont typeface="+mj-lt"/>
                  <a:buAutoNum type="alphaLcParenR"/>
                </a:pPr>
                <a:r>
                  <a:rPr lang="en-US" dirty="0"/>
                  <a:t>If </a:t>
                </a:r>
                <a14:m>
                  <m:oMath xmlns:m="http://schemas.openxmlformats.org/officeDocument/2006/math">
                    <m:r>
                      <a:rPr lang="en-US" i="1" dirty="0" smtClean="0">
                        <a:latin typeface="Cambria Math" panose="02040503050406030204" pitchFamily="18" charset="0"/>
                      </a:rPr>
                      <m:t>𝑧</m:t>
                    </m:r>
                    <m:r>
                      <a:rPr lang="en-US" i="1" dirty="0" smtClean="0">
                        <a:latin typeface="Cambria Math" panose="02040503050406030204" pitchFamily="18" charset="0"/>
                      </a:rPr>
                      <m:t>.</m:t>
                    </m:r>
                    <m:r>
                      <a:rPr lang="en-US" i="1" dirty="0" smtClean="0">
                        <a:latin typeface="Cambria Math" panose="02040503050406030204" pitchFamily="18" charset="0"/>
                      </a:rPr>
                      <m:t>𝑝</m:t>
                    </m:r>
                  </m:oMath>
                </a14:m>
                <a:r>
                  <a:rPr lang="en-US" dirty="0"/>
                  <a:t> is the root, then </a:t>
                </a:r>
                <a14:m>
                  <m:oMath xmlns:m="http://schemas.openxmlformats.org/officeDocument/2006/math">
                    <m:r>
                      <a:rPr lang="en-US" i="1" dirty="0" smtClean="0">
                        <a:latin typeface="Cambria Math" panose="02040503050406030204" pitchFamily="18" charset="0"/>
                      </a:rPr>
                      <m:t>𝑧</m:t>
                    </m:r>
                    <m:r>
                      <a:rPr lang="en-US" i="1" dirty="0" smtClean="0">
                        <a:latin typeface="Cambria Math" panose="02040503050406030204" pitchFamily="18" charset="0"/>
                      </a:rPr>
                      <m:t>.</m:t>
                    </m:r>
                    <m:r>
                      <a:rPr lang="en-US" i="1" dirty="0" smtClean="0">
                        <a:latin typeface="Cambria Math" panose="02040503050406030204" pitchFamily="18" charset="0"/>
                      </a:rPr>
                      <m:t>𝑝</m:t>
                    </m:r>
                  </m:oMath>
                </a14:m>
                <a:r>
                  <a:rPr lang="en-US" dirty="0"/>
                  <a:t> is black,</a:t>
                </a:r>
              </a:p>
              <a:p>
                <a:pPr marL="514350" indent="-514350">
                  <a:buFont typeface="+mj-lt"/>
                  <a:buAutoNum type="alphaLcParenR"/>
                </a:pPr>
                <a:r>
                  <a:rPr lang="en-US" b="1" dirty="0"/>
                  <a:t>The tree at any moment may violate at most 1 red-black tree property.</a:t>
                </a:r>
              </a:p>
              <a:p>
                <a:pPr marL="0" indent="0" algn="just">
                  <a:buNone/>
                </a:pPr>
                <a:r>
                  <a:rPr lang="en-US" sz="2000" i="1" dirty="0"/>
                  <a:t>We start with the initialization and termination arguments. Then we shall argue that the loop maintains the invariant upon each iteration.  We shall also demonstrate that each iteration of the loop has two possible outcomes: either the pointer </a:t>
                </a:r>
                <a14:m>
                  <m:oMath xmlns:m="http://schemas.openxmlformats.org/officeDocument/2006/math">
                    <m:r>
                      <a:rPr lang="en-US" sz="2000" i="1" dirty="0" smtClean="0">
                        <a:latin typeface="Cambria Math" panose="02040503050406030204" pitchFamily="18" charset="0"/>
                      </a:rPr>
                      <m:t>𝑧</m:t>
                    </m:r>
                  </m:oMath>
                </a14:m>
                <a:r>
                  <a:rPr lang="en-US" sz="2000" i="1" dirty="0"/>
                  <a:t> moves up the tree, or we perform some rotations and then the loop terminates. </a:t>
                </a:r>
              </a:p>
              <a:p>
                <a:pPr marL="0" indent="0">
                  <a:buNone/>
                </a:pPr>
                <a:endParaRPr lang="en-US" dirty="0"/>
              </a:p>
            </p:txBody>
          </p:sp>
        </mc:Choice>
        <mc:Fallback xmlns="">
          <p:sp>
            <p:nvSpPr>
              <p:cNvPr id="6" name="Content Placeholder 5">
                <a:extLst>
                  <a:ext uri="{FF2B5EF4-FFF2-40B4-BE49-F238E27FC236}">
                    <a16:creationId xmlns:a16="http://schemas.microsoft.com/office/drawing/2014/main" id="{450055A1-1789-98CE-F7A6-A768812F0D23}"/>
                  </a:ext>
                </a:extLst>
              </p:cNvPr>
              <p:cNvSpPr>
                <a:spLocks noGrp="1" noRot="1" noChangeAspect="1" noMove="1" noResize="1" noEditPoints="1" noAdjustHandles="1" noChangeArrowheads="1" noChangeShapeType="1" noTextEdit="1"/>
              </p:cNvSpPr>
              <p:nvPr>
                <p:ph sz="half" idx="2"/>
              </p:nvPr>
            </p:nvSpPr>
            <p:spPr>
              <a:xfrm>
                <a:off x="4694856" y="1825625"/>
                <a:ext cx="6658944" cy="4351338"/>
              </a:xfrm>
              <a:blipFill>
                <a:blip r:embed="rId3"/>
                <a:stretch>
                  <a:fillRect l="-1921" t="-2241" r="-915"/>
                </a:stretch>
              </a:blipFill>
            </p:spPr>
            <p:txBody>
              <a:bodyPr/>
              <a:lstStyle/>
              <a:p>
                <a:r>
                  <a:rPr lang="en-US">
                    <a:noFill/>
                  </a:rPr>
                  <a:t> </a:t>
                </a:r>
              </a:p>
            </p:txBody>
          </p:sp>
        </mc:Fallback>
      </mc:AlternateContent>
      <p:pic>
        <p:nvPicPr>
          <p:cNvPr id="5" name="Content Placeholder 13">
            <a:extLst>
              <a:ext uri="{FF2B5EF4-FFF2-40B4-BE49-F238E27FC236}">
                <a16:creationId xmlns:a16="http://schemas.microsoft.com/office/drawing/2014/main" id="{207B46B2-058E-CB17-9F7D-74D3084E8D41}"/>
              </a:ext>
            </a:extLst>
          </p:cNvPr>
          <p:cNvPicPr>
            <a:picLocks noGrp="1" noChangeAspect="1"/>
          </p:cNvPicPr>
          <p:nvPr>
            <p:ph sz="half" idx="1"/>
          </p:nvPr>
        </p:nvPicPr>
        <p:blipFill>
          <a:blip r:embed="rId4"/>
          <a:stretch>
            <a:fillRect/>
          </a:stretch>
        </p:blipFill>
        <p:spPr>
          <a:xfrm>
            <a:off x="247560" y="1690688"/>
            <a:ext cx="4447296" cy="4803080"/>
          </a:xfrm>
          <a:prstGeom prst="rect">
            <a:avLst/>
          </a:prstGeom>
        </p:spPr>
      </p:pic>
    </p:spTree>
    <p:extLst>
      <p:ext uri="{BB962C8B-B14F-4D97-AF65-F5344CB8AC3E}">
        <p14:creationId xmlns:p14="http://schemas.microsoft.com/office/powerpoint/2010/main" val="381886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01DFD-DD05-7C91-4070-7A38FDD0A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F47E7-592B-285E-3AA8-77704C66DED1}"/>
              </a:ext>
            </a:extLst>
          </p:cNvPr>
          <p:cNvSpPr>
            <a:spLocks noGrp="1"/>
          </p:cNvSpPr>
          <p:nvPr>
            <p:ph type="title"/>
          </p:nvPr>
        </p:nvSpPr>
        <p:spPr/>
        <p:txBody>
          <a:bodyPr/>
          <a:lstStyle/>
          <a:p>
            <a:r>
              <a:rPr lang="en-US" dirty="0"/>
              <a:t>Red-Black Tree: Analyzing Insert Fixup (2)</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349320B-2E40-9817-5567-603AE79423B7}"/>
                  </a:ext>
                </a:extLst>
              </p:cNvPr>
              <p:cNvSpPr>
                <a:spLocks noGrp="1"/>
              </p:cNvSpPr>
              <p:nvPr>
                <p:ph sz="half" idx="2"/>
              </p:nvPr>
            </p:nvSpPr>
            <p:spPr>
              <a:xfrm>
                <a:off x="4694856" y="1825625"/>
                <a:ext cx="6658944" cy="4351338"/>
              </a:xfrm>
            </p:spPr>
            <p:txBody>
              <a:bodyPr>
                <a:normAutofit/>
              </a:bodyPr>
              <a:lstStyle/>
              <a:p>
                <a:pPr marL="0" indent="0">
                  <a:buNone/>
                </a:pPr>
                <a:r>
                  <a:rPr lang="en-US" b="1" dirty="0"/>
                  <a:t>Initialization</a:t>
                </a:r>
                <a:r>
                  <a:rPr lang="en-US" dirty="0"/>
                  <a:t>: Prior to the first iteration of the loop, we started with a red-black tree with no violations, and we added a red node </a:t>
                </a:r>
                <a14:m>
                  <m:oMath xmlns:m="http://schemas.openxmlformats.org/officeDocument/2006/math">
                    <m:r>
                      <a:rPr lang="en-US" i="1" dirty="0" smtClean="0">
                        <a:latin typeface="Cambria Math" panose="02040503050406030204" pitchFamily="18" charset="0"/>
                      </a:rPr>
                      <m:t>𝑧</m:t>
                    </m:r>
                  </m:oMath>
                </a14:m>
                <a:r>
                  <a:rPr lang="en-US" b="1" dirty="0"/>
                  <a:t>.</a:t>
                </a:r>
              </a:p>
              <a:p>
                <a:pPr marL="514350" indent="-514350">
                  <a:buFont typeface="+mj-lt"/>
                  <a:buAutoNum type="alphaLcParenR"/>
                </a:pPr>
                <a:r>
                  <a:rPr lang="en-US" dirty="0">
                    <a:solidFill>
                      <a:schemeClr val="accent6">
                        <a:lumMod val="75000"/>
                      </a:schemeClr>
                    </a:solidFill>
                  </a:rPr>
                  <a:t>node </a:t>
                </a:r>
                <a14:m>
                  <m:oMath xmlns:m="http://schemas.openxmlformats.org/officeDocument/2006/math">
                    <m:r>
                      <a:rPr lang="en-US" i="1" dirty="0" smtClean="0">
                        <a:solidFill>
                          <a:schemeClr val="accent6">
                            <a:lumMod val="75000"/>
                          </a:schemeClr>
                        </a:solidFill>
                        <a:latin typeface="Cambria Math" panose="02040503050406030204" pitchFamily="18" charset="0"/>
                      </a:rPr>
                      <m:t>𝑧</m:t>
                    </m:r>
                  </m:oMath>
                </a14:m>
                <a:r>
                  <a:rPr lang="en-US" dirty="0">
                    <a:solidFill>
                      <a:schemeClr val="accent6">
                        <a:lumMod val="75000"/>
                      </a:schemeClr>
                    </a:solidFill>
                  </a:rPr>
                  <a:t> is red,</a:t>
                </a:r>
              </a:p>
              <a:p>
                <a:pPr marL="514350" indent="-514350">
                  <a:buFont typeface="+mj-lt"/>
                  <a:buAutoNum type="alphaLcParenR"/>
                </a:pPr>
                <a:r>
                  <a:rPr lang="en-US" dirty="0">
                    <a:solidFill>
                      <a:schemeClr val="accent6">
                        <a:lumMod val="75000"/>
                      </a:schemeClr>
                    </a:solidFill>
                  </a:rPr>
                  <a:t>If </a:t>
                </a:r>
                <a14:m>
                  <m:oMath xmlns:m="http://schemas.openxmlformats.org/officeDocument/2006/math">
                    <m:r>
                      <a:rPr lang="en-US" i="1" dirty="0" smtClean="0">
                        <a:solidFill>
                          <a:schemeClr val="accent6">
                            <a:lumMod val="75000"/>
                          </a:schemeClr>
                        </a:solidFill>
                        <a:latin typeface="Cambria Math" panose="02040503050406030204" pitchFamily="18" charset="0"/>
                      </a:rPr>
                      <m:t>𝑧</m:t>
                    </m:r>
                    <m:r>
                      <a:rPr lang="en-US" i="1" dirty="0" smtClean="0">
                        <a:solidFill>
                          <a:schemeClr val="accent6">
                            <a:lumMod val="75000"/>
                          </a:schemeClr>
                        </a:solidFill>
                        <a:latin typeface="Cambria Math" panose="02040503050406030204" pitchFamily="18" charset="0"/>
                      </a:rPr>
                      <m:t>.</m:t>
                    </m:r>
                    <m:r>
                      <a:rPr lang="en-US" i="1" dirty="0" smtClean="0">
                        <a:solidFill>
                          <a:schemeClr val="accent6">
                            <a:lumMod val="75000"/>
                          </a:schemeClr>
                        </a:solidFill>
                        <a:latin typeface="Cambria Math" panose="02040503050406030204" pitchFamily="18" charset="0"/>
                      </a:rPr>
                      <m:t>𝑝</m:t>
                    </m:r>
                  </m:oMath>
                </a14:m>
                <a:r>
                  <a:rPr lang="en-US" dirty="0">
                    <a:solidFill>
                      <a:schemeClr val="accent6">
                        <a:lumMod val="75000"/>
                      </a:schemeClr>
                    </a:solidFill>
                  </a:rPr>
                  <a:t> is the root, then </a:t>
                </a:r>
                <a14:m>
                  <m:oMath xmlns:m="http://schemas.openxmlformats.org/officeDocument/2006/math">
                    <m:r>
                      <a:rPr lang="en-US" i="1" dirty="0" smtClean="0">
                        <a:solidFill>
                          <a:schemeClr val="accent6">
                            <a:lumMod val="75000"/>
                          </a:schemeClr>
                        </a:solidFill>
                        <a:latin typeface="Cambria Math" panose="02040503050406030204" pitchFamily="18" charset="0"/>
                      </a:rPr>
                      <m:t>𝑧</m:t>
                    </m:r>
                    <m:r>
                      <a:rPr lang="en-US" i="1" dirty="0" smtClean="0">
                        <a:solidFill>
                          <a:schemeClr val="accent6">
                            <a:lumMod val="75000"/>
                          </a:schemeClr>
                        </a:solidFill>
                        <a:latin typeface="Cambria Math" panose="02040503050406030204" pitchFamily="18" charset="0"/>
                      </a:rPr>
                      <m:t>.</m:t>
                    </m:r>
                    <m:r>
                      <a:rPr lang="en-US" i="1" dirty="0" smtClean="0">
                        <a:solidFill>
                          <a:schemeClr val="accent6">
                            <a:lumMod val="75000"/>
                          </a:schemeClr>
                        </a:solidFill>
                        <a:latin typeface="Cambria Math" panose="02040503050406030204" pitchFamily="18" charset="0"/>
                      </a:rPr>
                      <m:t>𝑝</m:t>
                    </m:r>
                  </m:oMath>
                </a14:m>
                <a:r>
                  <a:rPr lang="en-US" dirty="0">
                    <a:solidFill>
                      <a:schemeClr val="accent6">
                        <a:lumMod val="75000"/>
                      </a:schemeClr>
                    </a:solidFill>
                  </a:rPr>
                  <a:t> is black,</a:t>
                </a:r>
              </a:p>
              <a:p>
                <a:pPr marL="514350" indent="-514350">
                  <a:buFont typeface="+mj-lt"/>
                  <a:buAutoNum type="alphaLcParenR"/>
                </a:pPr>
                <a:r>
                  <a:rPr lang="en-US" dirty="0">
                    <a:solidFill>
                      <a:schemeClr val="accent6">
                        <a:lumMod val="75000"/>
                      </a:schemeClr>
                    </a:solidFill>
                  </a:rPr>
                  <a:t>The tree at any moment may violate at most 1 red-black tree property.</a:t>
                </a:r>
              </a:p>
              <a:p>
                <a:pPr marL="0" indent="0">
                  <a:buNone/>
                </a:pPr>
                <a:endParaRPr lang="en-US" dirty="0"/>
              </a:p>
            </p:txBody>
          </p:sp>
        </mc:Choice>
        <mc:Fallback xmlns="">
          <p:sp>
            <p:nvSpPr>
              <p:cNvPr id="6" name="Content Placeholder 5">
                <a:extLst>
                  <a:ext uri="{FF2B5EF4-FFF2-40B4-BE49-F238E27FC236}">
                    <a16:creationId xmlns:a16="http://schemas.microsoft.com/office/drawing/2014/main" id="{5349320B-2E40-9817-5567-603AE79423B7}"/>
                  </a:ext>
                </a:extLst>
              </p:cNvPr>
              <p:cNvSpPr>
                <a:spLocks noGrp="1" noRot="1" noChangeAspect="1" noMove="1" noResize="1" noEditPoints="1" noAdjustHandles="1" noChangeArrowheads="1" noChangeShapeType="1" noTextEdit="1"/>
              </p:cNvSpPr>
              <p:nvPr>
                <p:ph sz="half" idx="2"/>
              </p:nvPr>
            </p:nvSpPr>
            <p:spPr>
              <a:xfrm>
                <a:off x="4694856" y="1825625"/>
                <a:ext cx="6658944" cy="4351338"/>
              </a:xfrm>
              <a:blipFill>
                <a:blip r:embed="rId3"/>
                <a:stretch>
                  <a:fillRect l="-1921" t="-2241" r="-2104"/>
                </a:stretch>
              </a:blipFill>
            </p:spPr>
            <p:txBody>
              <a:bodyPr/>
              <a:lstStyle/>
              <a:p>
                <a:r>
                  <a:rPr lang="en-US">
                    <a:noFill/>
                  </a:rPr>
                  <a:t> </a:t>
                </a:r>
              </a:p>
            </p:txBody>
          </p:sp>
        </mc:Fallback>
      </mc:AlternateContent>
      <p:pic>
        <p:nvPicPr>
          <p:cNvPr id="5" name="Content Placeholder 13">
            <a:extLst>
              <a:ext uri="{FF2B5EF4-FFF2-40B4-BE49-F238E27FC236}">
                <a16:creationId xmlns:a16="http://schemas.microsoft.com/office/drawing/2014/main" id="{58A3D484-01D1-0CA5-5B26-1A2F6AD18F1F}"/>
              </a:ext>
            </a:extLst>
          </p:cNvPr>
          <p:cNvPicPr>
            <a:picLocks noGrp="1" noChangeAspect="1"/>
          </p:cNvPicPr>
          <p:nvPr>
            <p:ph sz="half" idx="1"/>
          </p:nvPr>
        </p:nvPicPr>
        <p:blipFill>
          <a:blip r:embed="rId4"/>
          <a:stretch>
            <a:fillRect/>
          </a:stretch>
        </p:blipFill>
        <p:spPr>
          <a:xfrm>
            <a:off x="248387" y="1690688"/>
            <a:ext cx="4446469" cy="4802187"/>
          </a:xfrm>
          <a:prstGeom prst="rect">
            <a:avLst/>
          </a:prstGeom>
        </p:spPr>
      </p:pic>
    </p:spTree>
    <p:extLst>
      <p:ext uri="{BB962C8B-B14F-4D97-AF65-F5344CB8AC3E}">
        <p14:creationId xmlns:p14="http://schemas.microsoft.com/office/powerpoint/2010/main" val="3851844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E3F64-32B0-1599-311B-A5EC1C2C5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A28FB-6528-E1FC-DBFC-293C5FAEA0E5}"/>
              </a:ext>
            </a:extLst>
          </p:cNvPr>
          <p:cNvSpPr>
            <a:spLocks noGrp="1"/>
          </p:cNvSpPr>
          <p:nvPr>
            <p:ph type="title"/>
          </p:nvPr>
        </p:nvSpPr>
        <p:spPr/>
        <p:txBody>
          <a:bodyPr/>
          <a:lstStyle/>
          <a:p>
            <a:r>
              <a:rPr lang="en-US" dirty="0"/>
              <a:t>Red-Black Tree: Analyzing Insert Fixup (3)</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62DB173-8D1E-9A08-93BD-825CA3E0BB63}"/>
                  </a:ext>
                </a:extLst>
              </p:cNvPr>
              <p:cNvSpPr>
                <a:spLocks noGrp="1"/>
              </p:cNvSpPr>
              <p:nvPr>
                <p:ph sz="half" idx="2"/>
              </p:nvPr>
            </p:nvSpPr>
            <p:spPr>
              <a:xfrm>
                <a:off x="4694856" y="1825625"/>
                <a:ext cx="7129848" cy="4351338"/>
              </a:xfrm>
            </p:spPr>
            <p:txBody>
              <a:bodyPr>
                <a:normAutofit/>
              </a:bodyPr>
              <a:lstStyle/>
              <a:p>
                <a:pPr marL="0" indent="0" algn="just">
                  <a:lnSpc>
                    <a:spcPct val="100000"/>
                  </a:lnSpc>
                  <a:spcAft>
                    <a:spcPts val="600"/>
                  </a:spcAft>
                  <a:buNone/>
                </a:pPr>
                <a:r>
                  <a:rPr lang="en-US" b="1" dirty="0"/>
                  <a:t>Termination</a:t>
                </a:r>
                <a:r>
                  <a:rPr lang="en-US" dirty="0"/>
                  <a:t>: </a:t>
                </a:r>
              </a:p>
              <a:p>
                <a:pPr marL="0" indent="0" algn="just">
                  <a:lnSpc>
                    <a:spcPct val="100000"/>
                  </a:lnSpc>
                  <a:spcAft>
                    <a:spcPts val="600"/>
                  </a:spcAft>
                  <a:buNone/>
                </a:pPr>
                <a:r>
                  <a:rPr lang="en-US" dirty="0"/>
                  <a:t>When the loop terminates, it does so because </a:t>
                </a:r>
                <a14:m>
                  <m:oMath xmlns:m="http://schemas.openxmlformats.org/officeDocument/2006/math">
                    <m:r>
                      <a:rPr lang="en-US" i="1" dirty="0" smtClean="0">
                        <a:latin typeface="Cambria Math" panose="02040503050406030204" pitchFamily="18" charset="0"/>
                      </a:rPr>
                      <m:t>𝑧</m:t>
                    </m:r>
                    <m:r>
                      <a:rPr lang="en-US" b="0" i="1" dirty="0" smtClean="0">
                        <a:latin typeface="Cambria Math" panose="02040503050406030204" pitchFamily="18" charset="0"/>
                      </a:rPr>
                      <m:t>.</m:t>
                    </m:r>
                    <m:r>
                      <a:rPr lang="en-US" b="0" i="1" dirty="0" smtClean="0">
                        <a:latin typeface="Cambria Math" panose="02040503050406030204" pitchFamily="18" charset="0"/>
                      </a:rPr>
                      <m:t>𝑝</m:t>
                    </m:r>
                  </m:oMath>
                </a14:m>
                <a:r>
                  <a:rPr lang="en-US" b="1" dirty="0"/>
                  <a:t> </a:t>
                </a:r>
                <a:r>
                  <a:rPr lang="en-US" dirty="0"/>
                  <a:t>is black. Thus, the tree does not violate the </a:t>
                </a:r>
                <a:r>
                  <a:rPr lang="en-US" i="1" dirty="0"/>
                  <a:t>property_4</a:t>
                </a:r>
                <a:r>
                  <a:rPr lang="en-US" dirty="0"/>
                  <a:t> at loop termination.</a:t>
                </a:r>
              </a:p>
              <a:p>
                <a:pPr marL="0" indent="0" algn="just">
                  <a:lnSpc>
                    <a:spcPct val="100000"/>
                  </a:lnSpc>
                  <a:spcAft>
                    <a:spcPts val="600"/>
                  </a:spcAft>
                  <a:buNone/>
                </a:pPr>
                <a:r>
                  <a:rPr lang="en-US" dirty="0"/>
                  <a:t>By the loop invariant, the only property that might fail to hold is property_2. Line 17 restores this property.</a:t>
                </a:r>
              </a:p>
            </p:txBody>
          </p:sp>
        </mc:Choice>
        <mc:Fallback xmlns="">
          <p:sp>
            <p:nvSpPr>
              <p:cNvPr id="6" name="Content Placeholder 5">
                <a:extLst>
                  <a:ext uri="{FF2B5EF4-FFF2-40B4-BE49-F238E27FC236}">
                    <a16:creationId xmlns:a16="http://schemas.microsoft.com/office/drawing/2014/main" id="{462DB173-8D1E-9A08-93BD-825CA3E0BB63}"/>
                  </a:ext>
                </a:extLst>
              </p:cNvPr>
              <p:cNvSpPr>
                <a:spLocks noGrp="1" noRot="1" noChangeAspect="1" noMove="1" noResize="1" noEditPoints="1" noAdjustHandles="1" noChangeArrowheads="1" noChangeShapeType="1" noTextEdit="1"/>
              </p:cNvSpPr>
              <p:nvPr>
                <p:ph sz="half" idx="2"/>
              </p:nvPr>
            </p:nvSpPr>
            <p:spPr>
              <a:xfrm>
                <a:off x="4694856" y="1825625"/>
                <a:ext cx="7129848" cy="4351338"/>
              </a:xfrm>
              <a:blipFill>
                <a:blip r:embed="rId3"/>
                <a:stretch>
                  <a:fillRect l="-1709" t="-1261" r="-1795"/>
                </a:stretch>
              </a:blipFill>
            </p:spPr>
            <p:txBody>
              <a:bodyPr/>
              <a:lstStyle/>
              <a:p>
                <a:r>
                  <a:rPr lang="en-US">
                    <a:noFill/>
                  </a:rPr>
                  <a:t> </a:t>
                </a:r>
              </a:p>
            </p:txBody>
          </p:sp>
        </mc:Fallback>
      </mc:AlternateContent>
      <p:pic>
        <p:nvPicPr>
          <p:cNvPr id="7" name="Content Placeholder 13">
            <a:extLst>
              <a:ext uri="{FF2B5EF4-FFF2-40B4-BE49-F238E27FC236}">
                <a16:creationId xmlns:a16="http://schemas.microsoft.com/office/drawing/2014/main" id="{0D0A78A6-FECB-33CE-47B3-93C5ADE9A08B}"/>
              </a:ext>
            </a:extLst>
          </p:cNvPr>
          <p:cNvPicPr>
            <a:picLocks noGrp="1" noChangeAspect="1"/>
          </p:cNvPicPr>
          <p:nvPr>
            <p:ph sz="half" idx="1"/>
          </p:nvPr>
        </p:nvPicPr>
        <p:blipFill>
          <a:blip r:embed="rId4"/>
          <a:stretch>
            <a:fillRect/>
          </a:stretch>
        </p:blipFill>
        <p:spPr>
          <a:xfrm>
            <a:off x="255542" y="1701320"/>
            <a:ext cx="4446469" cy="4802187"/>
          </a:xfrm>
          <a:prstGeom prst="rect">
            <a:avLst/>
          </a:prstGeom>
        </p:spPr>
      </p:pic>
    </p:spTree>
    <p:extLst>
      <p:ext uri="{BB962C8B-B14F-4D97-AF65-F5344CB8AC3E}">
        <p14:creationId xmlns:p14="http://schemas.microsoft.com/office/powerpoint/2010/main" val="2381573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E6F43-AB3E-BF94-4D17-606EF4A0C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78492-9095-46CF-CCDF-57A76912A15D}"/>
              </a:ext>
            </a:extLst>
          </p:cNvPr>
          <p:cNvSpPr>
            <a:spLocks noGrp="1"/>
          </p:cNvSpPr>
          <p:nvPr>
            <p:ph type="title"/>
          </p:nvPr>
        </p:nvSpPr>
        <p:spPr/>
        <p:txBody>
          <a:bodyPr/>
          <a:lstStyle/>
          <a:p>
            <a:r>
              <a:rPr lang="en-US" dirty="0"/>
              <a:t>Red-Black Tree: Analyzing Insert Fixup (4)</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237CFED-7E3A-6357-DD8A-FEFFE5053906}"/>
                  </a:ext>
                </a:extLst>
              </p:cNvPr>
              <p:cNvSpPr>
                <a:spLocks noGrp="1"/>
              </p:cNvSpPr>
              <p:nvPr>
                <p:ph sz="half" idx="2"/>
              </p:nvPr>
            </p:nvSpPr>
            <p:spPr>
              <a:xfrm>
                <a:off x="4582935" y="1866814"/>
                <a:ext cx="7427832" cy="4351338"/>
              </a:xfrm>
            </p:spPr>
            <p:txBody>
              <a:bodyPr>
                <a:normAutofit/>
              </a:bodyPr>
              <a:lstStyle/>
              <a:p>
                <a:pPr marL="0" indent="0" algn="just">
                  <a:lnSpc>
                    <a:spcPct val="100000"/>
                  </a:lnSpc>
                  <a:spcBef>
                    <a:spcPts val="600"/>
                  </a:spcBef>
                  <a:buNone/>
                </a:pPr>
                <a:r>
                  <a:rPr lang="en-US" b="1" dirty="0"/>
                  <a:t>Maintenance</a:t>
                </a:r>
                <a:r>
                  <a:rPr lang="en-US" dirty="0"/>
                  <a:t>: </a:t>
                </a:r>
              </a:p>
              <a:p>
                <a:pPr algn="just">
                  <a:lnSpc>
                    <a:spcPct val="100000"/>
                  </a:lnSpc>
                  <a:spcBef>
                    <a:spcPts val="0"/>
                  </a:spcBef>
                </a:pPr>
                <a:r>
                  <a:rPr lang="en-US" sz="2400" dirty="0"/>
                  <a:t>There are 6 cases in the while loop, and 3 of them are symmetric to other 3 depending on </a:t>
                </a:r>
                <a:r>
                  <a:rPr lang="en-US" sz="2400" i="1" dirty="0"/>
                  <a:t>line_2</a:t>
                </a:r>
                <a:r>
                  <a:rPr lang="en-US" sz="2400" dirty="0"/>
                  <a:t>.</a:t>
                </a:r>
              </a:p>
              <a:p>
                <a:pPr algn="just">
                  <a:lnSpc>
                    <a:spcPct val="100000"/>
                  </a:lnSpc>
                  <a:spcBef>
                    <a:spcPts val="600"/>
                  </a:spcBef>
                </a:pPr>
                <a:r>
                  <a:rPr lang="en-US" sz="2400" dirty="0"/>
                  <a:t>Given the code only for the situation in which </a:t>
                </a: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oMath>
                </a14:m>
                <a:r>
                  <a:rPr lang="en-US" sz="2400" dirty="0"/>
                  <a:t> is a left child.</a:t>
                </a:r>
              </a:p>
              <a:p>
                <a:pPr algn="just">
                  <a:lnSpc>
                    <a:spcPct val="100000"/>
                  </a:lnSpc>
                  <a:spcBef>
                    <a:spcPts val="600"/>
                  </a:spcBef>
                </a:pPr>
                <a:r>
                  <a:rPr lang="en-US" sz="2400" dirty="0"/>
                  <a:t>By </a:t>
                </a:r>
                <a:r>
                  <a:rPr lang="en-US" sz="2400" i="1" dirty="0" err="1"/>
                  <a:t>part_b</a:t>
                </a:r>
                <a:r>
                  <a:rPr lang="en-US" sz="2400" dirty="0"/>
                  <a:t> of the invariant the </a:t>
                </a: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oMath>
                </a14:m>
                <a:r>
                  <a:rPr lang="en-US" sz="2400" dirty="0"/>
                  <a:t> node exists.</a:t>
                </a:r>
              </a:p>
              <a:p>
                <a:pPr algn="just">
                  <a:lnSpc>
                    <a:spcPct val="100000"/>
                  </a:lnSpc>
                  <a:spcBef>
                    <a:spcPts val="600"/>
                  </a:spcBef>
                </a:pPr>
                <a:r>
                  <a:rPr lang="en-US" sz="2400" dirty="0"/>
                  <a:t>We distinguish case_1 from case_2 and case_3 by the color of </a:t>
                </a:r>
                <a14:m>
                  <m:oMath xmlns:m="http://schemas.openxmlformats.org/officeDocument/2006/math">
                    <m:r>
                      <a:rPr lang="en-US" sz="2400" i="1" dirty="0" smtClean="0">
                        <a:latin typeface="Cambria Math" panose="02040503050406030204" pitchFamily="18" charset="0"/>
                      </a:rPr>
                      <m:t>𝑧</m:t>
                    </m:r>
                  </m:oMath>
                </a14:m>
                <a:r>
                  <a:rPr lang="en-US" sz="2400" dirty="0"/>
                  <a:t>’s “</a:t>
                </a:r>
                <a:r>
                  <a:rPr lang="en-US" sz="2400" i="1" dirty="0"/>
                  <a:t>uncle</a:t>
                </a:r>
                <a:r>
                  <a:rPr lang="en-US" sz="2400" dirty="0"/>
                  <a:t>.”</a:t>
                </a:r>
              </a:p>
              <a:p>
                <a:pPr algn="just">
                  <a:lnSpc>
                    <a:spcPct val="100000"/>
                  </a:lnSpc>
                  <a:spcBef>
                    <a:spcPts val="600"/>
                  </a:spcBef>
                </a:pP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oMath>
                </a14:m>
                <a:r>
                  <a:rPr lang="en-US" sz="2400" dirty="0"/>
                  <a:t> is black inside the while loop as </a:t>
                </a: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oMath>
                </a14:m>
                <a:r>
                  <a:rPr lang="en-US" sz="2400" dirty="0"/>
                  <a:t> is red</a:t>
                </a:r>
              </a:p>
            </p:txBody>
          </p:sp>
        </mc:Choice>
        <mc:Fallback xmlns="">
          <p:sp>
            <p:nvSpPr>
              <p:cNvPr id="6" name="Content Placeholder 5">
                <a:extLst>
                  <a:ext uri="{FF2B5EF4-FFF2-40B4-BE49-F238E27FC236}">
                    <a16:creationId xmlns:a16="http://schemas.microsoft.com/office/drawing/2014/main" id="{4237CFED-7E3A-6357-DD8A-FEFFE5053906}"/>
                  </a:ext>
                </a:extLst>
              </p:cNvPr>
              <p:cNvSpPr>
                <a:spLocks noGrp="1" noRot="1" noChangeAspect="1" noMove="1" noResize="1" noEditPoints="1" noAdjustHandles="1" noChangeArrowheads="1" noChangeShapeType="1" noTextEdit="1"/>
              </p:cNvSpPr>
              <p:nvPr>
                <p:ph sz="half" idx="2"/>
              </p:nvPr>
            </p:nvSpPr>
            <p:spPr>
              <a:xfrm>
                <a:off x="4582935" y="1866814"/>
                <a:ext cx="7427832" cy="4351338"/>
              </a:xfrm>
              <a:blipFill>
                <a:blip r:embed="rId3"/>
                <a:stretch>
                  <a:fillRect l="-1724" t="-1261" r="-1232"/>
                </a:stretch>
              </a:blipFill>
            </p:spPr>
            <p:txBody>
              <a:bodyPr/>
              <a:lstStyle/>
              <a:p>
                <a:r>
                  <a:rPr lang="en-US">
                    <a:noFill/>
                  </a:rPr>
                  <a:t> </a:t>
                </a:r>
              </a:p>
            </p:txBody>
          </p:sp>
        </mc:Fallback>
      </mc:AlternateContent>
      <p:pic>
        <p:nvPicPr>
          <p:cNvPr id="7" name="Content Placeholder 13">
            <a:extLst>
              <a:ext uri="{FF2B5EF4-FFF2-40B4-BE49-F238E27FC236}">
                <a16:creationId xmlns:a16="http://schemas.microsoft.com/office/drawing/2014/main" id="{C1479B5B-194D-91F2-4362-54B0892A8141}"/>
              </a:ext>
            </a:extLst>
          </p:cNvPr>
          <p:cNvPicPr>
            <a:picLocks noGrp="1" noChangeAspect="1"/>
          </p:cNvPicPr>
          <p:nvPr>
            <p:ph sz="half" idx="1"/>
          </p:nvPr>
        </p:nvPicPr>
        <p:blipFill>
          <a:blip r:embed="rId4"/>
          <a:stretch>
            <a:fillRect/>
          </a:stretch>
        </p:blipFill>
        <p:spPr>
          <a:xfrm>
            <a:off x="181233" y="1690688"/>
            <a:ext cx="4401702" cy="4753838"/>
          </a:xfrm>
          <a:prstGeom prst="rect">
            <a:avLst/>
          </a:prstGeom>
        </p:spPr>
      </p:pic>
    </p:spTree>
    <p:extLst>
      <p:ext uri="{BB962C8B-B14F-4D97-AF65-F5344CB8AC3E}">
        <p14:creationId xmlns:p14="http://schemas.microsoft.com/office/powerpoint/2010/main" val="3804213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689DB-9482-E2DC-BAE8-78A9B3099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DB155-AF9C-8680-028E-F7B948E6F6C8}"/>
              </a:ext>
            </a:extLst>
          </p:cNvPr>
          <p:cNvSpPr>
            <a:spLocks noGrp="1"/>
          </p:cNvSpPr>
          <p:nvPr>
            <p:ph type="title"/>
          </p:nvPr>
        </p:nvSpPr>
        <p:spPr/>
        <p:txBody>
          <a:bodyPr/>
          <a:lstStyle/>
          <a:p>
            <a:r>
              <a:rPr lang="en-US" dirty="0"/>
              <a:t>Red-Black Tree: Analyzing Insert Fixup (4)</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629D9218-0E4C-9D0F-0F79-AA3F9F26F68A}"/>
                  </a:ext>
                </a:extLst>
              </p:cNvPr>
              <p:cNvSpPr>
                <a:spLocks noGrp="1"/>
              </p:cNvSpPr>
              <p:nvPr>
                <p:ph sz="half" idx="2"/>
              </p:nvPr>
            </p:nvSpPr>
            <p:spPr>
              <a:xfrm>
                <a:off x="4582935" y="1866814"/>
                <a:ext cx="7427832" cy="4351338"/>
              </a:xfrm>
            </p:spPr>
            <p:txBody>
              <a:bodyPr>
                <a:normAutofit/>
              </a:bodyPr>
              <a:lstStyle/>
              <a:p>
                <a:pPr marL="0" indent="0" algn="just">
                  <a:lnSpc>
                    <a:spcPct val="100000"/>
                  </a:lnSpc>
                  <a:spcBef>
                    <a:spcPts val="600"/>
                  </a:spcBef>
                  <a:buNone/>
                </a:pPr>
                <a:r>
                  <a:rPr lang="en-US" b="1" dirty="0"/>
                  <a:t>Maintenance</a:t>
                </a:r>
                <a:r>
                  <a:rPr lang="en-US" dirty="0"/>
                  <a:t>: Case_1 – </a:t>
                </a:r>
                <a14:m>
                  <m:oMath xmlns:m="http://schemas.openxmlformats.org/officeDocument/2006/math">
                    <m:r>
                      <a:rPr lang="en-US" i="1" dirty="0" smtClean="0">
                        <a:latin typeface="Cambria Math" panose="02040503050406030204" pitchFamily="18" charset="0"/>
                      </a:rPr>
                      <m:t>𝑧</m:t>
                    </m:r>
                  </m:oMath>
                </a14:m>
                <a:r>
                  <a:rPr lang="en-US" dirty="0"/>
                  <a:t>’s uncle is red. (lines 5-8)</a:t>
                </a:r>
              </a:p>
              <a:p>
                <a:pPr marL="0" indent="0" algn="just">
                  <a:lnSpc>
                    <a:spcPct val="100000"/>
                  </a:lnSpc>
                  <a:spcBef>
                    <a:spcPts val="600"/>
                  </a:spcBef>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𝑧</m:t>
                      </m:r>
                      <m:r>
                        <a:rPr lang="en-US" i="1" dirty="0" smtClean="0">
                          <a:latin typeface="Cambria Math" panose="02040503050406030204" pitchFamily="18" charset="0"/>
                        </a:rPr>
                        <m:t>.</m:t>
                      </m:r>
                      <m:r>
                        <a:rPr lang="en-US" i="1" dirty="0" smtClean="0">
                          <a:latin typeface="Cambria Math" panose="02040503050406030204" pitchFamily="18" charset="0"/>
                        </a:rPr>
                        <m:t>𝑝</m:t>
                      </m:r>
                      <m:r>
                        <a:rPr lang="en-US" i="1" dirty="0" smtClean="0">
                          <a:latin typeface="Cambria Math" panose="02040503050406030204" pitchFamily="18" charset="0"/>
                        </a:rPr>
                        <m:t>.</m:t>
                      </m:r>
                      <m:r>
                        <a:rPr lang="en-US" i="1" dirty="0" smtClean="0">
                          <a:latin typeface="Cambria Math" panose="02040503050406030204" pitchFamily="18" charset="0"/>
                        </a:rPr>
                        <m:t>𝑐𝑜𝑙𝑜𝑟</m:t>
                      </m:r>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r>
                        <a:rPr lang="en-US" i="1" dirty="0" err="1" smtClean="0">
                          <a:latin typeface="Cambria Math" panose="02040503050406030204" pitchFamily="18" charset="0"/>
                        </a:rPr>
                        <m:t>𝑦</m:t>
                      </m:r>
                      <m:r>
                        <a:rPr lang="en-US" i="1" dirty="0" err="1" smtClean="0">
                          <a:latin typeface="Cambria Math" panose="02040503050406030204" pitchFamily="18" charset="0"/>
                        </a:rPr>
                        <m:t>.</m:t>
                      </m:r>
                      <m:r>
                        <a:rPr lang="en-US" i="1" dirty="0" err="1" smtClean="0">
                          <a:latin typeface="Cambria Math" panose="02040503050406030204" pitchFamily="18" charset="0"/>
                        </a:rPr>
                        <m:t>𝑐𝑜𝑙𝑜𝑟</m:t>
                      </m:r>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r>
                        <a:rPr lang="en-US" i="1" dirty="0" smtClean="0">
                          <a:latin typeface="Cambria Math" panose="02040503050406030204" pitchFamily="18" charset="0"/>
                        </a:rPr>
                        <m:t>𝑅𝐸</m:t>
                      </m:r>
                      <m:r>
                        <a:rPr lang="en-US" i="1" dirty="0">
                          <a:latin typeface="Cambria Math" panose="02040503050406030204" pitchFamily="18" charset="0"/>
                        </a:rPr>
                        <m:t>𝐷</m:t>
                      </m:r>
                    </m:oMath>
                  </m:oMathPara>
                </a14:m>
                <a:endParaRPr lang="en-US" dirty="0"/>
              </a:p>
              <a:p>
                <a:pPr marL="0" indent="0" algn="just">
                  <a:lnSpc>
                    <a:spcPct val="100000"/>
                  </a:lnSpc>
                  <a:spcBef>
                    <a:spcPts val="600"/>
                  </a:spcBef>
                  <a:buNone/>
                </a:pPr>
                <a:r>
                  <a:rPr lang="en-US" sz="2400" dirty="0"/>
                  <a:t>Because </a:t>
                </a: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oMath>
                </a14:m>
                <a:r>
                  <a:rPr lang="en-US" sz="2400" dirty="0"/>
                  <a:t> is black, we can</a:t>
                </a:r>
              </a:p>
              <a:p>
                <a:pPr marL="457200" indent="-457200" algn="just">
                  <a:lnSpc>
                    <a:spcPct val="100000"/>
                  </a:lnSpc>
                  <a:spcBef>
                    <a:spcPts val="600"/>
                  </a:spcBef>
                  <a:buFont typeface="+mj-lt"/>
                  <a:buAutoNum type="arabicPeriod"/>
                </a:pPr>
                <a:r>
                  <a:rPr lang="en-US" sz="2400" dirty="0"/>
                  <a:t>color both </a:t>
                </a: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oMath>
                </a14:m>
                <a:r>
                  <a:rPr lang="en-US" sz="2400" dirty="0"/>
                  <a:t> and </a:t>
                </a:r>
                <a14:m>
                  <m:oMath xmlns:m="http://schemas.openxmlformats.org/officeDocument/2006/math">
                    <m:r>
                      <a:rPr lang="en-US" sz="2400" i="1" dirty="0" smtClean="0">
                        <a:latin typeface="Cambria Math" panose="02040503050406030204" pitchFamily="18" charset="0"/>
                      </a:rPr>
                      <m:t>𝑦</m:t>
                    </m:r>
                  </m:oMath>
                </a14:m>
                <a:r>
                  <a:rPr lang="en-US" sz="2400" dirty="0"/>
                  <a:t> black, thereby fixing the problem of </a:t>
                </a:r>
                <a14:m>
                  <m:oMath xmlns:m="http://schemas.openxmlformats.org/officeDocument/2006/math">
                    <m:r>
                      <a:rPr lang="en-US" sz="2400" i="1" dirty="0" smtClean="0">
                        <a:latin typeface="Cambria Math" panose="02040503050406030204" pitchFamily="18" charset="0"/>
                      </a:rPr>
                      <m:t>𝑦</m:t>
                    </m:r>
                  </m:oMath>
                </a14:m>
                <a:r>
                  <a:rPr lang="en-US" sz="2400" dirty="0"/>
                  <a:t> and </a:t>
                </a: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oMath>
                </a14:m>
                <a:r>
                  <a:rPr lang="en-US" sz="2400" dirty="0"/>
                  <a:t> both being red,</a:t>
                </a:r>
              </a:p>
              <a:p>
                <a:pPr marL="457200" indent="-457200" algn="just">
                  <a:lnSpc>
                    <a:spcPct val="100000"/>
                  </a:lnSpc>
                  <a:spcBef>
                    <a:spcPts val="600"/>
                  </a:spcBef>
                  <a:buFont typeface="+mj-lt"/>
                  <a:buAutoNum type="arabicPeriod"/>
                </a:pPr>
                <a:r>
                  <a:rPr lang="en-US" sz="2400" dirty="0"/>
                  <a:t>color </a:t>
                </a:r>
                <a14:m>
                  <m:oMath xmlns:m="http://schemas.openxmlformats.org/officeDocument/2006/math">
                    <m:r>
                      <a:rPr lang="en-US" sz="2400" i="1" dirty="0" smtClean="0">
                        <a:latin typeface="Cambria Math" panose="02040503050406030204" pitchFamily="18" charset="0"/>
                      </a:rPr>
                      <m:t>𝑧</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r>
                      <a:rPr lang="en-US" sz="2400" i="1" dirty="0" smtClean="0">
                        <a:latin typeface="Cambria Math" panose="02040503050406030204" pitchFamily="18" charset="0"/>
                      </a:rPr>
                      <m:t>.</m:t>
                    </m:r>
                    <m:r>
                      <a:rPr lang="en-US" sz="2400" i="1" dirty="0" smtClean="0">
                        <a:latin typeface="Cambria Math" panose="02040503050406030204" pitchFamily="18" charset="0"/>
                      </a:rPr>
                      <m:t>𝑝</m:t>
                    </m:r>
                  </m:oMath>
                </a14:m>
                <a:r>
                  <a:rPr lang="en-US" sz="2400" dirty="0"/>
                  <a:t> red, thereby maintaining </a:t>
                </a:r>
                <a:r>
                  <a:rPr lang="en-US" sz="2400" i="1" dirty="0"/>
                  <a:t>property_5</a:t>
                </a:r>
                <a:r>
                  <a:rPr lang="en-US" sz="2400" dirty="0"/>
                  <a:t>.</a:t>
                </a:r>
              </a:p>
            </p:txBody>
          </p:sp>
        </mc:Choice>
        <mc:Fallback xmlns="">
          <p:sp>
            <p:nvSpPr>
              <p:cNvPr id="6" name="Content Placeholder 5">
                <a:extLst>
                  <a:ext uri="{FF2B5EF4-FFF2-40B4-BE49-F238E27FC236}">
                    <a16:creationId xmlns:a16="http://schemas.microsoft.com/office/drawing/2014/main" id="{629D9218-0E4C-9D0F-0F79-AA3F9F26F68A}"/>
                  </a:ext>
                </a:extLst>
              </p:cNvPr>
              <p:cNvSpPr>
                <a:spLocks noGrp="1" noRot="1" noChangeAspect="1" noMove="1" noResize="1" noEditPoints="1" noAdjustHandles="1" noChangeArrowheads="1" noChangeShapeType="1" noTextEdit="1"/>
              </p:cNvSpPr>
              <p:nvPr>
                <p:ph sz="half" idx="2"/>
              </p:nvPr>
            </p:nvSpPr>
            <p:spPr>
              <a:xfrm>
                <a:off x="4582935" y="1866814"/>
                <a:ext cx="7427832" cy="4351338"/>
              </a:xfrm>
              <a:blipFill>
                <a:blip r:embed="rId3"/>
                <a:stretch>
                  <a:fillRect l="-1724" t="-1261" r="-1232"/>
                </a:stretch>
              </a:blipFill>
            </p:spPr>
            <p:txBody>
              <a:bodyPr/>
              <a:lstStyle/>
              <a:p>
                <a:r>
                  <a:rPr lang="en-US">
                    <a:noFill/>
                  </a:rPr>
                  <a:t> </a:t>
                </a:r>
              </a:p>
            </p:txBody>
          </p:sp>
        </mc:Fallback>
      </mc:AlternateContent>
      <p:pic>
        <p:nvPicPr>
          <p:cNvPr id="8" name="Content Placeholder 13">
            <a:extLst>
              <a:ext uri="{FF2B5EF4-FFF2-40B4-BE49-F238E27FC236}">
                <a16:creationId xmlns:a16="http://schemas.microsoft.com/office/drawing/2014/main" id="{AB61E498-4C9A-1440-EDF1-804A6083A2A0}"/>
              </a:ext>
            </a:extLst>
          </p:cNvPr>
          <p:cNvPicPr>
            <a:picLocks noGrp="1" noChangeAspect="1"/>
          </p:cNvPicPr>
          <p:nvPr>
            <p:ph sz="half" idx="1"/>
          </p:nvPr>
        </p:nvPicPr>
        <p:blipFill>
          <a:blip r:embed="rId4"/>
          <a:stretch>
            <a:fillRect/>
          </a:stretch>
        </p:blipFill>
        <p:spPr>
          <a:xfrm>
            <a:off x="181233" y="1690687"/>
            <a:ext cx="4401702" cy="4753839"/>
          </a:xfrm>
          <a:prstGeom prst="rect">
            <a:avLst/>
          </a:prstGeom>
        </p:spPr>
      </p:pic>
    </p:spTree>
    <p:extLst>
      <p:ext uri="{BB962C8B-B14F-4D97-AF65-F5344CB8AC3E}">
        <p14:creationId xmlns:p14="http://schemas.microsoft.com/office/powerpoint/2010/main" val="416058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4F316-7D2C-90DD-FF1E-94B6B031A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5AEAB-C196-B796-E230-ED2C5D8D41CB}"/>
              </a:ext>
            </a:extLst>
          </p:cNvPr>
          <p:cNvSpPr>
            <a:spLocks noGrp="1"/>
          </p:cNvSpPr>
          <p:nvPr>
            <p:ph type="title"/>
          </p:nvPr>
        </p:nvSpPr>
        <p:spPr/>
        <p:txBody>
          <a:bodyPr/>
          <a:lstStyle/>
          <a:p>
            <a:r>
              <a:rPr lang="en-US" dirty="0"/>
              <a:t>Red-Black Tree: Analyzing Insert Fixup (5)</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93DD0C1-861A-7FB6-D195-0A73C08A2263}"/>
                  </a:ext>
                </a:extLst>
              </p:cNvPr>
              <p:cNvSpPr>
                <a:spLocks noGrp="1"/>
              </p:cNvSpPr>
              <p:nvPr>
                <p:ph sz="half" idx="2"/>
              </p:nvPr>
            </p:nvSpPr>
            <p:spPr>
              <a:xfrm>
                <a:off x="4582935" y="1866814"/>
                <a:ext cx="7427832" cy="1008191"/>
              </a:xfrm>
            </p:spPr>
            <p:txBody>
              <a:bodyPr>
                <a:normAutofit/>
              </a:bodyPr>
              <a:lstStyle/>
              <a:p>
                <a:pPr marL="0" indent="0" algn="just">
                  <a:lnSpc>
                    <a:spcPct val="100000"/>
                  </a:lnSpc>
                  <a:spcBef>
                    <a:spcPts val="600"/>
                  </a:spcBef>
                  <a:buNone/>
                </a:pPr>
                <a:r>
                  <a:rPr lang="en-US" b="1" dirty="0"/>
                  <a:t>Maintenance</a:t>
                </a:r>
                <a:r>
                  <a:rPr lang="en-US" dirty="0"/>
                  <a:t>: Case_1 – </a:t>
                </a:r>
                <a14:m>
                  <m:oMath xmlns:m="http://schemas.openxmlformats.org/officeDocument/2006/math">
                    <m:r>
                      <a:rPr lang="en-US" i="1" dirty="0" smtClean="0">
                        <a:latin typeface="Cambria Math" panose="02040503050406030204" pitchFamily="18" charset="0"/>
                      </a:rPr>
                      <m:t>𝑧</m:t>
                    </m:r>
                  </m:oMath>
                </a14:m>
                <a:r>
                  <a:rPr lang="en-US" dirty="0"/>
                  <a:t>’s uncle is red. (lines 5-8)</a:t>
                </a:r>
              </a:p>
              <a:p>
                <a:pPr marL="0" indent="0" algn="just">
                  <a:lnSpc>
                    <a:spcPct val="100000"/>
                  </a:lnSpc>
                  <a:spcBef>
                    <a:spcPts val="600"/>
                  </a:spcBef>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𝑧</m:t>
                      </m:r>
                      <m:r>
                        <a:rPr lang="en-US" i="1" dirty="0" smtClean="0">
                          <a:latin typeface="Cambria Math" panose="02040503050406030204" pitchFamily="18" charset="0"/>
                        </a:rPr>
                        <m:t>.</m:t>
                      </m:r>
                      <m:r>
                        <a:rPr lang="en-US" i="1" dirty="0" smtClean="0">
                          <a:latin typeface="Cambria Math" panose="02040503050406030204" pitchFamily="18" charset="0"/>
                        </a:rPr>
                        <m:t>𝑝</m:t>
                      </m:r>
                      <m:r>
                        <a:rPr lang="en-US" i="1" dirty="0" smtClean="0">
                          <a:latin typeface="Cambria Math" panose="02040503050406030204" pitchFamily="18" charset="0"/>
                        </a:rPr>
                        <m:t>.</m:t>
                      </m:r>
                      <m:r>
                        <a:rPr lang="en-US" i="1" dirty="0" smtClean="0">
                          <a:latin typeface="Cambria Math" panose="02040503050406030204" pitchFamily="18" charset="0"/>
                        </a:rPr>
                        <m:t>𝑐𝑜𝑙𝑜𝑟</m:t>
                      </m:r>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r>
                        <a:rPr lang="en-US" i="1" dirty="0" err="1" smtClean="0">
                          <a:latin typeface="Cambria Math" panose="02040503050406030204" pitchFamily="18" charset="0"/>
                        </a:rPr>
                        <m:t>𝑦</m:t>
                      </m:r>
                      <m:r>
                        <a:rPr lang="en-US" i="1" dirty="0" err="1" smtClean="0">
                          <a:latin typeface="Cambria Math" panose="02040503050406030204" pitchFamily="18" charset="0"/>
                        </a:rPr>
                        <m:t>.</m:t>
                      </m:r>
                      <m:r>
                        <a:rPr lang="en-US" i="1" dirty="0" err="1" smtClean="0">
                          <a:latin typeface="Cambria Math" panose="02040503050406030204" pitchFamily="18" charset="0"/>
                        </a:rPr>
                        <m:t>𝑐𝑜𝑙𝑜𝑟</m:t>
                      </m:r>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r>
                        <a:rPr lang="en-US" i="1" dirty="0" smtClean="0">
                          <a:latin typeface="Cambria Math" panose="02040503050406030204" pitchFamily="18" charset="0"/>
                        </a:rPr>
                        <m:t>𝑅𝐸</m:t>
                      </m:r>
                      <m:r>
                        <a:rPr lang="en-US" i="1" dirty="0">
                          <a:latin typeface="Cambria Math" panose="02040503050406030204" pitchFamily="18" charset="0"/>
                        </a:rPr>
                        <m:t>𝐷</m:t>
                      </m:r>
                    </m:oMath>
                  </m:oMathPara>
                </a14:m>
                <a:endParaRPr lang="en-US" dirty="0"/>
              </a:p>
            </p:txBody>
          </p:sp>
        </mc:Choice>
        <mc:Fallback xmlns="">
          <p:sp>
            <p:nvSpPr>
              <p:cNvPr id="6" name="Content Placeholder 5">
                <a:extLst>
                  <a:ext uri="{FF2B5EF4-FFF2-40B4-BE49-F238E27FC236}">
                    <a16:creationId xmlns:a16="http://schemas.microsoft.com/office/drawing/2014/main" id="{493DD0C1-861A-7FB6-D195-0A73C08A2263}"/>
                  </a:ext>
                </a:extLst>
              </p:cNvPr>
              <p:cNvSpPr>
                <a:spLocks noGrp="1" noRot="1" noChangeAspect="1" noMove="1" noResize="1" noEditPoints="1" noAdjustHandles="1" noChangeArrowheads="1" noChangeShapeType="1" noTextEdit="1"/>
              </p:cNvSpPr>
              <p:nvPr>
                <p:ph sz="half" idx="2"/>
              </p:nvPr>
            </p:nvSpPr>
            <p:spPr>
              <a:xfrm>
                <a:off x="4582935" y="1866814"/>
                <a:ext cx="7427832" cy="1008191"/>
              </a:xfrm>
              <a:blipFill>
                <a:blip r:embed="rId3"/>
                <a:stretch>
                  <a:fillRect l="-1724" t="-5422" r="-114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08C6AF9-4675-6FE0-2DE4-A144AA08FAD9}"/>
              </a:ext>
            </a:extLst>
          </p:cNvPr>
          <p:cNvPicPr>
            <a:picLocks noChangeAspect="1"/>
          </p:cNvPicPr>
          <p:nvPr/>
        </p:nvPicPr>
        <p:blipFill>
          <a:blip r:embed="rId4"/>
          <a:stretch>
            <a:fillRect/>
          </a:stretch>
        </p:blipFill>
        <p:spPr>
          <a:xfrm>
            <a:off x="4786361" y="3051131"/>
            <a:ext cx="7020979" cy="3053107"/>
          </a:xfrm>
          <a:prstGeom prst="rect">
            <a:avLst/>
          </a:prstGeom>
        </p:spPr>
      </p:pic>
      <p:pic>
        <p:nvPicPr>
          <p:cNvPr id="8" name="Content Placeholder 13">
            <a:extLst>
              <a:ext uri="{FF2B5EF4-FFF2-40B4-BE49-F238E27FC236}">
                <a16:creationId xmlns:a16="http://schemas.microsoft.com/office/drawing/2014/main" id="{C7CDD8B3-BFC2-0BCB-28E5-96397FCB0B4E}"/>
              </a:ext>
            </a:extLst>
          </p:cNvPr>
          <p:cNvPicPr>
            <a:picLocks noGrp="1" noChangeAspect="1"/>
          </p:cNvPicPr>
          <p:nvPr>
            <p:ph sz="half" idx="1"/>
          </p:nvPr>
        </p:nvPicPr>
        <p:blipFill>
          <a:blip r:embed="rId5"/>
          <a:stretch>
            <a:fillRect/>
          </a:stretch>
        </p:blipFill>
        <p:spPr>
          <a:xfrm>
            <a:off x="181232" y="1690687"/>
            <a:ext cx="4446469" cy="4802187"/>
          </a:xfrm>
          <a:prstGeom prst="rect">
            <a:avLst/>
          </a:prstGeom>
        </p:spPr>
      </p:pic>
    </p:spTree>
    <p:extLst>
      <p:ext uri="{BB962C8B-B14F-4D97-AF65-F5344CB8AC3E}">
        <p14:creationId xmlns:p14="http://schemas.microsoft.com/office/powerpoint/2010/main" val="1693234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5E45-7CFE-F579-7D5F-C1486EEF1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CE0E3-5673-8497-5927-94CDC94AD55C}"/>
              </a:ext>
            </a:extLst>
          </p:cNvPr>
          <p:cNvSpPr>
            <a:spLocks noGrp="1"/>
          </p:cNvSpPr>
          <p:nvPr>
            <p:ph type="title"/>
          </p:nvPr>
        </p:nvSpPr>
        <p:spPr/>
        <p:txBody>
          <a:bodyPr/>
          <a:lstStyle/>
          <a:p>
            <a:r>
              <a:rPr lang="en-US" dirty="0"/>
              <a:t>Red-Black Tree: Analyzing Insert Fixup (6)</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D8E07606-1129-5689-0FB4-660C3BBDF8F5}"/>
                  </a:ext>
                </a:extLst>
              </p:cNvPr>
              <p:cNvSpPr>
                <a:spLocks noGrp="1"/>
              </p:cNvSpPr>
              <p:nvPr>
                <p:ph sz="half" idx="2"/>
              </p:nvPr>
            </p:nvSpPr>
            <p:spPr>
              <a:xfrm>
                <a:off x="4582935" y="1866814"/>
                <a:ext cx="7427832" cy="4351338"/>
              </a:xfrm>
            </p:spPr>
            <p:txBody>
              <a:bodyPr>
                <a:normAutofit/>
              </a:bodyPr>
              <a:lstStyle/>
              <a:p>
                <a:pPr marL="0" indent="0" algn="just">
                  <a:lnSpc>
                    <a:spcPct val="100000"/>
                  </a:lnSpc>
                  <a:spcBef>
                    <a:spcPts val="600"/>
                  </a:spcBef>
                  <a:buNone/>
                </a:pPr>
                <a:r>
                  <a:rPr lang="en-US" b="1" dirty="0"/>
                  <a:t>Maintenance</a:t>
                </a:r>
                <a:r>
                  <a:rPr lang="en-US" dirty="0"/>
                  <a:t>:</a:t>
                </a:r>
              </a:p>
              <a:p>
                <a:pPr marL="0" indent="0" algn="just">
                  <a:lnSpc>
                    <a:spcPct val="100000"/>
                  </a:lnSpc>
                  <a:spcBef>
                    <a:spcPts val="600"/>
                  </a:spcBef>
                  <a:buNone/>
                </a:pPr>
                <a:r>
                  <a:rPr lang="en-US" sz="2000" dirty="0"/>
                  <a:t>Case_2 – </a:t>
                </a:r>
                <a14:m>
                  <m:oMath xmlns:m="http://schemas.openxmlformats.org/officeDocument/2006/math">
                    <m:r>
                      <a:rPr lang="en-US" sz="2000" i="1" dirty="0" smtClean="0">
                        <a:latin typeface="Cambria Math" panose="02040503050406030204" pitchFamily="18" charset="0"/>
                      </a:rPr>
                      <m:t>𝑧</m:t>
                    </m:r>
                  </m:oMath>
                </a14:m>
                <a:r>
                  <a:rPr lang="en-US" sz="2000" dirty="0"/>
                  <a:t>’s uncle is black and </a:t>
                </a:r>
                <a14:m>
                  <m:oMath xmlns:m="http://schemas.openxmlformats.org/officeDocument/2006/math">
                    <m:r>
                      <a:rPr lang="en-US" sz="2000" i="1" dirty="0">
                        <a:latin typeface="Cambria Math" panose="02040503050406030204" pitchFamily="18" charset="0"/>
                      </a:rPr>
                      <m:t>𝑧</m:t>
                    </m:r>
                  </m:oMath>
                </a14:m>
                <a:r>
                  <a:rPr lang="en-US" sz="2000" dirty="0"/>
                  <a:t> is a right child (lines 10-11)</a:t>
                </a:r>
              </a:p>
              <a:p>
                <a:pPr marL="0" indent="0" algn="just">
                  <a:lnSpc>
                    <a:spcPct val="100000"/>
                  </a:lnSpc>
                  <a:spcBef>
                    <a:spcPts val="600"/>
                  </a:spcBef>
                  <a:buNone/>
                </a:pPr>
                <a:r>
                  <a:rPr lang="en-US" sz="2000" dirty="0"/>
                  <a:t>Case_3 – </a:t>
                </a:r>
                <a14:m>
                  <m:oMath xmlns:m="http://schemas.openxmlformats.org/officeDocument/2006/math">
                    <m:r>
                      <a:rPr lang="en-US" sz="2000" i="1" dirty="0" smtClean="0">
                        <a:latin typeface="Cambria Math" panose="02040503050406030204" pitchFamily="18" charset="0"/>
                      </a:rPr>
                      <m:t>𝑧</m:t>
                    </m:r>
                  </m:oMath>
                </a14:m>
                <a:r>
                  <a:rPr lang="en-US" sz="2000" dirty="0"/>
                  <a:t>’s uncle is black and </a:t>
                </a:r>
                <a14:m>
                  <m:oMath xmlns:m="http://schemas.openxmlformats.org/officeDocument/2006/math">
                    <m:r>
                      <a:rPr lang="en-US" sz="2000" i="1" dirty="0">
                        <a:latin typeface="Cambria Math" panose="02040503050406030204" pitchFamily="18" charset="0"/>
                      </a:rPr>
                      <m:t>𝑧</m:t>
                    </m:r>
                  </m:oMath>
                </a14:m>
                <a:r>
                  <a:rPr lang="en-US" sz="2000" dirty="0"/>
                  <a:t> is a left child (lines 12-14)</a:t>
                </a:r>
              </a:p>
              <a:p>
                <a:pPr marL="0" indent="0" algn="just">
                  <a:lnSpc>
                    <a:spcPct val="100000"/>
                  </a:lnSpc>
                  <a:spcBef>
                    <a:spcPts val="600"/>
                  </a:spcBef>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𝐶𝑎𝑠𝑒</m:t>
                      </m:r>
                      <m:r>
                        <a:rPr lang="en-US" sz="2000" i="1" dirty="0" smtClean="0">
                          <a:latin typeface="Cambria Math" panose="02040503050406030204" pitchFamily="18" charset="0"/>
                        </a:rPr>
                        <m:t>_2 + </m:t>
                      </m:r>
                      <m:r>
                        <a:rPr lang="en-US" sz="2000" i="1" dirty="0" smtClean="0">
                          <a:latin typeface="Cambria Math" panose="02040503050406030204" pitchFamily="18" charset="0"/>
                        </a:rPr>
                        <m:t>𝐿𝐸𝐹𝑇</m:t>
                      </m:r>
                      <m:r>
                        <a:rPr lang="en-US" sz="2000" i="1" dirty="0" smtClean="0">
                          <a:latin typeface="Cambria Math" panose="02040503050406030204" pitchFamily="18" charset="0"/>
                        </a:rPr>
                        <m:t>_</m:t>
                      </m:r>
                      <m:r>
                        <a:rPr lang="en-US" sz="2000" i="1" dirty="0" smtClean="0">
                          <a:latin typeface="Cambria Math" panose="02040503050406030204" pitchFamily="18" charset="0"/>
                        </a:rPr>
                        <m:t>𝑅𝑂𝑇𝐴𝑇𝐸</m:t>
                      </m:r>
                      <m:r>
                        <a:rPr lang="en-US" sz="2000" i="1" dirty="0" smtClean="0">
                          <a:latin typeface="Cambria Math" panose="02040503050406030204" pitchFamily="18" charset="0"/>
                        </a:rPr>
                        <m:t> = </m:t>
                      </m:r>
                      <m:r>
                        <a:rPr lang="en-US" sz="2000" i="1" dirty="0" smtClean="0">
                          <a:latin typeface="Cambria Math" panose="02040503050406030204" pitchFamily="18" charset="0"/>
                        </a:rPr>
                        <m:t>𝐶𝑎𝑠𝑒</m:t>
                      </m:r>
                      <m:r>
                        <a:rPr lang="en-US" sz="2000" i="1" dirty="0" smtClean="0">
                          <a:latin typeface="Cambria Math" panose="02040503050406030204" pitchFamily="18" charset="0"/>
                        </a:rPr>
                        <m:t>_3</m:t>
                      </m:r>
                    </m:oMath>
                  </m:oMathPara>
                </a14:m>
                <a:endParaRPr lang="en-US" sz="2000" dirty="0"/>
              </a:p>
              <a:p>
                <a:pPr marL="0" indent="0" algn="just">
                  <a:lnSpc>
                    <a:spcPct val="100000"/>
                  </a:lnSpc>
                  <a:spcBef>
                    <a:spcPts val="600"/>
                  </a:spcBef>
                  <a:buNone/>
                </a:pPr>
                <a:r>
                  <a:rPr lang="en-US" sz="2000" dirty="0"/>
                  <a:t>Lines 10-12:</a:t>
                </a:r>
              </a:p>
              <a:p>
                <a:pPr algn="just">
                  <a:lnSpc>
                    <a:spcPct val="100000"/>
                  </a:lnSpc>
                  <a:spcBef>
                    <a:spcPts val="600"/>
                  </a:spcBef>
                </a:pPr>
                <a:r>
                  <a:rPr lang="en-US" sz="1800" dirty="0"/>
                  <a:t> As </a:t>
                </a:r>
                <a14:m>
                  <m:oMath xmlns:m="http://schemas.openxmlformats.org/officeDocument/2006/math">
                    <m:r>
                      <a:rPr lang="en-US" sz="1800" i="1" dirty="0" smtClean="0">
                        <a:latin typeface="Cambria Math" panose="02040503050406030204" pitchFamily="18" charset="0"/>
                      </a:rPr>
                      <m:t>𝑧</m:t>
                    </m:r>
                  </m:oMath>
                </a14:m>
                <a:r>
                  <a:rPr lang="en-US" sz="1800" dirty="0"/>
                  <a:t> and </a:t>
                </a:r>
                <a14:m>
                  <m:oMath xmlns:m="http://schemas.openxmlformats.org/officeDocument/2006/math">
                    <m:r>
                      <a:rPr lang="en-US" sz="1800" i="1" dirty="0" smtClean="0">
                        <a:latin typeface="Cambria Math" panose="02040503050406030204" pitchFamily="18" charset="0"/>
                      </a:rPr>
                      <m:t>𝑧</m:t>
                    </m:r>
                    <m:r>
                      <a:rPr lang="en-US" sz="1800" i="1" dirty="0" smtClean="0">
                        <a:latin typeface="Cambria Math" panose="02040503050406030204" pitchFamily="18" charset="0"/>
                      </a:rPr>
                      <m:t>.</m:t>
                    </m:r>
                    <m:r>
                      <a:rPr lang="en-US" sz="1800" i="1" dirty="0" smtClean="0">
                        <a:latin typeface="Cambria Math" panose="02040503050406030204" pitchFamily="18" charset="0"/>
                      </a:rPr>
                      <m:t>𝑝</m:t>
                    </m:r>
                  </m:oMath>
                </a14:m>
                <a:r>
                  <a:rPr lang="en-US" sz="1800" dirty="0"/>
                  <a:t> are red, the rotation affects neither the black-height of nodes nor </a:t>
                </a:r>
                <a14:m>
                  <m:oMath xmlns:m="http://schemas.openxmlformats.org/officeDocument/2006/math">
                    <m:r>
                      <a:rPr lang="en-US" sz="1800" i="1" dirty="0" smtClean="0">
                        <a:latin typeface="Cambria Math" panose="02040503050406030204" pitchFamily="18" charset="0"/>
                      </a:rPr>
                      <m:t>𝑝𝑟𝑜𝑝𝑒𝑟𝑡𝑦</m:t>
                    </m:r>
                    <m:r>
                      <a:rPr lang="en-US" sz="1800" i="1" dirty="0" smtClean="0">
                        <a:latin typeface="Cambria Math" panose="02040503050406030204" pitchFamily="18" charset="0"/>
                      </a:rPr>
                      <m:t>_5</m:t>
                    </m:r>
                  </m:oMath>
                </a14:m>
                <a:r>
                  <a:rPr lang="en-US" sz="1800" dirty="0"/>
                  <a:t>.</a:t>
                </a:r>
              </a:p>
              <a:p>
                <a:pPr algn="just">
                  <a:lnSpc>
                    <a:spcPct val="100000"/>
                  </a:lnSpc>
                  <a:spcBef>
                    <a:spcPts val="600"/>
                  </a:spcBef>
                </a:pPr>
                <a14:m>
                  <m:oMath xmlns:m="http://schemas.openxmlformats.org/officeDocument/2006/math">
                    <m:r>
                      <a:rPr lang="en-US" sz="1800" i="1" dirty="0" smtClean="0">
                        <a:latin typeface="Cambria Math" panose="02040503050406030204" pitchFamily="18" charset="0"/>
                      </a:rPr>
                      <m:t>𝑧</m:t>
                    </m:r>
                    <m:r>
                      <a:rPr lang="en-US" sz="1800" i="1" dirty="0" smtClean="0">
                        <a:latin typeface="Cambria Math" panose="02040503050406030204" pitchFamily="18" charset="0"/>
                      </a:rPr>
                      <m:t>.</m:t>
                    </m:r>
                    <m:r>
                      <a:rPr lang="en-US" sz="1800" i="1" dirty="0" smtClean="0">
                        <a:latin typeface="Cambria Math" panose="02040503050406030204" pitchFamily="18" charset="0"/>
                      </a:rPr>
                      <m:t>𝑝</m:t>
                    </m:r>
                    <m:r>
                      <a:rPr lang="en-US" sz="1800" i="1" dirty="0" smtClean="0">
                        <a:latin typeface="Cambria Math" panose="02040503050406030204" pitchFamily="18" charset="0"/>
                      </a:rPr>
                      <m:t>.</m:t>
                    </m:r>
                    <m:r>
                      <a:rPr lang="en-US" sz="1800" i="1" dirty="0" smtClean="0">
                        <a:latin typeface="Cambria Math" panose="02040503050406030204" pitchFamily="18" charset="0"/>
                      </a:rPr>
                      <m:t>𝑝</m:t>
                    </m:r>
                  </m:oMath>
                </a14:m>
                <a:r>
                  <a:rPr lang="en-US" sz="1800" dirty="0"/>
                  <a:t> exists and remains unchanged </a:t>
                </a:r>
              </a:p>
              <a:p>
                <a:pPr marL="0" indent="0" algn="just">
                  <a:lnSpc>
                    <a:spcPct val="100000"/>
                  </a:lnSpc>
                  <a:spcBef>
                    <a:spcPts val="600"/>
                  </a:spcBef>
                  <a:buNone/>
                </a:pPr>
                <a:r>
                  <a:rPr lang="en-US" sz="2000"/>
                  <a:t>Lines 13-14:</a:t>
                </a:r>
                <a:endParaRPr lang="en-US" sz="2000" dirty="0"/>
              </a:p>
              <a:p>
                <a:pPr algn="just">
                  <a:lnSpc>
                    <a:spcPct val="100000"/>
                  </a:lnSpc>
                  <a:spcBef>
                    <a:spcPts val="600"/>
                  </a:spcBef>
                </a:pPr>
                <a:r>
                  <a:rPr lang="en-US" sz="2000" dirty="0"/>
                  <a:t> preserves </a:t>
                </a:r>
                <a:r>
                  <a:rPr lang="en-US" sz="2000" i="1" dirty="0"/>
                  <a:t>property_5</a:t>
                </a:r>
                <a:r>
                  <a:rPr lang="en-US" sz="2000" dirty="0"/>
                  <a:t> </a:t>
                </a:r>
              </a:p>
              <a:p>
                <a:pPr algn="just">
                  <a:lnSpc>
                    <a:spcPct val="100000"/>
                  </a:lnSpc>
                  <a:spcBef>
                    <a:spcPts val="600"/>
                  </a:spcBef>
                </a:pPr>
                <a:r>
                  <a:rPr lang="en-US" sz="2000" dirty="0"/>
                  <a:t>while loop interrupts in next iteration as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m:t>
                    </m:r>
                    <m:r>
                      <a:rPr lang="en-US" sz="2000" i="1" dirty="0" smtClean="0">
                        <a:latin typeface="Cambria Math" panose="02040503050406030204" pitchFamily="18" charset="0"/>
                      </a:rPr>
                      <m:t>𝑝</m:t>
                    </m:r>
                  </m:oMath>
                </a14:m>
                <a:r>
                  <a:rPr lang="en-US" sz="2000" dirty="0"/>
                  <a:t> is black</a:t>
                </a:r>
              </a:p>
            </p:txBody>
          </p:sp>
        </mc:Choice>
        <mc:Fallback>
          <p:sp>
            <p:nvSpPr>
              <p:cNvPr id="6" name="Content Placeholder 5">
                <a:extLst>
                  <a:ext uri="{FF2B5EF4-FFF2-40B4-BE49-F238E27FC236}">
                    <a16:creationId xmlns:a16="http://schemas.microsoft.com/office/drawing/2014/main" id="{D8E07606-1129-5689-0FB4-660C3BBDF8F5}"/>
                  </a:ext>
                </a:extLst>
              </p:cNvPr>
              <p:cNvSpPr>
                <a:spLocks noGrp="1" noRot="1" noChangeAspect="1" noMove="1" noResize="1" noEditPoints="1" noAdjustHandles="1" noChangeArrowheads="1" noChangeShapeType="1" noTextEdit="1"/>
              </p:cNvSpPr>
              <p:nvPr>
                <p:ph sz="half" idx="2"/>
              </p:nvPr>
            </p:nvSpPr>
            <p:spPr>
              <a:xfrm>
                <a:off x="4582935" y="1866814"/>
                <a:ext cx="7427832" cy="4351338"/>
              </a:xfrm>
              <a:blipFill>
                <a:blip r:embed="rId3"/>
                <a:stretch>
                  <a:fillRect l="-1724" t="-1261" r="-657"/>
                </a:stretch>
              </a:blipFill>
            </p:spPr>
            <p:txBody>
              <a:bodyPr/>
              <a:lstStyle/>
              <a:p>
                <a:r>
                  <a:rPr lang="en-US">
                    <a:noFill/>
                  </a:rPr>
                  <a:t> </a:t>
                </a:r>
              </a:p>
            </p:txBody>
          </p:sp>
        </mc:Fallback>
      </mc:AlternateContent>
      <p:pic>
        <p:nvPicPr>
          <p:cNvPr id="7" name="Content Placeholder 13">
            <a:extLst>
              <a:ext uri="{FF2B5EF4-FFF2-40B4-BE49-F238E27FC236}">
                <a16:creationId xmlns:a16="http://schemas.microsoft.com/office/drawing/2014/main" id="{99AC5C68-7787-946B-D2F9-8AA0EB1482A7}"/>
              </a:ext>
            </a:extLst>
          </p:cNvPr>
          <p:cNvPicPr>
            <a:picLocks noGrp="1" noChangeAspect="1"/>
          </p:cNvPicPr>
          <p:nvPr>
            <p:ph sz="half" idx="1"/>
          </p:nvPr>
        </p:nvPicPr>
        <p:blipFill>
          <a:blip r:embed="rId4"/>
          <a:stretch>
            <a:fillRect/>
          </a:stretch>
        </p:blipFill>
        <p:spPr>
          <a:xfrm>
            <a:off x="181232" y="1690687"/>
            <a:ext cx="4446469" cy="4802187"/>
          </a:xfrm>
          <a:prstGeom prst="rect">
            <a:avLst/>
          </a:prstGeom>
        </p:spPr>
      </p:pic>
    </p:spTree>
    <p:extLst>
      <p:ext uri="{BB962C8B-B14F-4D97-AF65-F5344CB8AC3E}">
        <p14:creationId xmlns:p14="http://schemas.microsoft.com/office/powerpoint/2010/main" val="203094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6530A-E454-BB9A-7729-BBC86E98D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81556-F2BD-EE55-97EA-3FA6F305BDC7}"/>
              </a:ext>
            </a:extLst>
          </p:cNvPr>
          <p:cNvSpPr>
            <a:spLocks noGrp="1"/>
          </p:cNvSpPr>
          <p:nvPr>
            <p:ph type="title"/>
          </p:nvPr>
        </p:nvSpPr>
        <p:spPr/>
        <p:txBody>
          <a:bodyPr/>
          <a:lstStyle/>
          <a:p>
            <a:r>
              <a:rPr lang="en-US" dirty="0"/>
              <a:t>Red-Black Tree: Analyzing Insert Fixup (7)</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49376981-486F-E369-235D-1BDAD6353C62}"/>
                  </a:ext>
                </a:extLst>
              </p:cNvPr>
              <p:cNvSpPr>
                <a:spLocks noGrp="1"/>
              </p:cNvSpPr>
              <p:nvPr>
                <p:ph sz="half" idx="2"/>
              </p:nvPr>
            </p:nvSpPr>
            <p:spPr>
              <a:xfrm>
                <a:off x="4582935" y="1866814"/>
                <a:ext cx="7427832" cy="1428321"/>
              </a:xfrm>
            </p:spPr>
            <p:txBody>
              <a:bodyPr>
                <a:normAutofit/>
              </a:bodyPr>
              <a:lstStyle/>
              <a:p>
                <a:pPr marL="0" indent="0" algn="just">
                  <a:lnSpc>
                    <a:spcPct val="100000"/>
                  </a:lnSpc>
                  <a:spcBef>
                    <a:spcPts val="600"/>
                  </a:spcBef>
                  <a:buNone/>
                </a:pPr>
                <a:r>
                  <a:rPr lang="en-US" b="1" dirty="0"/>
                  <a:t>Maintenance</a:t>
                </a:r>
                <a:r>
                  <a:rPr lang="en-US" dirty="0"/>
                  <a:t>:</a:t>
                </a:r>
              </a:p>
              <a:p>
                <a:pPr marL="0" indent="0" algn="just">
                  <a:lnSpc>
                    <a:spcPct val="100000"/>
                  </a:lnSpc>
                  <a:spcBef>
                    <a:spcPts val="600"/>
                  </a:spcBef>
                  <a:buNone/>
                </a:pPr>
                <a:r>
                  <a:rPr lang="en-US" sz="2000" dirty="0"/>
                  <a:t>Case_2 – </a:t>
                </a:r>
                <a14:m>
                  <m:oMath xmlns:m="http://schemas.openxmlformats.org/officeDocument/2006/math">
                    <m:r>
                      <a:rPr lang="en-US" sz="2000" i="1" dirty="0" smtClean="0">
                        <a:latin typeface="Cambria Math" panose="02040503050406030204" pitchFamily="18" charset="0"/>
                      </a:rPr>
                      <m:t>𝑧</m:t>
                    </m:r>
                  </m:oMath>
                </a14:m>
                <a:r>
                  <a:rPr lang="en-US" sz="2000" dirty="0"/>
                  <a:t>’s uncle is black and </a:t>
                </a:r>
                <a14:m>
                  <m:oMath xmlns:m="http://schemas.openxmlformats.org/officeDocument/2006/math">
                    <m:r>
                      <a:rPr lang="en-US" sz="2000" i="1" dirty="0">
                        <a:latin typeface="Cambria Math" panose="02040503050406030204" pitchFamily="18" charset="0"/>
                      </a:rPr>
                      <m:t>𝑧</m:t>
                    </m:r>
                  </m:oMath>
                </a14:m>
                <a:r>
                  <a:rPr lang="en-US" sz="2000" dirty="0"/>
                  <a:t> is a right child (lines 10-11)</a:t>
                </a:r>
              </a:p>
              <a:p>
                <a:pPr marL="0" indent="0" algn="just">
                  <a:lnSpc>
                    <a:spcPct val="100000"/>
                  </a:lnSpc>
                  <a:spcBef>
                    <a:spcPts val="600"/>
                  </a:spcBef>
                  <a:buNone/>
                </a:pPr>
                <a:r>
                  <a:rPr lang="en-US" sz="2000" dirty="0"/>
                  <a:t>Case_3 – </a:t>
                </a:r>
                <a14:m>
                  <m:oMath xmlns:m="http://schemas.openxmlformats.org/officeDocument/2006/math">
                    <m:r>
                      <a:rPr lang="en-US" sz="2000" i="1" dirty="0" smtClean="0">
                        <a:latin typeface="Cambria Math" panose="02040503050406030204" pitchFamily="18" charset="0"/>
                      </a:rPr>
                      <m:t>𝑧</m:t>
                    </m:r>
                  </m:oMath>
                </a14:m>
                <a:r>
                  <a:rPr lang="en-US" sz="2000" dirty="0"/>
                  <a:t>’s uncle is black and </a:t>
                </a:r>
                <a14:m>
                  <m:oMath xmlns:m="http://schemas.openxmlformats.org/officeDocument/2006/math">
                    <m:r>
                      <a:rPr lang="en-US" sz="2000" i="1" dirty="0">
                        <a:latin typeface="Cambria Math" panose="02040503050406030204" pitchFamily="18" charset="0"/>
                      </a:rPr>
                      <m:t>𝑧</m:t>
                    </m:r>
                  </m:oMath>
                </a14:m>
                <a:r>
                  <a:rPr lang="en-US" sz="2000" dirty="0"/>
                  <a:t> is a left child (lines 12-14)</a:t>
                </a:r>
              </a:p>
            </p:txBody>
          </p:sp>
        </mc:Choice>
        <mc:Fallback xmlns="">
          <p:sp>
            <p:nvSpPr>
              <p:cNvPr id="6" name="Content Placeholder 5">
                <a:extLst>
                  <a:ext uri="{FF2B5EF4-FFF2-40B4-BE49-F238E27FC236}">
                    <a16:creationId xmlns:a16="http://schemas.microsoft.com/office/drawing/2014/main" id="{49376981-486F-E369-235D-1BDAD6353C62}"/>
                  </a:ext>
                </a:extLst>
              </p:cNvPr>
              <p:cNvSpPr>
                <a:spLocks noGrp="1" noRot="1" noChangeAspect="1" noMove="1" noResize="1" noEditPoints="1" noAdjustHandles="1" noChangeArrowheads="1" noChangeShapeType="1" noTextEdit="1"/>
              </p:cNvSpPr>
              <p:nvPr>
                <p:ph sz="half" idx="2"/>
              </p:nvPr>
            </p:nvSpPr>
            <p:spPr>
              <a:xfrm>
                <a:off x="4582935" y="1866814"/>
                <a:ext cx="7427832" cy="1428321"/>
              </a:xfrm>
              <a:blipFill>
                <a:blip r:embed="rId3"/>
                <a:stretch>
                  <a:fillRect l="-1724" t="-383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9DD1A59-761B-7C6F-D935-A1BC7F53F625}"/>
              </a:ext>
            </a:extLst>
          </p:cNvPr>
          <p:cNvPicPr>
            <a:picLocks noChangeAspect="1"/>
          </p:cNvPicPr>
          <p:nvPr/>
        </p:nvPicPr>
        <p:blipFill>
          <a:blip r:embed="rId4"/>
          <a:stretch>
            <a:fillRect/>
          </a:stretch>
        </p:blipFill>
        <p:spPr>
          <a:xfrm>
            <a:off x="4582934" y="3562866"/>
            <a:ext cx="7422304" cy="2038864"/>
          </a:xfrm>
          <a:prstGeom prst="rect">
            <a:avLst/>
          </a:prstGeom>
        </p:spPr>
      </p:pic>
      <p:pic>
        <p:nvPicPr>
          <p:cNvPr id="8" name="Content Placeholder 13">
            <a:extLst>
              <a:ext uri="{FF2B5EF4-FFF2-40B4-BE49-F238E27FC236}">
                <a16:creationId xmlns:a16="http://schemas.microsoft.com/office/drawing/2014/main" id="{AC9BC0A2-1D2D-2AD3-A7BD-F539F568E7E1}"/>
              </a:ext>
            </a:extLst>
          </p:cNvPr>
          <p:cNvPicPr>
            <a:picLocks noGrp="1" noChangeAspect="1"/>
          </p:cNvPicPr>
          <p:nvPr>
            <p:ph sz="half" idx="1"/>
          </p:nvPr>
        </p:nvPicPr>
        <p:blipFill>
          <a:blip r:embed="rId5"/>
          <a:stretch>
            <a:fillRect/>
          </a:stretch>
        </p:blipFill>
        <p:spPr>
          <a:xfrm>
            <a:off x="181232" y="1690687"/>
            <a:ext cx="4446469" cy="4802187"/>
          </a:xfrm>
          <a:prstGeom prst="rect">
            <a:avLst/>
          </a:prstGeom>
        </p:spPr>
      </p:pic>
    </p:spTree>
    <p:extLst>
      <p:ext uri="{BB962C8B-B14F-4D97-AF65-F5344CB8AC3E}">
        <p14:creationId xmlns:p14="http://schemas.microsoft.com/office/powerpoint/2010/main" val="594819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74235-C4B9-B83C-2C69-E509C8D3E31A}"/>
              </a:ext>
            </a:extLst>
          </p:cNvPr>
          <p:cNvSpPr>
            <a:spLocks noGrp="1"/>
          </p:cNvSpPr>
          <p:nvPr>
            <p:ph type="title"/>
          </p:nvPr>
        </p:nvSpPr>
        <p:spPr/>
        <p:txBody>
          <a:bodyPr/>
          <a:lstStyle/>
          <a:p>
            <a:r>
              <a:rPr lang="en-US" dirty="0"/>
              <a:t>Red-Black Tree: Insert Fixup (8)</a:t>
            </a:r>
          </a:p>
        </p:txBody>
      </p:sp>
      <p:pic>
        <p:nvPicPr>
          <p:cNvPr id="6" name="Content Placeholder 5">
            <a:extLst>
              <a:ext uri="{FF2B5EF4-FFF2-40B4-BE49-F238E27FC236}">
                <a16:creationId xmlns:a16="http://schemas.microsoft.com/office/drawing/2014/main" id="{DA025D92-D608-89CB-0607-732FB8EC74DD}"/>
              </a:ext>
            </a:extLst>
          </p:cNvPr>
          <p:cNvPicPr>
            <a:picLocks noGrp="1" noChangeAspect="1"/>
          </p:cNvPicPr>
          <p:nvPr>
            <p:ph sz="half" idx="1"/>
          </p:nvPr>
        </p:nvPicPr>
        <p:blipFill>
          <a:blip r:embed="rId2"/>
          <a:stretch>
            <a:fillRect/>
          </a:stretch>
        </p:blipFill>
        <p:spPr>
          <a:xfrm>
            <a:off x="963651" y="1492552"/>
            <a:ext cx="4562077" cy="5194774"/>
          </a:xfrm>
          <a:prstGeom prst="rect">
            <a:avLst/>
          </a:prstGeom>
        </p:spPr>
      </p:pic>
      <p:pic>
        <p:nvPicPr>
          <p:cNvPr id="10" name="Content Placeholder 9">
            <a:extLst>
              <a:ext uri="{FF2B5EF4-FFF2-40B4-BE49-F238E27FC236}">
                <a16:creationId xmlns:a16="http://schemas.microsoft.com/office/drawing/2014/main" id="{C268AA71-02F5-76D9-C034-DAFDF9776CA1}"/>
              </a:ext>
            </a:extLst>
          </p:cNvPr>
          <p:cNvPicPr>
            <a:picLocks noGrp="1" noChangeAspect="1"/>
          </p:cNvPicPr>
          <p:nvPr>
            <p:ph sz="half" idx="2"/>
          </p:nvPr>
        </p:nvPicPr>
        <p:blipFill>
          <a:blip r:embed="rId3"/>
          <a:stretch>
            <a:fillRect/>
          </a:stretch>
        </p:blipFill>
        <p:spPr>
          <a:xfrm>
            <a:off x="5941606" y="1492552"/>
            <a:ext cx="5412194" cy="5194774"/>
          </a:xfrm>
          <a:prstGeom prst="rect">
            <a:avLst/>
          </a:prstGeom>
        </p:spPr>
      </p:pic>
    </p:spTree>
    <p:extLst>
      <p:ext uri="{BB962C8B-B14F-4D97-AF65-F5344CB8AC3E}">
        <p14:creationId xmlns:p14="http://schemas.microsoft.com/office/powerpoint/2010/main" val="3381477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13801-FF67-EC24-2ADC-581F5FE1DEBF}"/>
              </a:ext>
            </a:extLst>
          </p:cNvPr>
          <p:cNvSpPr>
            <a:spLocks noGrp="1"/>
          </p:cNvSpPr>
          <p:nvPr>
            <p:ph type="title"/>
          </p:nvPr>
        </p:nvSpPr>
        <p:spPr/>
        <p:txBody>
          <a:bodyPr/>
          <a:lstStyle/>
          <a:p>
            <a:r>
              <a:rPr lang="en-US" dirty="0"/>
              <a:t>Red-Black Tree: Exercises 2</a:t>
            </a:r>
          </a:p>
        </p:txBody>
      </p:sp>
      <p:sp>
        <p:nvSpPr>
          <p:cNvPr id="5" name="Content Placeholder 4">
            <a:extLst>
              <a:ext uri="{FF2B5EF4-FFF2-40B4-BE49-F238E27FC236}">
                <a16:creationId xmlns:a16="http://schemas.microsoft.com/office/drawing/2014/main" id="{E53CDE51-53EF-B1C6-BA8F-DC39BEF79DA7}"/>
              </a:ext>
            </a:extLst>
          </p:cNvPr>
          <p:cNvSpPr>
            <a:spLocks noGrp="1"/>
          </p:cNvSpPr>
          <p:nvPr>
            <p:ph idx="1"/>
          </p:nvPr>
        </p:nvSpPr>
        <p:spPr/>
        <p:txBody>
          <a:bodyPr/>
          <a:lstStyle/>
          <a:p>
            <a:pPr marL="514350" indent="-514350">
              <a:buAutoNum type="arabicPeriod"/>
            </a:pPr>
            <a:r>
              <a:rPr lang="en-US" dirty="0"/>
              <a:t>Show the red-black trees that result after successively inserting the keys 41; 38; 31; 12; 19; 8 into an initially empty red-black tree.</a:t>
            </a:r>
          </a:p>
          <a:p>
            <a:pPr marL="514350" indent="-514350">
              <a:buFont typeface="Arial" panose="020B0604020202020204" pitchFamily="34" charset="0"/>
              <a:buAutoNum type="arabicPeriod"/>
            </a:pPr>
            <a:r>
              <a:rPr lang="en-US" dirty="0"/>
              <a:t>Show the red-black trees that result after successively inserting the keys 20, 15, 25, 10, 18, 8, 5 into an initially empty red-black tree.</a:t>
            </a:r>
          </a:p>
          <a:p>
            <a:pPr marL="514350" indent="-514350">
              <a:buAutoNum type="arabicPeriod"/>
            </a:pPr>
            <a:r>
              <a:rPr lang="en-US" dirty="0"/>
              <a:t>Consider a red-black tree formed by inserting n nodes with RB-INSERT. Argue that if n &gt; 1, the tree has at least one red node.</a:t>
            </a:r>
          </a:p>
        </p:txBody>
      </p:sp>
    </p:spTree>
    <p:extLst>
      <p:ext uri="{BB962C8B-B14F-4D97-AF65-F5344CB8AC3E}">
        <p14:creationId xmlns:p14="http://schemas.microsoft.com/office/powerpoint/2010/main" val="2298051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1779-ADBA-8573-2DD4-4654631C8A6E}"/>
              </a:ext>
            </a:extLst>
          </p:cNvPr>
          <p:cNvSpPr>
            <a:spLocks noGrp="1"/>
          </p:cNvSpPr>
          <p:nvPr>
            <p:ph type="title"/>
          </p:nvPr>
        </p:nvSpPr>
        <p:spPr/>
        <p:txBody>
          <a:bodyPr/>
          <a:lstStyle/>
          <a:p>
            <a:r>
              <a:rPr lang="en-US" dirty="0"/>
              <a:t>Red-Black Tree: Delete: Transplant</a:t>
            </a:r>
          </a:p>
        </p:txBody>
      </p:sp>
      <p:pic>
        <p:nvPicPr>
          <p:cNvPr id="6" name="Content Placeholder 5">
            <a:extLst>
              <a:ext uri="{FF2B5EF4-FFF2-40B4-BE49-F238E27FC236}">
                <a16:creationId xmlns:a16="http://schemas.microsoft.com/office/drawing/2014/main" id="{FC82A6A4-E389-47CF-DC38-5CCCFE390EFA}"/>
              </a:ext>
            </a:extLst>
          </p:cNvPr>
          <p:cNvPicPr>
            <a:picLocks noGrp="1" noChangeAspect="1"/>
          </p:cNvPicPr>
          <p:nvPr>
            <p:ph sz="half" idx="1"/>
          </p:nvPr>
        </p:nvPicPr>
        <p:blipFill>
          <a:blip r:embed="rId2"/>
          <a:stretch>
            <a:fillRect/>
          </a:stretch>
        </p:blipFill>
        <p:spPr>
          <a:xfrm>
            <a:off x="1355658" y="2006186"/>
            <a:ext cx="4740342" cy="3546117"/>
          </a:xfrm>
        </p:spPr>
      </p:pic>
      <p:pic>
        <p:nvPicPr>
          <p:cNvPr id="7" name="Content Placeholder 9">
            <a:extLst>
              <a:ext uri="{FF2B5EF4-FFF2-40B4-BE49-F238E27FC236}">
                <a16:creationId xmlns:a16="http://schemas.microsoft.com/office/drawing/2014/main" id="{D4E56E28-E5EF-BF0A-3C9D-0D5A93CF0DDE}"/>
              </a:ext>
            </a:extLst>
          </p:cNvPr>
          <p:cNvPicPr>
            <a:picLocks noGrp="1" noChangeAspect="1"/>
          </p:cNvPicPr>
          <p:nvPr>
            <p:ph sz="half" idx="2"/>
          </p:nvPr>
        </p:nvPicPr>
        <p:blipFill>
          <a:blip r:embed="rId3"/>
          <a:stretch>
            <a:fillRect/>
          </a:stretch>
        </p:blipFill>
        <p:spPr>
          <a:xfrm>
            <a:off x="6672318" y="1825625"/>
            <a:ext cx="4181363" cy="4351338"/>
          </a:xfrm>
        </p:spPr>
      </p:pic>
    </p:spTree>
    <p:extLst>
      <p:ext uri="{BB962C8B-B14F-4D97-AF65-F5344CB8AC3E}">
        <p14:creationId xmlns:p14="http://schemas.microsoft.com/office/powerpoint/2010/main" val="1414169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A884-109A-D8F6-049B-3BDE3E39C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7B555-2E68-7D9F-0B67-571970C6B66B}"/>
              </a:ext>
            </a:extLst>
          </p:cNvPr>
          <p:cNvSpPr>
            <a:spLocks noGrp="1"/>
          </p:cNvSpPr>
          <p:nvPr>
            <p:ph type="title"/>
          </p:nvPr>
        </p:nvSpPr>
        <p:spPr/>
        <p:txBody>
          <a:bodyPr/>
          <a:lstStyle/>
          <a:p>
            <a:r>
              <a:rPr lang="en-US" dirty="0"/>
              <a:t>Red-Black Tree: Delete: Transplant</a:t>
            </a:r>
          </a:p>
        </p:txBody>
      </p:sp>
      <p:pic>
        <p:nvPicPr>
          <p:cNvPr id="6" name="Content Placeholder 5">
            <a:extLst>
              <a:ext uri="{FF2B5EF4-FFF2-40B4-BE49-F238E27FC236}">
                <a16:creationId xmlns:a16="http://schemas.microsoft.com/office/drawing/2014/main" id="{A75E174F-57E7-B0C2-7B38-826B75C4E82F}"/>
              </a:ext>
            </a:extLst>
          </p:cNvPr>
          <p:cNvPicPr>
            <a:picLocks noGrp="1" noChangeAspect="1"/>
          </p:cNvPicPr>
          <p:nvPr>
            <p:ph sz="half" idx="1"/>
          </p:nvPr>
        </p:nvPicPr>
        <p:blipFill>
          <a:blip r:embed="rId2"/>
          <a:stretch>
            <a:fillRect/>
          </a:stretch>
        </p:blipFill>
        <p:spPr>
          <a:xfrm>
            <a:off x="1355658" y="2006186"/>
            <a:ext cx="4740342" cy="3546117"/>
          </a:xfrm>
        </p:spPr>
      </p:pic>
      <p:pic>
        <p:nvPicPr>
          <p:cNvPr id="7" name="Content Placeholder 9">
            <a:extLst>
              <a:ext uri="{FF2B5EF4-FFF2-40B4-BE49-F238E27FC236}">
                <a16:creationId xmlns:a16="http://schemas.microsoft.com/office/drawing/2014/main" id="{7E3AAF18-AC4F-2152-580A-CFCA8E4C9900}"/>
              </a:ext>
            </a:extLst>
          </p:cNvPr>
          <p:cNvPicPr>
            <a:picLocks noGrp="1" noChangeAspect="1"/>
          </p:cNvPicPr>
          <p:nvPr>
            <p:ph sz="half" idx="2"/>
          </p:nvPr>
        </p:nvPicPr>
        <p:blipFill>
          <a:blip r:embed="rId3"/>
          <a:stretch>
            <a:fillRect/>
          </a:stretch>
        </p:blipFill>
        <p:spPr>
          <a:xfrm>
            <a:off x="6672318" y="1825625"/>
            <a:ext cx="4181363" cy="4351338"/>
          </a:xfrm>
        </p:spPr>
      </p:pic>
    </p:spTree>
    <p:extLst>
      <p:ext uri="{BB962C8B-B14F-4D97-AF65-F5344CB8AC3E}">
        <p14:creationId xmlns:p14="http://schemas.microsoft.com/office/powerpoint/2010/main" val="3317023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B4EC7-74B1-8793-E852-98FB583AA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FD4D2-982B-90E2-E169-387BD8A39BAF}"/>
              </a:ext>
            </a:extLst>
          </p:cNvPr>
          <p:cNvSpPr>
            <a:spLocks noGrp="1"/>
          </p:cNvSpPr>
          <p:nvPr>
            <p:ph type="title"/>
          </p:nvPr>
        </p:nvSpPr>
        <p:spPr>
          <a:xfrm>
            <a:off x="838200" y="17205"/>
            <a:ext cx="10515600" cy="1325563"/>
          </a:xfrm>
        </p:spPr>
        <p:txBody>
          <a:bodyPr/>
          <a:lstStyle/>
          <a:p>
            <a:r>
              <a:rPr lang="en-US" dirty="0"/>
              <a:t>Red-Black Tree: Delete (1)</a:t>
            </a:r>
          </a:p>
        </p:txBody>
      </p:sp>
      <p:pic>
        <p:nvPicPr>
          <p:cNvPr id="10" name="Content Placeholder 9">
            <a:extLst>
              <a:ext uri="{FF2B5EF4-FFF2-40B4-BE49-F238E27FC236}">
                <a16:creationId xmlns:a16="http://schemas.microsoft.com/office/drawing/2014/main" id="{E2386693-860A-A81B-655B-90C199280B4A}"/>
              </a:ext>
            </a:extLst>
          </p:cNvPr>
          <p:cNvPicPr>
            <a:picLocks noGrp="1" noChangeAspect="1"/>
          </p:cNvPicPr>
          <p:nvPr>
            <p:ph sz="half" idx="1"/>
          </p:nvPr>
        </p:nvPicPr>
        <p:blipFill>
          <a:blip r:embed="rId3"/>
          <a:srcRect t="505"/>
          <a:stretch/>
        </p:blipFill>
        <p:spPr>
          <a:xfrm>
            <a:off x="503518" y="1092851"/>
            <a:ext cx="4216763" cy="5747944"/>
          </a:xfrm>
        </p:spPr>
      </p:pic>
      <p:pic>
        <p:nvPicPr>
          <p:cNvPr id="11" name="Content Placeholder 14">
            <a:extLst>
              <a:ext uri="{FF2B5EF4-FFF2-40B4-BE49-F238E27FC236}">
                <a16:creationId xmlns:a16="http://schemas.microsoft.com/office/drawing/2014/main" id="{1D71BF28-D036-EA5A-490C-DB6A52272D94}"/>
              </a:ext>
            </a:extLst>
          </p:cNvPr>
          <p:cNvPicPr>
            <a:picLocks noGrp="1" noChangeAspect="1"/>
          </p:cNvPicPr>
          <p:nvPr>
            <p:ph sz="half" idx="2"/>
          </p:nvPr>
        </p:nvPicPr>
        <p:blipFill>
          <a:blip r:embed="rId4"/>
          <a:stretch>
            <a:fillRect/>
          </a:stretch>
        </p:blipFill>
        <p:spPr>
          <a:xfrm>
            <a:off x="5673458" y="1092852"/>
            <a:ext cx="4534969" cy="4031084"/>
          </a:xfrm>
        </p:spPr>
      </p:pic>
    </p:spTree>
    <p:extLst>
      <p:ext uri="{BB962C8B-B14F-4D97-AF65-F5344CB8AC3E}">
        <p14:creationId xmlns:p14="http://schemas.microsoft.com/office/powerpoint/2010/main" val="1099632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D3F26-B021-2035-AE9E-B083BE0DA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6FF11-CC91-5C5F-D637-73AD1D0FE9E8}"/>
              </a:ext>
            </a:extLst>
          </p:cNvPr>
          <p:cNvSpPr>
            <a:spLocks noGrp="1"/>
          </p:cNvSpPr>
          <p:nvPr>
            <p:ph type="title"/>
          </p:nvPr>
        </p:nvSpPr>
        <p:spPr>
          <a:xfrm>
            <a:off x="838200" y="17205"/>
            <a:ext cx="10515600" cy="1325563"/>
          </a:xfrm>
        </p:spPr>
        <p:txBody>
          <a:bodyPr/>
          <a:lstStyle/>
          <a:p>
            <a:r>
              <a:rPr lang="en-US" dirty="0"/>
              <a:t>Red-Black Tree: Delete (2)</a:t>
            </a:r>
          </a:p>
        </p:txBody>
      </p:sp>
      <p:pic>
        <p:nvPicPr>
          <p:cNvPr id="10" name="Content Placeholder 9">
            <a:extLst>
              <a:ext uri="{FF2B5EF4-FFF2-40B4-BE49-F238E27FC236}">
                <a16:creationId xmlns:a16="http://schemas.microsoft.com/office/drawing/2014/main" id="{E35AEBE9-4F98-C141-9FC4-8EA7CD10A13F}"/>
              </a:ext>
            </a:extLst>
          </p:cNvPr>
          <p:cNvPicPr>
            <a:picLocks noGrp="1" noChangeAspect="1"/>
          </p:cNvPicPr>
          <p:nvPr>
            <p:ph sz="half" idx="1"/>
          </p:nvPr>
        </p:nvPicPr>
        <p:blipFill>
          <a:blip r:embed="rId3"/>
          <a:srcRect t="505"/>
          <a:stretch/>
        </p:blipFill>
        <p:spPr>
          <a:xfrm>
            <a:off x="503518" y="1092851"/>
            <a:ext cx="4216763" cy="5747944"/>
          </a:xfrm>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49A5372-62A5-5114-F9C9-8E3421C2A8B0}"/>
                  </a:ext>
                </a:extLst>
              </p:cNvPr>
              <p:cNvSpPr>
                <a:spLocks noGrp="1"/>
              </p:cNvSpPr>
              <p:nvPr>
                <p:ph sz="half" idx="2"/>
              </p:nvPr>
            </p:nvSpPr>
            <p:spPr>
              <a:xfrm>
                <a:off x="5379308" y="1092851"/>
                <a:ext cx="6400800" cy="5555084"/>
              </a:xfrm>
            </p:spPr>
            <p:txBody>
              <a:bodyPr>
                <a:normAutofit/>
              </a:bodyPr>
              <a:lstStyle/>
              <a:p>
                <a:pPr marL="0" indent="0">
                  <a:buNone/>
                </a:pPr>
                <a14:m>
                  <m:oMath xmlns:m="http://schemas.openxmlformats.org/officeDocument/2006/math">
                    <m:r>
                      <a:rPr lang="en-US" sz="2000" i="1" dirty="0" smtClean="0">
                        <a:latin typeface="Cambria Math" panose="02040503050406030204" pitchFamily="18" charset="0"/>
                      </a:rPr>
                      <m:t>𝑦</m:t>
                    </m:r>
                  </m:oMath>
                </a14:m>
                <a:r>
                  <a:rPr lang="en-US" sz="2000" dirty="0"/>
                  <a:t> – the node either removed from the tree or moved within</a:t>
                </a:r>
              </a:p>
              <a:p>
                <a:pPr marL="0" indent="0">
                  <a:buNone/>
                </a:pPr>
                <a:r>
                  <a:rPr lang="en-US" sz="2000" dirty="0"/>
                  <a:t>the tree.</a:t>
                </a:r>
              </a:p>
              <a:p>
                <a:pPr marL="0" indent="0">
                  <a:buNone/>
                </a:pPr>
                <a14:m>
                  <m:oMath xmlns:m="http://schemas.openxmlformats.org/officeDocument/2006/math">
                    <m:r>
                      <a:rPr lang="en-US" sz="2000" i="1" dirty="0" smtClean="0">
                        <a:latin typeface="Cambria Math" panose="02040503050406030204" pitchFamily="18" charset="0"/>
                      </a:rPr>
                      <m:t>𝑦</m:t>
                    </m:r>
                    <m:r>
                      <a:rPr lang="en-US" sz="2000" b="0" i="1" dirty="0" smtClean="0">
                        <a:latin typeface="Cambria Math" panose="02040503050406030204" pitchFamily="18" charset="0"/>
                      </a:rPr>
                      <m:t>_</m:t>
                    </m:r>
                    <m:r>
                      <a:rPr lang="en-US" sz="2000" b="0" i="1" dirty="0" smtClean="0">
                        <a:latin typeface="Cambria Math" panose="02040503050406030204" pitchFamily="18" charset="0"/>
                      </a:rPr>
                      <m:t>𝑜𝑟𝑖𝑔𝑖𝑛𝑎𝑙</m:t>
                    </m:r>
                    <m:r>
                      <a:rPr lang="en-US" sz="2000" b="0" i="1" dirty="0" smtClean="0">
                        <a:latin typeface="Cambria Math" panose="02040503050406030204" pitchFamily="18" charset="0"/>
                      </a:rPr>
                      <m:t>_</m:t>
                    </m:r>
                    <m:r>
                      <a:rPr lang="en-US" sz="2000" b="0" i="1" dirty="0" smtClean="0">
                        <a:latin typeface="Cambria Math" panose="02040503050406030204" pitchFamily="18" charset="0"/>
                      </a:rPr>
                      <m:t>𝑐𝑜𝑙𝑜𝑟</m:t>
                    </m:r>
                  </m:oMath>
                </a14:m>
                <a:r>
                  <a:rPr lang="en-US" sz="2000" dirty="0"/>
                  <a:t> – stores the color of </a:t>
                </a:r>
                <a14:m>
                  <m:oMath xmlns:m="http://schemas.openxmlformats.org/officeDocument/2006/math">
                    <m:r>
                      <a:rPr lang="en-US" sz="2000" i="1" dirty="0" smtClean="0">
                        <a:latin typeface="Cambria Math" panose="02040503050406030204" pitchFamily="18" charset="0"/>
                      </a:rPr>
                      <m:t>𝑦</m:t>
                    </m:r>
                  </m:oMath>
                </a14:m>
                <a:r>
                  <a:rPr lang="en-US" sz="2000" dirty="0"/>
                  <a:t> before any change</a:t>
                </a:r>
              </a:p>
              <a:p>
                <a:pPr marL="0" indent="0">
                  <a:buNone/>
                </a:pPr>
                <a14:m>
                  <m:oMath xmlns:m="http://schemas.openxmlformats.org/officeDocument/2006/math">
                    <m:r>
                      <a:rPr lang="en-US" sz="2000" i="1" dirty="0" smtClean="0">
                        <a:latin typeface="Cambria Math" panose="02040503050406030204" pitchFamily="18" charset="0"/>
                      </a:rPr>
                      <m:t>𝑥</m:t>
                    </m:r>
                  </m:oMath>
                </a14:m>
                <a:r>
                  <a:rPr lang="en-US" sz="2000" dirty="0"/>
                  <a:t> – node points into node </a:t>
                </a:r>
                <a14:m>
                  <m:oMath xmlns:m="http://schemas.openxmlformats.org/officeDocument/2006/math">
                    <m:r>
                      <a:rPr lang="en-US" sz="2000" i="1" dirty="0" smtClean="0">
                        <a:latin typeface="Cambria Math" panose="02040503050406030204" pitchFamily="18" charset="0"/>
                      </a:rPr>
                      <m:t>𝑦</m:t>
                    </m:r>
                  </m:oMath>
                </a14:m>
                <a:r>
                  <a:rPr lang="en-US" sz="2000" dirty="0"/>
                  <a:t>’s original position.</a:t>
                </a:r>
              </a:p>
              <a:p>
                <a:pPr marL="0" indent="0">
                  <a:buNone/>
                </a:pP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𝑝</m:t>
                    </m:r>
                  </m:oMath>
                </a14:m>
                <a:r>
                  <a:rPr lang="en-US" sz="2000" dirty="0"/>
                  <a:t> – points to the original position in the tree of </a:t>
                </a:r>
                <a14:m>
                  <m:oMath xmlns:m="http://schemas.openxmlformats.org/officeDocument/2006/math">
                    <m:r>
                      <a:rPr lang="en-US" sz="2000" i="1" dirty="0" smtClean="0">
                        <a:latin typeface="Cambria Math" panose="02040503050406030204" pitchFamily="18" charset="0"/>
                      </a:rPr>
                      <m:t>𝑦</m:t>
                    </m:r>
                  </m:oMath>
                </a14:m>
                <a:r>
                  <a:rPr lang="en-US" sz="2000" dirty="0"/>
                  <a:t>’s parent</a:t>
                </a:r>
              </a:p>
              <a:p>
                <a:pPr marL="0" indent="0">
                  <a:buNone/>
                </a:pPr>
                <a:endParaRPr lang="en-US" sz="2000" dirty="0"/>
              </a:p>
              <a:p>
                <a:pPr marL="0" indent="0">
                  <a:buNone/>
                </a:pPr>
                <a:r>
                  <a:rPr lang="en-US" sz="2000" dirty="0"/>
                  <a:t>No need to fixup if node </a:t>
                </a:r>
                <a14:m>
                  <m:oMath xmlns:m="http://schemas.openxmlformats.org/officeDocument/2006/math">
                    <m:r>
                      <a:rPr lang="en-US" sz="2000" i="1" dirty="0" smtClean="0">
                        <a:latin typeface="Cambria Math" panose="02040503050406030204" pitchFamily="18" charset="0"/>
                      </a:rPr>
                      <m:t>𝑦</m:t>
                    </m:r>
                  </m:oMath>
                </a14:m>
                <a:r>
                  <a:rPr lang="en-US" sz="2000" dirty="0"/>
                  <a:t> was red as</a:t>
                </a:r>
              </a:p>
              <a:p>
                <a:pPr marL="457200" indent="-457200">
                  <a:buAutoNum type="arabicPeriod"/>
                </a:pPr>
                <a:r>
                  <a:rPr lang="en-US" sz="2000" dirty="0"/>
                  <a:t>No black-heights in the tree have changed.</a:t>
                </a:r>
              </a:p>
              <a:p>
                <a:pPr marL="457200" indent="-457200">
                  <a:buAutoNum type="arabicPeriod"/>
                </a:pPr>
                <a:r>
                  <a:rPr lang="en-US" sz="2000" dirty="0"/>
                  <a:t>No red nodes have been made adjacent as </a:t>
                </a:r>
                <a14:m>
                  <m:oMath xmlns:m="http://schemas.openxmlformats.org/officeDocument/2006/math">
                    <m:r>
                      <a:rPr lang="en-US" sz="2000" i="1" dirty="0" smtClean="0">
                        <a:latin typeface="Cambria Math" panose="02040503050406030204" pitchFamily="18" charset="0"/>
                      </a:rPr>
                      <m:t>𝑦</m:t>
                    </m:r>
                  </m:oMath>
                </a14:m>
                <a:r>
                  <a:rPr lang="en-US" sz="2000" dirty="0"/>
                  <a:t> takes </a:t>
                </a:r>
                <a14:m>
                  <m:oMath xmlns:m="http://schemas.openxmlformats.org/officeDocument/2006/math">
                    <m:r>
                      <a:rPr lang="en-US" sz="2000" i="1" dirty="0" smtClean="0">
                        <a:latin typeface="Cambria Math" panose="02040503050406030204" pitchFamily="18" charset="0"/>
                      </a:rPr>
                      <m:t>𝑧</m:t>
                    </m:r>
                  </m:oMath>
                </a14:m>
                <a:r>
                  <a:rPr lang="en-US" sz="2000" dirty="0"/>
                  <a:t>’s position with the </a:t>
                </a:r>
                <a14:m>
                  <m:oMath xmlns:m="http://schemas.openxmlformats.org/officeDocument/2006/math">
                    <m:r>
                      <a:rPr lang="en-US" sz="2000" i="1" dirty="0" smtClean="0">
                        <a:latin typeface="Cambria Math" panose="02040503050406030204" pitchFamily="18" charset="0"/>
                      </a:rPr>
                      <m:t>𝑧</m:t>
                    </m:r>
                  </m:oMath>
                </a14:m>
                <a:r>
                  <a:rPr lang="en-US" sz="2000" dirty="0"/>
                  <a:t>’s color. If </a:t>
                </a:r>
                <a14:m>
                  <m:oMath xmlns:m="http://schemas.openxmlformats.org/officeDocument/2006/math">
                    <m:r>
                      <a:rPr lang="en-US" sz="2000" i="1" dirty="0" smtClean="0">
                        <a:latin typeface="Cambria Math" panose="02040503050406030204" pitchFamily="18" charset="0"/>
                      </a:rPr>
                      <m:t>𝑦</m:t>
                    </m:r>
                  </m:oMath>
                </a14:m>
                <a:r>
                  <a:rPr lang="en-US" sz="2000" dirty="0"/>
                  <a:t> was not </a:t>
                </a:r>
                <a14:m>
                  <m:oMath xmlns:m="http://schemas.openxmlformats.org/officeDocument/2006/math">
                    <m:r>
                      <a:rPr lang="en-US" sz="2000" i="1" dirty="0" smtClean="0">
                        <a:latin typeface="Cambria Math" panose="02040503050406030204" pitchFamily="18" charset="0"/>
                      </a:rPr>
                      <m:t>𝑧</m:t>
                    </m:r>
                  </m:oMath>
                </a14:m>
                <a:r>
                  <a:rPr lang="en-US" sz="2000" dirty="0"/>
                  <a:t>’s right child, then </a:t>
                </a:r>
                <a14:m>
                  <m:oMath xmlns:m="http://schemas.openxmlformats.org/officeDocument/2006/math">
                    <m:r>
                      <a:rPr lang="en-US" sz="2000" i="1" dirty="0" smtClean="0">
                        <a:latin typeface="Cambria Math" panose="02040503050406030204" pitchFamily="18" charset="0"/>
                      </a:rPr>
                      <m:t>𝑦</m:t>
                    </m:r>
                  </m:oMath>
                </a14:m>
                <a:r>
                  <a:rPr lang="en-US" sz="2000" dirty="0"/>
                  <a:t>’s original right child (which is black) replaces </a:t>
                </a:r>
                <a14:m>
                  <m:oMath xmlns:m="http://schemas.openxmlformats.org/officeDocument/2006/math">
                    <m:r>
                      <a:rPr lang="en-US" sz="2000" i="1" dirty="0" smtClean="0">
                        <a:latin typeface="Cambria Math" panose="02040503050406030204" pitchFamily="18" charset="0"/>
                      </a:rPr>
                      <m:t>𝑦</m:t>
                    </m:r>
                  </m:oMath>
                </a14:m>
                <a:r>
                  <a:rPr lang="en-US" sz="2000" dirty="0"/>
                  <a:t> in the tree.</a:t>
                </a:r>
              </a:p>
              <a:p>
                <a:pPr marL="457200" indent="-457200">
                  <a:buAutoNum type="arabicPeriod"/>
                </a:pPr>
                <a:r>
                  <a:rPr lang="en-US" sz="2000" b="0" i="0" u="none" strike="noStrike" baseline="0" dirty="0"/>
                  <a:t>Since </a:t>
                </a:r>
                <a14:m>
                  <m:oMath xmlns:m="http://schemas.openxmlformats.org/officeDocument/2006/math">
                    <m:r>
                      <a:rPr lang="en-US" sz="2000" b="0" i="1" u="none" strike="noStrike" baseline="0" dirty="0" smtClean="0">
                        <a:latin typeface="Cambria Math" panose="02040503050406030204" pitchFamily="18" charset="0"/>
                      </a:rPr>
                      <m:t>𝑦</m:t>
                    </m:r>
                  </m:oMath>
                </a14:m>
                <a:r>
                  <a:rPr lang="en-US" sz="2000" b="0" i="0" u="none" strike="noStrike" baseline="0" dirty="0"/>
                  <a:t> could not have been the root if it was red, the root remains black.</a:t>
                </a:r>
                <a:endParaRPr lang="en-US" sz="2000" dirty="0"/>
              </a:p>
              <a:p>
                <a:pPr marL="457200" indent="-457200">
                  <a:buAutoNum type="arabicPeriod"/>
                </a:pPr>
                <a:endParaRPr lang="en-US" sz="2000" dirty="0"/>
              </a:p>
            </p:txBody>
          </p:sp>
        </mc:Choice>
        <mc:Fallback xmlns="">
          <p:sp>
            <p:nvSpPr>
              <p:cNvPr id="4" name="Content Placeholder 3">
                <a:extLst>
                  <a:ext uri="{FF2B5EF4-FFF2-40B4-BE49-F238E27FC236}">
                    <a16:creationId xmlns:a16="http://schemas.microsoft.com/office/drawing/2014/main" id="{649A5372-62A5-5114-F9C9-8E3421C2A8B0}"/>
                  </a:ext>
                </a:extLst>
              </p:cNvPr>
              <p:cNvSpPr>
                <a:spLocks noGrp="1" noRot="1" noChangeAspect="1" noMove="1" noResize="1" noEditPoints="1" noAdjustHandles="1" noChangeArrowheads="1" noChangeShapeType="1" noTextEdit="1"/>
              </p:cNvSpPr>
              <p:nvPr>
                <p:ph sz="half" idx="2"/>
              </p:nvPr>
            </p:nvSpPr>
            <p:spPr>
              <a:xfrm>
                <a:off x="5379308" y="1092851"/>
                <a:ext cx="6400800" cy="5555084"/>
              </a:xfrm>
              <a:blipFill>
                <a:blip r:embed="rId4"/>
                <a:stretch>
                  <a:fillRect l="-1048" t="-1096" r="-381"/>
                </a:stretch>
              </a:blipFill>
            </p:spPr>
            <p:txBody>
              <a:bodyPr/>
              <a:lstStyle/>
              <a:p>
                <a:r>
                  <a:rPr lang="en-US">
                    <a:noFill/>
                  </a:rPr>
                  <a:t> </a:t>
                </a:r>
              </a:p>
            </p:txBody>
          </p:sp>
        </mc:Fallback>
      </mc:AlternateContent>
    </p:spTree>
    <p:extLst>
      <p:ext uri="{BB962C8B-B14F-4D97-AF65-F5344CB8AC3E}">
        <p14:creationId xmlns:p14="http://schemas.microsoft.com/office/powerpoint/2010/main" val="3449074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D79C6-439C-092B-6FBF-318F79D7E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31A22-BB3F-3BC9-2775-11D1F97FA11A}"/>
              </a:ext>
            </a:extLst>
          </p:cNvPr>
          <p:cNvSpPr>
            <a:spLocks noGrp="1"/>
          </p:cNvSpPr>
          <p:nvPr>
            <p:ph type="title"/>
          </p:nvPr>
        </p:nvSpPr>
        <p:spPr>
          <a:xfrm>
            <a:off x="838200" y="17205"/>
            <a:ext cx="10515600" cy="1325563"/>
          </a:xfrm>
        </p:spPr>
        <p:txBody>
          <a:bodyPr/>
          <a:lstStyle/>
          <a:p>
            <a:r>
              <a:rPr lang="en-US" dirty="0"/>
              <a:t>Red-Black Tree: Delete (3)</a:t>
            </a:r>
          </a:p>
        </p:txBody>
      </p:sp>
      <p:pic>
        <p:nvPicPr>
          <p:cNvPr id="10" name="Content Placeholder 9">
            <a:extLst>
              <a:ext uri="{FF2B5EF4-FFF2-40B4-BE49-F238E27FC236}">
                <a16:creationId xmlns:a16="http://schemas.microsoft.com/office/drawing/2014/main" id="{DE174C46-D62F-BD2E-08C3-FF767651F0B2}"/>
              </a:ext>
            </a:extLst>
          </p:cNvPr>
          <p:cNvPicPr>
            <a:picLocks noGrp="1" noChangeAspect="1"/>
          </p:cNvPicPr>
          <p:nvPr>
            <p:ph sz="half" idx="1"/>
          </p:nvPr>
        </p:nvPicPr>
        <p:blipFill>
          <a:blip r:embed="rId3"/>
          <a:srcRect t="505"/>
          <a:stretch/>
        </p:blipFill>
        <p:spPr>
          <a:xfrm>
            <a:off x="503518" y="1092851"/>
            <a:ext cx="4216763" cy="5747944"/>
          </a:xfrm>
        </p:spPr>
      </p:pic>
      <p:pic>
        <p:nvPicPr>
          <p:cNvPr id="5" name="Content Placeholder 4">
            <a:extLst>
              <a:ext uri="{FF2B5EF4-FFF2-40B4-BE49-F238E27FC236}">
                <a16:creationId xmlns:a16="http://schemas.microsoft.com/office/drawing/2014/main" id="{271FAD6B-983D-68F1-8F2C-5400705FC66B}"/>
              </a:ext>
            </a:extLst>
          </p:cNvPr>
          <p:cNvPicPr>
            <a:picLocks noGrp="1" noChangeAspect="1"/>
          </p:cNvPicPr>
          <p:nvPr>
            <p:ph sz="half" idx="2"/>
          </p:nvPr>
        </p:nvPicPr>
        <p:blipFill>
          <a:blip r:embed="rId4"/>
          <a:stretch>
            <a:fillRect/>
          </a:stretch>
        </p:blipFill>
        <p:spPr>
          <a:xfrm>
            <a:off x="5805216" y="1092200"/>
            <a:ext cx="5550444" cy="5556250"/>
          </a:xfrm>
        </p:spPr>
      </p:pic>
    </p:spTree>
    <p:extLst>
      <p:ext uri="{BB962C8B-B14F-4D97-AF65-F5344CB8AC3E}">
        <p14:creationId xmlns:p14="http://schemas.microsoft.com/office/powerpoint/2010/main" val="907197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6">
            <a:extLst>
              <a:ext uri="{FF2B5EF4-FFF2-40B4-BE49-F238E27FC236}">
                <a16:creationId xmlns:a16="http://schemas.microsoft.com/office/drawing/2014/main" id="{4A447BDE-B655-E1BC-C47E-559BB019B62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Thank You</a:t>
            </a:r>
          </a:p>
        </p:txBody>
      </p:sp>
    </p:spTree>
    <p:extLst>
      <p:ext uri="{BB962C8B-B14F-4D97-AF65-F5344CB8AC3E}">
        <p14:creationId xmlns:p14="http://schemas.microsoft.com/office/powerpoint/2010/main" val="797197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4523dde-f9d1-4aa7-80a9-c0900420d3c3}"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36705</TotalTime>
  <Words>2490</Words>
  <Application>Microsoft Office PowerPoint</Application>
  <PresentationFormat>Widescreen</PresentationFormat>
  <Paragraphs>213</Paragraphs>
  <Slides>34</Slides>
  <Notes>17</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Aptos</vt:lpstr>
      <vt:lpstr>Arial</vt:lpstr>
      <vt:lpstr>Calibri</vt:lpstr>
      <vt:lpstr>Calibri Light</vt:lpstr>
      <vt:lpstr>Cambria Math</vt:lpstr>
      <vt:lpstr>MT2MIT</vt:lpstr>
      <vt:lpstr>Times-Italic</vt:lpstr>
      <vt:lpstr>Times-Roman</vt:lpstr>
      <vt:lpstr>Office Theme</vt:lpstr>
      <vt:lpstr>Introduction to Algorithms</vt:lpstr>
      <vt:lpstr>Course Overview</vt:lpstr>
      <vt:lpstr>Balanced vs Unbalanced </vt:lpstr>
      <vt:lpstr>Red-Black Tree: Definition</vt:lpstr>
      <vt:lpstr>Red-Black Tree: Example (1)</vt:lpstr>
      <vt:lpstr>Red-Black Tree: Example (2)</vt:lpstr>
      <vt:lpstr>Red-Black Tree: Black-Height </vt:lpstr>
      <vt:lpstr>Red-Black Tree: Height </vt:lpstr>
      <vt:lpstr>Red-Black Tree: Exercises 1 </vt:lpstr>
      <vt:lpstr>Red-Black Tree: Rotations</vt:lpstr>
      <vt:lpstr>Red-Black Tree: Left Rotate</vt:lpstr>
      <vt:lpstr>Red-Black Tree: Left Rotate Example</vt:lpstr>
      <vt:lpstr>Red-Black Tree: Exercises 2 </vt:lpstr>
      <vt:lpstr>Red-Black Tree: Insert (1)</vt:lpstr>
      <vt:lpstr>Red-Black Tree: Insert (2)</vt:lpstr>
      <vt:lpstr>Red-Black Tree: Insert Fixup (1)</vt:lpstr>
      <vt:lpstr>Red-Black Tree: Insert Fixup (2)</vt:lpstr>
      <vt:lpstr>Red-Black Tree: Insert Fixup (3)</vt:lpstr>
      <vt:lpstr>Red-Black Tree: Analyzing Insert Fixup (1)</vt:lpstr>
      <vt:lpstr>Red-Black Tree: Analyzing Insert Fixup (2)</vt:lpstr>
      <vt:lpstr>Red-Black Tree: Analyzing Insert Fixup (3)</vt:lpstr>
      <vt:lpstr>Red-Black Tree: Analyzing Insert Fixup (4)</vt:lpstr>
      <vt:lpstr>Red-Black Tree: Analyzing Insert Fixup (4)</vt:lpstr>
      <vt:lpstr>Red-Black Tree: Analyzing Insert Fixup (5)</vt:lpstr>
      <vt:lpstr>Red-Black Tree: Analyzing Insert Fixup (6)</vt:lpstr>
      <vt:lpstr>Red-Black Tree: Analyzing Insert Fixup (7)</vt:lpstr>
      <vt:lpstr>Red-Black Tree: Insert Fixup (8)</vt:lpstr>
      <vt:lpstr>Red-Black Tree: Exercises 2</vt:lpstr>
      <vt:lpstr>Red-Black Tree: Delete: Transplant</vt:lpstr>
      <vt:lpstr>Red-Black Tree: Delete: Transplant</vt:lpstr>
      <vt:lpstr>Red-Black Tree: Delete (1)</vt:lpstr>
      <vt:lpstr>Red-Black Tree: Delete (2)</vt:lpstr>
      <vt:lpstr>Red-Black Tree: Delete (3)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Prazyan, Levon</dc:creator>
  <cp:lastModifiedBy>Prazyan, Levon</cp:lastModifiedBy>
  <cp:revision>6</cp:revision>
  <dcterms:created xsi:type="dcterms:W3CDTF">2024-06-18T05:26:31Z</dcterms:created>
  <dcterms:modified xsi:type="dcterms:W3CDTF">2026-02-23T19:41:41Z</dcterms:modified>
</cp:coreProperties>
</file>
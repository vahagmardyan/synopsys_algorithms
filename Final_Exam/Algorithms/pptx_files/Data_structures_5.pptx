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4822" r:id="rId4"/>
    <p:sldId id="4823" r:id="rId5"/>
    <p:sldId id="4857" r:id="rId6"/>
    <p:sldId id="4855" r:id="rId7"/>
    <p:sldId id="4856" r:id="rId8"/>
    <p:sldId id="4858" r:id="rId9"/>
    <p:sldId id="4872" r:id="rId10"/>
    <p:sldId id="4830" r:id="rId11"/>
    <p:sldId id="4832" r:id="rId12"/>
    <p:sldId id="4859" r:id="rId13"/>
    <p:sldId id="4862" r:id="rId14"/>
    <p:sldId id="4864" r:id="rId15"/>
    <p:sldId id="4865" r:id="rId16"/>
    <p:sldId id="4866" r:id="rId17"/>
    <p:sldId id="4867" r:id="rId18"/>
    <p:sldId id="4860" r:id="rId19"/>
    <p:sldId id="4863" r:id="rId20"/>
    <p:sldId id="4870" r:id="rId21"/>
    <p:sldId id="4868" r:id="rId22"/>
    <p:sldId id="4869" r:id="rId23"/>
    <p:sldId id="4871" r:id="rId24"/>
    <p:sldId id="479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47CA13-E208-4070-B5EB-7F2D626C285E}" v="96" dt="2026-02-23T18:37:12.9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61" autoAdjust="0"/>
    <p:restoredTop sz="88257" autoAdjust="0"/>
  </p:normalViewPr>
  <p:slideViewPr>
    <p:cSldViewPr snapToGrid="0">
      <p:cViewPr varScale="1">
        <p:scale>
          <a:sx n="137" d="100"/>
          <a:sy n="137" d="100"/>
        </p:scale>
        <p:origin x="63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zyan, Levon" userId="ed024b0e-4a1a-418a-8ca0-755e149680c9" providerId="ADAL" clId="{4A4D12F4-25F0-4DC3-8755-13CF4EFB28EA}"/>
    <pc:docChg chg="custSel addSld modSld">
      <pc:chgData name="Prazyan, Levon" userId="ed024b0e-4a1a-418a-8ca0-755e149680c9" providerId="ADAL" clId="{4A4D12F4-25F0-4DC3-8755-13CF4EFB28EA}" dt="2026-02-23T18:38:38.535" v="137" actId="6549"/>
      <pc:docMkLst>
        <pc:docMk/>
      </pc:docMkLst>
      <pc:sldChg chg="modNotesTx">
        <pc:chgData name="Prazyan, Levon" userId="ed024b0e-4a1a-418a-8ca0-755e149680c9" providerId="ADAL" clId="{4A4D12F4-25F0-4DC3-8755-13CF4EFB28EA}" dt="2026-02-23T18:36:17.646" v="130" actId="20577"/>
        <pc:sldMkLst>
          <pc:docMk/>
          <pc:sldMk cId="3780394965" sldId="4823"/>
        </pc:sldMkLst>
      </pc:sldChg>
      <pc:sldChg chg="modSp">
        <pc:chgData name="Prazyan, Levon" userId="ed024b0e-4a1a-418a-8ca0-755e149680c9" providerId="ADAL" clId="{4A4D12F4-25F0-4DC3-8755-13CF4EFB28EA}" dt="2026-02-23T18:37:12.949" v="136" actId="20577"/>
        <pc:sldMkLst>
          <pc:docMk/>
          <pc:sldMk cId="1634355425" sldId="4858"/>
        </pc:sldMkLst>
        <pc:spChg chg="mod">
          <ac:chgData name="Prazyan, Levon" userId="ed024b0e-4a1a-418a-8ca0-755e149680c9" providerId="ADAL" clId="{4A4D12F4-25F0-4DC3-8755-13CF4EFB28EA}" dt="2026-02-23T18:37:12.949" v="136" actId="20577"/>
          <ac:spMkLst>
            <pc:docMk/>
            <pc:sldMk cId="1634355425" sldId="4858"/>
            <ac:spMk id="5" creationId="{39B36D80-418C-F2F5-B295-2845C9ABF7AA}"/>
          </ac:spMkLst>
        </pc:spChg>
      </pc:sldChg>
      <pc:sldChg chg="modSp">
        <pc:chgData name="Prazyan, Levon" userId="ed024b0e-4a1a-418a-8ca0-755e149680c9" providerId="ADAL" clId="{4A4D12F4-25F0-4DC3-8755-13CF4EFB28EA}" dt="2026-02-23T15:19:53.258" v="86" actId="732"/>
        <pc:sldMkLst>
          <pc:docMk/>
          <pc:sldMk cId="77544690" sldId="4867"/>
        </pc:sldMkLst>
        <pc:picChg chg="mod">
          <ac:chgData name="Prazyan, Levon" userId="ed024b0e-4a1a-418a-8ca0-755e149680c9" providerId="ADAL" clId="{4A4D12F4-25F0-4DC3-8755-13CF4EFB28EA}" dt="2026-02-23T15:19:53.258" v="86" actId="732"/>
          <ac:picMkLst>
            <pc:docMk/>
            <pc:sldMk cId="77544690" sldId="4867"/>
            <ac:picMk id="4098" creationId="{6E2A56D9-491C-C896-179C-74B812F6803E}"/>
          </ac:picMkLst>
        </pc:picChg>
      </pc:sldChg>
      <pc:sldChg chg="modSp mod">
        <pc:chgData name="Prazyan, Levon" userId="ed024b0e-4a1a-418a-8ca0-755e149680c9" providerId="ADAL" clId="{4A4D12F4-25F0-4DC3-8755-13CF4EFB28EA}" dt="2026-02-23T18:38:38.535" v="137" actId="6549"/>
        <pc:sldMkLst>
          <pc:docMk/>
          <pc:sldMk cId="22531043" sldId="4869"/>
        </pc:sldMkLst>
        <pc:spChg chg="mod">
          <ac:chgData name="Prazyan, Levon" userId="ed024b0e-4a1a-418a-8ca0-755e149680c9" providerId="ADAL" clId="{4A4D12F4-25F0-4DC3-8755-13CF4EFB28EA}" dt="2026-02-23T18:38:38.535" v="137" actId="6549"/>
          <ac:spMkLst>
            <pc:docMk/>
            <pc:sldMk cId="22531043" sldId="4869"/>
            <ac:spMk id="3" creationId="{5DC94E8B-3AC1-0037-4216-E2AC1DBDB091}"/>
          </ac:spMkLst>
        </pc:spChg>
      </pc:sldChg>
      <pc:sldChg chg="modNotesTx">
        <pc:chgData name="Prazyan, Levon" userId="ed024b0e-4a1a-418a-8ca0-755e149680c9" providerId="ADAL" clId="{4A4D12F4-25F0-4DC3-8755-13CF4EFB28EA}" dt="2026-02-23T15:40:51.192" v="122" actId="20577"/>
        <pc:sldMkLst>
          <pc:docMk/>
          <pc:sldMk cId="1229340" sldId="4871"/>
        </pc:sldMkLst>
      </pc:sldChg>
      <pc:sldChg chg="modSp add mod modAnim">
        <pc:chgData name="Prazyan, Levon" userId="ed024b0e-4a1a-418a-8ca0-755e149680c9" providerId="ADAL" clId="{4A4D12F4-25F0-4DC3-8755-13CF4EFB28EA}" dt="2026-02-23T05:55:57.638" v="84" actId="20577"/>
        <pc:sldMkLst>
          <pc:docMk/>
          <pc:sldMk cId="1905335581" sldId="4872"/>
        </pc:sldMkLst>
        <pc:spChg chg="mod">
          <ac:chgData name="Prazyan, Levon" userId="ed024b0e-4a1a-418a-8ca0-755e149680c9" providerId="ADAL" clId="{4A4D12F4-25F0-4DC3-8755-13CF4EFB28EA}" dt="2026-02-23T05:55:57.638" v="84" actId="20577"/>
          <ac:spMkLst>
            <pc:docMk/>
            <pc:sldMk cId="1905335581" sldId="4872"/>
            <ac:spMk id="2" creationId="{08F09B20-34C3-5363-007E-83886772A11A}"/>
          </ac:spMkLst>
        </pc:spChg>
        <pc:spChg chg="mod">
          <ac:chgData name="Prazyan, Levon" userId="ed024b0e-4a1a-418a-8ca0-755e149680c9" providerId="ADAL" clId="{4A4D12F4-25F0-4DC3-8755-13CF4EFB28EA}" dt="2026-02-23T05:54:43.414" v="82" actId="20577"/>
          <ac:spMkLst>
            <pc:docMk/>
            <pc:sldMk cId="1905335581" sldId="4872"/>
            <ac:spMk id="5" creationId="{5F6C2DEE-7EF9-90F2-0497-E372252EE6B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B5702-F164-4492-9EF6-882193065F88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2A58C-8E2F-4CF4-BCC2-14D73B27F3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55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Balanced Binary Tree</a:t>
            </a:r>
            <a:r>
              <a:rPr lang="en-US" dirty="0"/>
              <a:t>: The height of the left and right subtrees of any node differs by at most one.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791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Adel’son-Vel’ski˘ı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Landis - AVL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820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BF(X)&lt;0 is called "left-heavy</a:t>
            </a:r>
          </a:p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BF(X)&gt;0 is called "right-heavy", </a:t>
            </a:r>
          </a:p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BF(X)=0 is called "balanced".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521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O(1) time for rotate operations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610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Right-Left Rotate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021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Balancing the tree delete</a:t>
            </a:r>
            <a:br>
              <a:rPr lang="en-US" dirty="0"/>
            </a:br>
            <a:r>
              <a:rPr lang="en-US" dirty="0"/>
              <a:t>if balance &gt; 1:</a:t>
            </a:r>
          </a:p>
          <a:p>
            <a:r>
              <a:rPr lang="en-US" dirty="0"/>
              <a:t>  if height(</a:t>
            </a:r>
            <a:r>
              <a:rPr lang="en-US" dirty="0" err="1"/>
              <a:t>node.left.left</a:t>
            </a:r>
            <a:r>
              <a:rPr lang="en-US" dirty="0"/>
              <a:t>) &gt;= height(</a:t>
            </a:r>
            <a:r>
              <a:rPr lang="en-US" dirty="0" err="1"/>
              <a:t>node.left.right</a:t>
            </a:r>
            <a:r>
              <a:rPr lang="en-US" dirty="0"/>
              <a:t>):</a:t>
            </a:r>
          </a:p>
          <a:p>
            <a:r>
              <a:rPr lang="en-US" dirty="0"/>
              <a:t>    return </a:t>
            </a:r>
            <a:r>
              <a:rPr lang="en-US" dirty="0" err="1"/>
              <a:t>RightRotate</a:t>
            </a:r>
            <a:r>
              <a:rPr lang="en-US" dirty="0"/>
              <a:t>(node)</a:t>
            </a:r>
          </a:p>
          <a:p>
            <a:r>
              <a:rPr lang="en-US" dirty="0"/>
              <a:t>  else:</a:t>
            </a:r>
          </a:p>
          <a:p>
            <a:r>
              <a:rPr lang="en-US" dirty="0"/>
              <a:t>    </a:t>
            </a:r>
            <a:r>
              <a:rPr lang="en-US" dirty="0" err="1"/>
              <a:t>node.left</a:t>
            </a:r>
            <a:r>
              <a:rPr lang="en-US" dirty="0"/>
              <a:t> = </a:t>
            </a:r>
            <a:r>
              <a:rPr lang="en-US" dirty="0" err="1"/>
              <a:t>LeftRotate</a:t>
            </a:r>
            <a:r>
              <a:rPr lang="en-US" dirty="0"/>
              <a:t>(</a:t>
            </a:r>
            <a:r>
              <a:rPr lang="en-US" dirty="0" err="1"/>
              <a:t>node.left</a:t>
            </a:r>
            <a:r>
              <a:rPr lang="en-US" dirty="0"/>
              <a:t>)</a:t>
            </a:r>
          </a:p>
          <a:p>
            <a:r>
              <a:rPr lang="en-US" dirty="0"/>
              <a:t>    return </a:t>
            </a:r>
            <a:r>
              <a:rPr lang="en-US" dirty="0" err="1"/>
              <a:t>RightRotate</a:t>
            </a:r>
            <a:r>
              <a:rPr lang="en-US" dirty="0"/>
              <a:t>(node)</a:t>
            </a:r>
          </a:p>
          <a:p>
            <a:endParaRPr lang="en-US" dirty="0"/>
          </a:p>
          <a:p>
            <a:r>
              <a:rPr lang="en-US" dirty="0"/>
              <a:t>if balance &lt; -1:</a:t>
            </a:r>
          </a:p>
          <a:p>
            <a:r>
              <a:rPr lang="en-US" dirty="0"/>
              <a:t>  if height(</a:t>
            </a:r>
            <a:r>
              <a:rPr lang="en-US" dirty="0" err="1"/>
              <a:t>node.right.right</a:t>
            </a:r>
            <a:r>
              <a:rPr lang="en-US" dirty="0"/>
              <a:t>) &gt;= height(</a:t>
            </a:r>
            <a:r>
              <a:rPr lang="en-US" dirty="0" err="1"/>
              <a:t>node.right.left</a:t>
            </a:r>
            <a:r>
              <a:rPr lang="en-US" dirty="0"/>
              <a:t>):</a:t>
            </a:r>
          </a:p>
          <a:p>
            <a:r>
              <a:rPr lang="en-US" dirty="0"/>
              <a:t>    return </a:t>
            </a:r>
            <a:r>
              <a:rPr lang="en-US" dirty="0" err="1"/>
              <a:t>LeftRotate</a:t>
            </a:r>
            <a:r>
              <a:rPr lang="en-US" dirty="0"/>
              <a:t>(node)</a:t>
            </a:r>
          </a:p>
          <a:p>
            <a:r>
              <a:rPr lang="en-US" dirty="0"/>
              <a:t>  else:</a:t>
            </a:r>
          </a:p>
          <a:p>
            <a:r>
              <a:rPr lang="en-US" dirty="0"/>
              <a:t>    </a:t>
            </a:r>
            <a:r>
              <a:rPr lang="en-US" dirty="0" err="1"/>
              <a:t>node.right</a:t>
            </a:r>
            <a:r>
              <a:rPr lang="en-US" dirty="0"/>
              <a:t> = </a:t>
            </a:r>
            <a:r>
              <a:rPr lang="en-US" dirty="0" err="1"/>
              <a:t>RightRotate</a:t>
            </a:r>
            <a:r>
              <a:rPr lang="en-US" dirty="0"/>
              <a:t>(</a:t>
            </a:r>
            <a:r>
              <a:rPr lang="en-US" dirty="0" err="1"/>
              <a:t>node.right</a:t>
            </a:r>
            <a:r>
              <a:rPr lang="en-US" dirty="0"/>
              <a:t>)</a:t>
            </a:r>
          </a:p>
          <a:p>
            <a:r>
              <a:rPr lang="en-US" dirty="0"/>
              <a:t>    return </a:t>
            </a:r>
            <a:r>
              <a:rPr lang="en-US" dirty="0" err="1"/>
              <a:t>LeftRotate</a:t>
            </a:r>
            <a:r>
              <a:rPr lang="en-US" dirty="0"/>
              <a:t>(node)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595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returns root of the modified subtree</a:t>
            </a:r>
          </a:p>
          <a:p>
            <a:r>
              <a:rPr lang="en-US" dirty="0"/>
              <a:t>delete root before return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102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251D-1AB8-4A55-9051-A4850FF0D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6D16F-41EB-C530-78CE-0B18178A8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AA832-E3FE-8947-C7FA-0D781C454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9FE3B-1087-D5D0-361B-FC104D4A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8F0A0-7733-E96F-DC79-DACDE949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606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5360-8393-F8A7-9B4E-A5F91C25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38C8A-E199-A705-6FB1-EFB25F255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872B8-8F94-B6C1-3137-90E3C7B59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7A7F3-F5E8-E21B-CA86-E578C83C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1585B-DFE4-AA74-C10F-1BDADACE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739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B468-8243-B0E9-A019-1B9445C3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F40F6-9706-8C8D-2DF2-B51050C32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A4183-BAA7-0B79-A0AA-A700AAB25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0D003-B433-16F0-6348-16048167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807A1-7565-6E01-2D59-D66D5A01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63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BAAA8-63B4-C2F0-8CA3-B8F798B6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962E5-19BA-1876-5AE3-9E174F29A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3F4F3-8D6D-20EF-D16A-9D4CF970F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A0B1A-0D87-5C43-32C0-1358CFD1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7086C-C7D0-4D1F-FA23-54332C66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90FBE-A8B2-329E-CCA0-94DB075C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74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A20B-C9A8-6031-2DC7-6B412D8D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4FC9F-7BEC-554C-4B1F-3D5125729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22F46-6193-B43E-0D4C-6F5BC1B6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E8F3A4-E020-78E9-B267-50E92C529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0B438-BB33-DF3F-BA12-F7C1B8C4CC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D0D84-87B3-C51C-AC29-D9845F466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2DCA0-A536-8D48-7378-A626BECD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76080-45E6-416C-00C6-347A8A98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325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A7D1-749D-7264-FEEC-BD7FD872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9877B-B058-565C-757C-2907747E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44686-960D-94DB-FEB0-DA72E035D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8E631-05EE-2866-77A5-78C824954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39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2388AF-A5D5-0A2A-82A6-9CD7A811F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F5736-623E-B24E-3971-2F6AD9FF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BE808-390D-38AE-4A34-B1E033B1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48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E8AA-1F34-5D9C-A547-B828AF209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2B504-3687-EE8F-6159-9F4195A21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7951D-8F58-D234-7143-C946F4901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1AA36-9E0C-BAF8-2AF6-495CF68A9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C3457-1A37-75E2-CDEF-A08D51C8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6739D-88BC-0A95-048E-487986B62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395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585F3-E3A2-0034-D209-A44746D56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72E9A8-1577-EDFF-BA82-F43C0786B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70423-A7D2-FD06-9B28-CE2A07D75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9DF61-F71D-5569-F144-78563767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F9E7B-F0D5-2CF7-553A-892F1053C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1547A-AB84-C515-772E-0B7683FD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85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F46B-8307-541C-E9CF-83AF33F6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E2592-5CE7-58A5-373B-321A1130F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F874E-49CB-B018-23C5-E5897AC8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B249B-5A2E-3F8C-C0D2-08BF53130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D5739-EB31-644D-B898-70968DCE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040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DBD635-112D-AB74-DA68-5A8F79D58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BA7F6-B791-16DD-20EC-DB187893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9D594-7827-EE34-6C2E-F620C151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44812-33F0-EAB7-7CE0-3153610CC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FADD4-1D22-273D-EEA9-2710F284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90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862182-6389-D39E-EB48-051E9B7F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1F1FB-EE6D-B1EF-1BFC-F76DDD70C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1F4C2-B8D9-56AA-BF23-257D597AF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C09B7-BC59-4FDF-B344-E8A7C51BB8C6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1E698-2BE3-B173-F1AE-1366188D3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946E3-415D-563B-A77E-FA512FACD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4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CD6C4D-9BB3-2AA1-B3BD-B852BA6BA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Introduction to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410EE-202B-D036-4508-61A95E937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Levon Prazyan</a:t>
            </a:r>
          </a:p>
        </p:txBody>
      </p:sp>
    </p:spTree>
    <p:extLst>
      <p:ext uri="{BB962C8B-B14F-4D97-AF65-F5344CB8AC3E}">
        <p14:creationId xmlns:p14="http://schemas.microsoft.com/office/powerpoint/2010/main" val="36004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1CF4-2135-E26A-87F1-B3EE88550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998C-E6BD-C71A-C3E7-04FF6D66E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Introduction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Sorting and Searching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Arrays and Lists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Stacks and Queues, Double Ended Queue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Heaps</a:t>
            </a:r>
          </a:p>
          <a:p>
            <a:r>
              <a:rPr lang="en-U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Trees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Hash Tables</a:t>
            </a: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Dynamic Programming</a:t>
            </a:r>
            <a:endParaRPr lang="en-US" sz="1800" b="1" dirty="0">
              <a:effectLst/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Greedy Algorithms</a:t>
            </a:r>
            <a:endParaRPr lang="en-US" sz="1800" b="1" dirty="0"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Graph Algorithms</a:t>
            </a:r>
            <a:endParaRPr lang="en-US" sz="1800" b="1" dirty="0">
              <a:effectLst/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Network Flow</a:t>
            </a:r>
            <a:endParaRPr lang="en-US" sz="1800" b="1" dirty="0"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NP-Completeness</a:t>
            </a:r>
            <a:endParaRPr lang="en-US" sz="1800" b="1" dirty="0">
              <a:latin typeface="Arial" panose="020B0604020202020204" pitchFamily="34" charset="0"/>
            </a:endParaRPr>
          </a:p>
          <a:p>
            <a:pPr lvl="1"/>
            <a:endParaRPr lang="en-US" sz="1800" b="1" dirty="0">
              <a:latin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4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F1478-414E-C0E5-B841-194CB6DF2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Balanced vs Unbalanced </a:t>
            </a:r>
          </a:p>
        </p:txBody>
      </p:sp>
      <p:pic>
        <p:nvPicPr>
          <p:cNvPr id="1028" name="Picture 4" descr="java - Balanced vs Unbalanced Binary Tree - Clarification Needed - Stack  Overflow">
            <a:extLst>
              <a:ext uri="{FF2B5EF4-FFF2-40B4-BE49-F238E27FC236}">
                <a16:creationId xmlns:a16="http://schemas.microsoft.com/office/drawing/2014/main" id="{DE6BC7FE-B7FD-B95E-66B8-9A267B24E54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15"/>
          <a:stretch/>
        </p:blipFill>
        <p:spPr bwMode="auto">
          <a:xfrm>
            <a:off x="3236495" y="1680629"/>
            <a:ext cx="5426242" cy="3430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93484E6-B699-7347-ED41-1B8D4B44AEA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8200" y="5230363"/>
                <a:ext cx="10379242" cy="1195889"/>
              </a:xfrm>
            </p:spPr>
            <p:txBody>
              <a:bodyPr/>
              <a:lstStyle/>
              <a:p>
                <a:r>
                  <a:rPr lang="en-US" sz="1800" b="0" i="0" u="none" strike="noStrike" baseline="0" dirty="0">
                    <a:latin typeface="Times-Roman"/>
                  </a:rPr>
                  <a:t>Balanced BSTs guarantee </a:t>
                </a:r>
                <a:r>
                  <a:rPr lang="en-US" sz="1800" dirty="0">
                    <a:latin typeface="Times-Roman"/>
                  </a:rPr>
                  <a:t>that basic dynamic-set operations, such as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/>
                      </a:rPr>
                      <m:t>𝑆𝐸𝐴𝑅𝐶𝐻</m:t>
                    </m:r>
                  </m:oMath>
                </a14:m>
                <a:r>
                  <a:rPr lang="en-US" sz="1800" dirty="0">
                    <a:latin typeface="Times-Roman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/>
                      </a:rPr>
                      <m:t>𝑃𝑅𝐸𝐷𝐸𝐶𝐸𝑆𝑆𝑂𝑅</m:t>
                    </m:r>
                  </m:oMath>
                </a14:m>
                <a:r>
                  <a:rPr lang="en-US" sz="1800" dirty="0">
                    <a:latin typeface="Times-Roman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/>
                      </a:rPr>
                      <m:t>𝑆𝑈𝐶𝐶𝐸𝑆𝑆𝑂𝑅</m:t>
                    </m:r>
                  </m:oMath>
                </a14:m>
                <a:r>
                  <a:rPr lang="en-US" sz="1800" dirty="0">
                    <a:latin typeface="Times-Roman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/>
                      </a:rPr>
                      <m:t>𝑀𝐼𝑁𝐼𝑀𝑈𝑀</m:t>
                    </m:r>
                  </m:oMath>
                </a14:m>
                <a:r>
                  <a:rPr lang="en-US" sz="1800" dirty="0">
                    <a:latin typeface="Times-Roman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/>
                      </a:rPr>
                      <m:t>𝑀𝐴𝑋𝐼𝑀𝑈𝑀</m:t>
                    </m:r>
                  </m:oMath>
                </a14:m>
                <a:r>
                  <a:rPr lang="en-US" sz="1800" dirty="0">
                    <a:latin typeface="Times-Roman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/>
                      </a:rPr>
                      <m:t>𝐼𝑁𝑆𝐸𝑅𝑇</m:t>
                    </m:r>
                  </m:oMath>
                </a14:m>
                <a:r>
                  <a:rPr lang="en-US" sz="1800" dirty="0">
                    <a:latin typeface="Times-Roman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/>
                      </a:rPr>
                      <m:t>𝐷𝐸𝐿𝐸𝑇𝐸</m:t>
                    </m:r>
                  </m:oMath>
                </a14:m>
                <a:r>
                  <a:rPr lang="en-US" sz="1800" dirty="0">
                    <a:latin typeface="Times-Roman"/>
                  </a:rPr>
                  <a:t> take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latin typeface="Cambria Math" panose="02040503050406030204"/>
                      </a:rPr>
                      <m:t>𝑂</m:t>
                    </m:r>
                    <m:r>
                      <a:rPr lang="en-US" sz="1800" b="0" i="1" u="none" strike="noStrike" baseline="0" dirty="0" smtClean="0">
                        <a:latin typeface="Cambria Math" panose="02040503050406030204"/>
                      </a:rPr>
                      <m:t>(</m:t>
                    </m:r>
                    <m:func>
                      <m:funcPr>
                        <m:ctrlPr>
                          <a:rPr lang="en-US" sz="1800" b="0" i="1" u="none" strike="noStrike" baseline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u="none" strike="noStrike" baseline="0" dirty="0" smtClean="0">
                            <a:latin typeface="Cambria Math" panose="02040503050406030204"/>
                          </a:rPr>
                          <m:t>log</m:t>
                        </m:r>
                      </m:fName>
                      <m:e>
                        <m:r>
                          <a:rPr lang="en-US" sz="1800" b="0" i="1" u="none" strike="noStrike" baseline="0" dirty="0" smtClean="0">
                            <a:latin typeface="Cambria Math" panose="02040503050406030204"/>
                          </a:rPr>
                          <m:t>𝑛</m:t>
                        </m:r>
                      </m:e>
                    </m:func>
                    <m:r>
                      <a:rPr lang="en-US" sz="1800" b="0" i="1" u="none" strike="noStrike" baseline="0" dirty="0" smtClean="0"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lang="en-US" sz="1800" b="0" i="0" u="none" strike="noStrike" baseline="0" dirty="0">
                    <a:latin typeface="Times-Roman"/>
                  </a:rPr>
                  <a:t> </a:t>
                </a:r>
                <a:r>
                  <a:rPr lang="en-US" sz="1800" b="0" i="0" u="none" strike="noStrike" baseline="0" dirty="0">
                    <a:latin typeface="MT2MIT"/>
                  </a:rPr>
                  <a:t> </a:t>
                </a:r>
                <a:r>
                  <a:rPr lang="en-US" sz="1800" b="0" i="0" u="none" strike="noStrike" baseline="0" dirty="0">
                    <a:latin typeface="Times-Roman"/>
                  </a:rPr>
                  <a:t>time in the worst case.</a:t>
                </a: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93484E6-B699-7347-ED41-1B8D4B44AE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8200" y="5230363"/>
                <a:ext cx="10379242" cy="1195889"/>
              </a:xfrm>
              <a:blipFill>
                <a:blip r:embed="rId4"/>
                <a:stretch>
                  <a:fillRect l="-411" t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80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A9F5E-F1A0-9019-EC58-14A2F80BF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A79DC5-8CD5-CAC5-40C1-99C4B10DB9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24930" y="1825625"/>
                <a:ext cx="10742139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dirty="0"/>
                  <a:t>An </a:t>
                </a:r>
                <a:r>
                  <a:rPr lang="en-US" b="1" dirty="0"/>
                  <a:t>AVL tree </a:t>
                </a:r>
                <a:r>
                  <a:rPr lang="en-US" dirty="0"/>
                  <a:t>is a binary search tree that is height balanced: for each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the heights of the left and right subtrees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differ by at most 1.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dirty="0"/>
                  <a:t>The AVL tree implementation maintains an extra attribute in each node: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height of node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A79DC5-8CD5-CAC5-40C1-99C4B10DB9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24930" y="1825625"/>
                <a:ext cx="10742139" cy="4351338"/>
              </a:xfrm>
              <a:blipFill>
                <a:blip r:embed="rId3"/>
                <a:stretch>
                  <a:fillRect l="-1192" t="-2241" r="-12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0394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BB415-58E5-9549-D014-4B003B93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Example</a:t>
            </a:r>
          </a:p>
        </p:txBody>
      </p:sp>
      <p:pic>
        <p:nvPicPr>
          <p:cNvPr id="2052" name="Picture 4" descr="AVL Tree Data Structure | GeeksforGeeks">
            <a:extLst>
              <a:ext uri="{FF2B5EF4-FFF2-40B4-BE49-F238E27FC236}">
                <a16:creationId xmlns:a16="http://schemas.microsoft.com/office/drawing/2014/main" id="{FCFD1A1F-3C49-8C5E-EC3E-00A71F14E2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4" t="30267" r="20557" b="4760"/>
          <a:stretch/>
        </p:blipFill>
        <p:spPr bwMode="auto">
          <a:xfrm>
            <a:off x="3989322" y="2323070"/>
            <a:ext cx="4213355" cy="340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943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53240-C144-4025-D019-77D108D3C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ED17C-3EB1-9C28-9987-F9ED24181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Balance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366675-2B64-72A6-23F3-57CD672C41C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10645346" cy="1603375"/>
              </a:xfrm>
            </p:spPr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𝐵𝑎𝑙𝑎𝑛𝑐𝑒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𝐹𝑎𝑐𝑡𝑜𝑟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h𝑒𝑖𝑔h𝑡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𝑟𝑖𝑔h𝑡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𝑠𝑢𝑏𝑡𝑟𝑒𝑒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h𝑒𝑖𝑔h𝑡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𝑙𝑒𝑓𝑡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𝑠𝑢𝑏𝑡𝑟𝑒𝑒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dirty="0"/>
                  <a:t>Valid values are -1, 0, 1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366675-2B64-72A6-23F3-57CD672C41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10645346" cy="1603375"/>
              </a:xfrm>
              <a:blipFill>
                <a:blip r:embed="rId3"/>
                <a:stretch>
                  <a:fillRect l="-1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9E4A592F-5BE6-4248-235B-56EFB236629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025415"/>
            <a:ext cx="5181600" cy="333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F0BA8F-17EA-B49B-8296-BC0DE0EC75C6}"/>
              </a:ext>
            </a:extLst>
          </p:cNvPr>
          <p:cNvSpPr txBox="1"/>
          <p:nvPr/>
        </p:nvSpPr>
        <p:spPr>
          <a:xfrm>
            <a:off x="838200" y="3814119"/>
            <a:ext cx="5043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BF(X)&lt;0 is called "left-heavy”</a:t>
            </a:r>
          </a:p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BF(X)&gt;0 is called "right-heavy", </a:t>
            </a:r>
          </a:p>
          <a:p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BF(X)=0 is sometimes simply called "balanced".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482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08F46-C343-A114-9837-5847D4395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Height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4CB359C-1E94-5870-AF2C-1DCB4F768F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Lemma: </a:t>
                </a:r>
                <a:r>
                  <a:rPr lang="en-US" dirty="0"/>
                  <a:t>An AVL tree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nodes has height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dirty="0"/>
                  <a:t>Proof: </a:t>
                </a:r>
              </a:p>
              <a:p>
                <a:pPr marL="0" indent="0">
                  <a:buNone/>
                </a:pPr>
                <a:r>
                  <a:rPr lang="en-US" dirty="0"/>
                  <a:t>Define: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minimum number of nodes in an AVL tree of height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To get the minimum number of nodes in a height-ℎ AVL tree, we assume it's just balanced enough to be AVL-valid. That is:</a:t>
                </a:r>
              </a:p>
              <a:p>
                <a:r>
                  <a:rPr lang="en-US" dirty="0"/>
                  <a:t>One subtree has height ℎ−1</a:t>
                </a:r>
              </a:p>
              <a:p>
                <a:r>
                  <a:rPr lang="en-US" dirty="0"/>
                  <a:t>The other has height ℎ−2</a:t>
                </a:r>
              </a:p>
              <a:p>
                <a:pPr marL="0" indent="0">
                  <a:buNone/>
                </a:pPr>
                <a:r>
                  <a:rPr lang="en-US" dirty="0"/>
                  <a:t>This gives the recurrence: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4CB359C-1E94-5870-AF2C-1DCB4F768F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605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B458B-54F4-5AF1-044E-0B03EF419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5992D-43C8-2D92-4221-B33F305EE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Height (2)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9B36D80-418C-F2F5-B295-2845C9ABF7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US" dirty="0"/>
                  <a:t> ;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dirty="0"/>
                  <a:t>Very Similar to Fibonacci numbers: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;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≈1.618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sub>
                          </m:sSub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39B36D80-418C-F2F5-B295-2845C9ABF7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4355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FA263-2370-4723-08BF-37ABA52DF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9B20-34C3-5363-007E-83886772A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Height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F6C2DEE-7EF9-90F2-0497-E372252EE6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US" dirty="0"/>
                  <a:t> ;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≥2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≥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≥…≥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c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c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5F6C2DEE-7EF9-90F2-0497-E372252EE6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533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7013C-EA1B-E746-C849-16EA52FE1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Rotations: Left-Rotate And Right-Rotate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4418C0-96DC-8E4B-0592-7763AE01AA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2210916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en-US" sz="1800" b="0" i="0" u="none" strike="noStrike" baseline="0" dirty="0"/>
                  <a:t>Because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𝑇𝑅𝐸𝐸</m:t>
                    </m:r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𝐼𝑁𝑆𝐸𝑅𝑇</m:t>
                    </m:r>
                  </m:oMath>
                </a14:m>
                <a:r>
                  <a:rPr lang="en-US" sz="1800" b="0" i="0" u="none" strike="noStrike" baseline="0" dirty="0"/>
                  <a:t> and </a:t>
                </a:r>
                <a14:m>
                  <m:oMath xmlns:m="http://schemas.openxmlformats.org/officeDocument/2006/math"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𝑇𝑅𝐸𝐸</m:t>
                    </m:r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b="0" i="1" u="none" strike="noStrike" baseline="0" dirty="0" smtClean="0">
                        <a:latin typeface="Cambria Math" panose="02040503050406030204" pitchFamily="18" charset="0"/>
                      </a:rPr>
                      <m:t>𝐷𝐸𝐿𝐸𝑇𝐸</m:t>
                    </m:r>
                  </m:oMath>
                </a14:m>
                <a:r>
                  <a:rPr lang="en-US" sz="1800" b="0" i="0" u="none" strike="noStrike" baseline="0" dirty="0"/>
                  <a:t> modify the tree, the result may violate the AVL properties. </a:t>
                </a:r>
              </a:p>
              <a:p>
                <a:pPr marL="0" indent="0" algn="just">
                  <a:buNone/>
                </a:pPr>
                <a:r>
                  <a:rPr lang="en-US" sz="1800" b="0" i="0" u="none" strike="noStrike" baseline="0" dirty="0"/>
                  <a:t>To restore these properties, we must change</a:t>
                </a:r>
                <a:r>
                  <a:rPr lang="en-US" sz="1800" b="0" i="0" u="none" strike="noStrike" dirty="0"/>
                  <a:t> </a:t>
                </a:r>
                <a:r>
                  <a:rPr lang="en-US" sz="1800" b="0" i="0" u="none" strike="noStrike" baseline="0" dirty="0"/>
                  <a:t>the pointer structure </a:t>
                </a:r>
                <a:r>
                  <a:rPr lang="en-US" sz="1800" i="0" u="none" strike="noStrike" baseline="0" dirty="0"/>
                  <a:t>(rotate).</a:t>
                </a:r>
              </a:p>
              <a:p>
                <a:pPr marL="0" indent="0" algn="just">
                  <a:buNone/>
                </a:pPr>
                <a:r>
                  <a:rPr lang="en-US" sz="1800" b="1" dirty="0"/>
                  <a:t>Rotation </a:t>
                </a:r>
                <a:r>
                  <a:rPr lang="en-US" sz="1800" dirty="0"/>
                  <a:t>operation change the pointer structure that preserves the binary-search-tree invariants.</a:t>
                </a: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4418C0-96DC-8E4B-0592-7763AE01AA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2210916"/>
              </a:xfrm>
              <a:blipFill>
                <a:blip r:embed="rId2"/>
                <a:stretch>
                  <a:fillRect l="-522" t="-2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758ABAF-F739-55A6-31DB-28B5230BD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626" y="4055181"/>
            <a:ext cx="6782747" cy="205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2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BF29C-76F8-62CB-A60C-BF159FC9A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5EAE3-5BD1-EC8E-3CD1-AA2550A0D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357" y="299222"/>
            <a:ext cx="10515600" cy="1325563"/>
          </a:xfrm>
        </p:spPr>
        <p:txBody>
          <a:bodyPr/>
          <a:lstStyle/>
          <a:p>
            <a:r>
              <a:rPr lang="en-US" dirty="0"/>
              <a:t>AVL Tree: Left Rotate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532528D-B00D-36CB-4C0A-C47636E8E1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080059" y="1630774"/>
            <a:ext cx="5181600" cy="16738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6B4370-B5C9-4FA0-8099-035591252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8845" y="3429000"/>
            <a:ext cx="2262503" cy="19005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EF02F0-821A-205F-C515-24E6F1B874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1349" y="3429002"/>
            <a:ext cx="2262504" cy="190050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A6B5700-A9A4-C745-FAC4-591275C604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3853" y="3429001"/>
            <a:ext cx="2262504" cy="19005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EB1D8C0-841E-D841-8D30-142105F355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9202" y="3429000"/>
            <a:ext cx="1956911" cy="1900503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DA1C4EB-1AEE-A35B-2FCF-15F5717E6A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8"/>
          <a:stretch>
            <a:fillRect/>
          </a:stretch>
        </p:blipFill>
        <p:spPr>
          <a:xfrm>
            <a:off x="393357" y="1842101"/>
            <a:ext cx="3367180" cy="4351338"/>
          </a:xfrm>
        </p:spPr>
      </p:pic>
    </p:spTree>
    <p:extLst>
      <p:ext uri="{BB962C8B-B14F-4D97-AF65-F5344CB8AC3E}">
        <p14:creationId xmlns:p14="http://schemas.microsoft.com/office/powerpoint/2010/main" val="266034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C09EA-1CE4-F98A-1E8B-1E924533D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Rotations: Left-Right Rotate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F68A3-23E4-EF2C-E919-996B67508C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16293"/>
            <a:ext cx="5181600" cy="160337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LeftRightRotate</a:t>
            </a:r>
            <a:r>
              <a:rPr lang="en-US" dirty="0"/>
              <a:t>(x):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LeftRotate</a:t>
            </a:r>
            <a:r>
              <a:rPr lang="en-US" dirty="0"/>
              <a:t>(</a:t>
            </a:r>
            <a:r>
              <a:rPr lang="en-US" dirty="0" err="1"/>
              <a:t>x.left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return </a:t>
            </a:r>
            <a:r>
              <a:rPr lang="en-US" dirty="0" err="1"/>
              <a:t>RightRotate</a:t>
            </a:r>
            <a:r>
              <a:rPr lang="en-US" dirty="0"/>
              <a:t>(x)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B06B0DD6-E910-7AD1-C106-0A526F6838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4606" y="3064477"/>
            <a:ext cx="10649194" cy="3189382"/>
          </a:xfrm>
        </p:spPr>
      </p:pic>
    </p:spTree>
    <p:extLst>
      <p:ext uri="{BB962C8B-B14F-4D97-AF65-F5344CB8AC3E}">
        <p14:creationId xmlns:p14="http://schemas.microsoft.com/office/powerpoint/2010/main" val="1951590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209B6-1570-246B-A34F-AD48D7404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249B2-8A4E-9123-AD9F-8A0167624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Insert (1)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9265C4-C233-944C-568A-E6CD4A910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Let the newly inserted node be w </a:t>
            </a:r>
          </a:p>
          <a:p>
            <a:r>
              <a:rPr lang="en-US" dirty="0"/>
              <a:t>Perform BST insert for w. </a:t>
            </a:r>
          </a:p>
          <a:p>
            <a:r>
              <a:rPr lang="en-US" dirty="0"/>
              <a:t>Starting from w, travel up and find the first unbalanced node.</a:t>
            </a:r>
          </a:p>
          <a:p>
            <a:pPr lvl="1"/>
            <a:r>
              <a:rPr lang="en-US" dirty="0"/>
              <a:t>Let z be the first unbalanced node,</a:t>
            </a:r>
          </a:p>
          <a:p>
            <a:pPr lvl="1"/>
            <a:r>
              <a:rPr lang="en-US" dirty="0"/>
              <a:t>y be the child of z that comes on the path from w to z and </a:t>
            </a:r>
          </a:p>
          <a:p>
            <a:pPr lvl="1"/>
            <a:r>
              <a:rPr lang="en-US" dirty="0"/>
              <a:t>x be the grandchild of z that comes on the path from w to z. </a:t>
            </a:r>
          </a:p>
          <a:p>
            <a:r>
              <a:rPr lang="en-US" dirty="0"/>
              <a:t>Re-balance the tree by performing appropriate rotations on the subtree rooted with z. There can be 4 possible cases that need to be handled as x, y and z can be arranged in 4 ways.</a:t>
            </a:r>
          </a:p>
          <a:p>
            <a:pPr lvl="1"/>
            <a:r>
              <a:rPr lang="en-US" dirty="0"/>
              <a:t>y is the left child of z and x is the left child of y (Left </a:t>
            </a:r>
            <a:r>
              <a:rPr lang="en-US" dirty="0" err="1"/>
              <a:t>Left</a:t>
            </a:r>
            <a:r>
              <a:rPr lang="en-US" dirty="0"/>
              <a:t> Case) </a:t>
            </a:r>
          </a:p>
          <a:p>
            <a:pPr lvl="1"/>
            <a:r>
              <a:rPr lang="en-US" dirty="0"/>
              <a:t>y is the left child of z and x is the right child of y (Left Right Case) </a:t>
            </a:r>
          </a:p>
          <a:p>
            <a:pPr lvl="1"/>
            <a:r>
              <a:rPr lang="en-US" dirty="0"/>
              <a:t>y is the right child of z and x is the right child of y (Right </a:t>
            </a:r>
            <a:r>
              <a:rPr lang="en-US" dirty="0" err="1"/>
              <a:t>Right</a:t>
            </a:r>
            <a:r>
              <a:rPr lang="en-US" dirty="0"/>
              <a:t> Case) </a:t>
            </a:r>
          </a:p>
          <a:p>
            <a:pPr lvl="1"/>
            <a:r>
              <a:rPr lang="en-US" dirty="0"/>
              <a:t>y is the right child of z and x is the left child of y (Right Left Case)</a:t>
            </a:r>
          </a:p>
        </p:txBody>
      </p:sp>
    </p:spTree>
    <p:extLst>
      <p:ext uri="{BB962C8B-B14F-4D97-AF65-F5344CB8AC3E}">
        <p14:creationId xmlns:p14="http://schemas.microsoft.com/office/powerpoint/2010/main" val="88413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C556B-C55E-8763-CA70-5066D9CC4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Insert Example (1)</a:t>
            </a:r>
          </a:p>
        </p:txBody>
      </p:sp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CE154C09-9839-5785-EF00-E74F91771EF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178" y="1688425"/>
            <a:ext cx="9353644" cy="516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3122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B2BD8-AF91-83B3-C5F0-D3145224E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E3A19-5A1F-048D-29E6-F34215F71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Insert Example (2)</a:t>
            </a:r>
          </a:p>
        </p:txBody>
      </p:sp>
      <p:pic>
        <p:nvPicPr>
          <p:cNvPr id="2050" name="Picture 2" descr="Lightbox">
            <a:extLst>
              <a:ext uri="{FF2B5EF4-FFF2-40B4-BE49-F238E27FC236}">
                <a16:creationId xmlns:a16="http://schemas.microsoft.com/office/drawing/2014/main" id="{0501FE32-3079-594C-9D09-CA109E6CB5A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584" y="1690688"/>
            <a:ext cx="6886832" cy="516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529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F90C1-56B2-FC58-7013-231D2E656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70E1-E7E6-9BF1-0079-407226132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Insert Example (3)</a:t>
            </a:r>
          </a:p>
        </p:txBody>
      </p:sp>
      <p:pic>
        <p:nvPicPr>
          <p:cNvPr id="3074" name="Picture 2" descr="Lightbox">
            <a:extLst>
              <a:ext uri="{FF2B5EF4-FFF2-40B4-BE49-F238E27FC236}">
                <a16:creationId xmlns:a16="http://schemas.microsoft.com/office/drawing/2014/main" id="{13A6CE6D-4D9A-EFCB-00A3-A6EC78BC85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655" y="1690688"/>
            <a:ext cx="6886689" cy="5165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2127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B4198-F518-86DB-05C4-4915CEAFF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D1BA-5F80-9425-3C2D-2CE013CFD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Insert Example (4)</a:t>
            </a:r>
          </a:p>
        </p:txBody>
      </p:sp>
      <p:pic>
        <p:nvPicPr>
          <p:cNvPr id="4098" name="Picture 2" descr="Lightbox">
            <a:extLst>
              <a:ext uri="{FF2B5EF4-FFF2-40B4-BE49-F238E27FC236}">
                <a16:creationId xmlns:a16="http://schemas.microsoft.com/office/drawing/2014/main" id="{6E2A56D9-491C-C896-179C-74B812F6803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119" y="1690688"/>
            <a:ext cx="7611762" cy="5171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44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A656-444F-15D7-B8FB-D37E97F8F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Insert (2)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DAE5A88-E7B0-42D5-8E0C-25D0574D379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778257"/>
            <a:ext cx="3073680" cy="4351338"/>
          </a:xfr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AF781E8A-6D3D-C2AC-3914-87DC4AA1D9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333103" y="1782598"/>
            <a:ext cx="7641812" cy="3827370"/>
          </a:xfrm>
        </p:spPr>
      </p:pic>
    </p:spTree>
    <p:extLst>
      <p:ext uri="{BB962C8B-B14F-4D97-AF65-F5344CB8AC3E}">
        <p14:creationId xmlns:p14="http://schemas.microsoft.com/office/powerpoint/2010/main" val="1810389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E2B51-3459-6275-2EB6-C92F10249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F6782-8895-CD92-A45A-4E0EDE709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Insert (3)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4AAB1E9-8906-14E3-D474-D5FF73B05C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609600" y="1595039"/>
            <a:ext cx="10972800" cy="4897836"/>
          </a:xfrm>
        </p:spPr>
      </p:pic>
    </p:spTree>
    <p:extLst>
      <p:ext uri="{BB962C8B-B14F-4D97-AF65-F5344CB8AC3E}">
        <p14:creationId xmlns:p14="http://schemas.microsoft.com/office/powerpoint/2010/main" val="971945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F5191-08A2-4E21-924E-D32A29CF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Insert (4)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0AC6045-F583-1CC4-EFCA-5BD92C3A70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853" y="1690688"/>
            <a:ext cx="7592293" cy="4270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1325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80FD2-AA91-D711-923E-2803F49E3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vs Red-Black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28457E-7D44-8F2D-DF8C-B33A6D43DC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673482"/>
              </p:ext>
            </p:extLst>
          </p:nvPr>
        </p:nvGraphicFramePr>
        <p:xfrm>
          <a:off x="259492" y="1690688"/>
          <a:ext cx="11673015" cy="466725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91005">
                  <a:extLst>
                    <a:ext uri="{9D8B030D-6E8A-4147-A177-3AD203B41FA5}">
                      <a16:colId xmlns:a16="http://schemas.microsoft.com/office/drawing/2014/main" val="3472550118"/>
                    </a:ext>
                  </a:extLst>
                </a:gridCol>
                <a:gridCol w="3891005">
                  <a:extLst>
                    <a:ext uri="{9D8B030D-6E8A-4147-A177-3AD203B41FA5}">
                      <a16:colId xmlns:a16="http://schemas.microsoft.com/office/drawing/2014/main" val="1721703967"/>
                    </a:ext>
                  </a:extLst>
                </a:gridCol>
                <a:gridCol w="3891005">
                  <a:extLst>
                    <a:ext uri="{9D8B030D-6E8A-4147-A177-3AD203B41FA5}">
                      <a16:colId xmlns:a16="http://schemas.microsoft.com/office/drawing/2014/main" val="3174597722"/>
                    </a:ext>
                  </a:extLst>
                </a:gridCol>
              </a:tblGrid>
              <a:tr h="417536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AVL Tree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Red-Black Tree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161395"/>
                  </a:ext>
                </a:extLst>
              </a:tr>
              <a:tr h="417536">
                <a:tc>
                  <a:txBody>
                    <a:bodyPr/>
                    <a:lstStyle/>
                    <a:p>
                      <a:r>
                        <a:rPr lang="en-US" b="1"/>
                        <a:t>Balance Strictness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Stricter</a:t>
                      </a:r>
                      <a:r>
                        <a:rPr lang="en-US"/>
                        <a:t> (balance factor: -1, 0, +1)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Looser</a:t>
                      </a:r>
                      <a:r>
                        <a:rPr lang="en-US"/>
                        <a:t> (black height constraints)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3300478"/>
                  </a:ext>
                </a:extLst>
              </a:tr>
              <a:tr h="720678">
                <a:tc>
                  <a:txBody>
                    <a:bodyPr/>
                    <a:lstStyle/>
                    <a:p>
                      <a:r>
                        <a:rPr lang="en-US" b="1"/>
                        <a:t>Height Guarantee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Lower height</a:t>
                      </a:r>
                      <a:r>
                        <a:rPr lang="en-US"/>
                        <a:t> ⇒ closer to perfect balance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Higher height</a:t>
                      </a:r>
                      <a:r>
                        <a:rPr lang="en-US"/>
                        <a:t> ⇒ slightly less balanced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8191716"/>
                  </a:ext>
                </a:extLst>
              </a:tr>
              <a:tr h="720678">
                <a:tc>
                  <a:txBody>
                    <a:bodyPr/>
                    <a:lstStyle/>
                    <a:p>
                      <a:r>
                        <a:rPr lang="en-US" b="1"/>
                        <a:t>Insert/Delete Speed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Slower (more rotations may be needed)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Faster (fewer rotations)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8470698"/>
                  </a:ext>
                </a:extLst>
              </a:tr>
              <a:tr h="417536">
                <a:tc>
                  <a:txBody>
                    <a:bodyPr/>
                    <a:lstStyle/>
                    <a:p>
                      <a:r>
                        <a:rPr lang="en-US" b="1"/>
                        <a:t>Search Performance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Better (due to better balance)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Slightly worse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3246"/>
                  </a:ext>
                </a:extLst>
              </a:tr>
              <a:tr h="417536">
                <a:tc>
                  <a:txBody>
                    <a:bodyPr/>
                    <a:lstStyle/>
                    <a:p>
                      <a:r>
                        <a:rPr lang="en-US" b="1"/>
                        <a:t>Rotations per Insert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Up to </a:t>
                      </a:r>
                      <a:r>
                        <a:rPr lang="en-US" b="1"/>
                        <a:t>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Up to 2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4937861"/>
                  </a:ext>
                </a:extLst>
              </a:tr>
              <a:tr h="417536">
                <a:tc>
                  <a:txBody>
                    <a:bodyPr/>
                    <a:lstStyle/>
                    <a:p>
                      <a:r>
                        <a:rPr lang="en-US" b="1"/>
                        <a:t>Rotations per Delete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Up to </a:t>
                      </a:r>
                      <a:r>
                        <a:rPr lang="en-US" b="1"/>
                        <a:t>O(log n)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Often </a:t>
                      </a:r>
                      <a:r>
                        <a:rPr lang="en-US" b="1"/>
                        <a:t>O(1)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1319493"/>
                  </a:ext>
                </a:extLst>
              </a:tr>
              <a:tr h="417536">
                <a:tc>
                  <a:txBody>
                    <a:bodyPr/>
                    <a:lstStyle/>
                    <a:p>
                      <a:r>
                        <a:rPr lang="en-US" b="1"/>
                        <a:t>Use Case Suitability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Good for </a:t>
                      </a:r>
                      <a:r>
                        <a:rPr lang="en-US" b="1"/>
                        <a:t>read-heavy</a:t>
                      </a:r>
                      <a:r>
                        <a:rPr lang="en-US"/>
                        <a:t> scenarios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Good for </a:t>
                      </a:r>
                      <a:r>
                        <a:rPr lang="en-US" b="1"/>
                        <a:t>write-heavy</a:t>
                      </a:r>
                      <a:r>
                        <a:rPr lang="en-US"/>
                        <a:t> scenarios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6078949"/>
                  </a:ext>
                </a:extLst>
              </a:tr>
              <a:tr h="720678">
                <a:tc>
                  <a:txBody>
                    <a:bodyPr/>
                    <a:lstStyle/>
                    <a:p>
                      <a:r>
                        <a:rPr lang="en-US" b="1"/>
                        <a:t>Implementation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More complex due to multiple rotation cases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Slightly simpler (uses color flips &amp; fewer cases)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382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3671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822C-3C42-A6E8-416D-90360FA31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94E8B-3AC1-0037-4216-E2AC1DBDB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Insert the following keys into an empty AVL tree: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10, 20, 30, 25, 28, 27, 5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30, 20, 10, 14, 12, 13, 40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40, 10, 30, 20, 15, 16, 18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1, 2, 3, 4, 5, 10, 9, 8, 7, 6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Explain </a:t>
            </a:r>
            <a:r>
              <a:rPr lang="en-US" dirty="0"/>
              <a:t>why at most two rotations are sufficient during insertion in an AVL tree.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an AVL delete.</a:t>
            </a:r>
          </a:p>
        </p:txBody>
      </p:sp>
    </p:spTree>
    <p:extLst>
      <p:ext uri="{BB962C8B-B14F-4D97-AF65-F5344CB8AC3E}">
        <p14:creationId xmlns:p14="http://schemas.microsoft.com/office/powerpoint/2010/main" val="22531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AC847-20A8-4695-3B2E-682546CFC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AVL Tree: Delete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C43A2E-B87A-4BE9-0A2C-49BCF19204A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r="9378" b="52787"/>
          <a:stretch/>
        </p:blipFill>
        <p:spPr>
          <a:xfrm>
            <a:off x="-1" y="2314833"/>
            <a:ext cx="5786745" cy="2686456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7A8B6D6-DC2B-B31F-7279-E81FA10B33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t="49864"/>
          <a:stretch/>
        </p:blipFill>
        <p:spPr>
          <a:xfrm>
            <a:off x="5844872" y="2281903"/>
            <a:ext cx="6086953" cy="2719386"/>
          </a:xfrm>
        </p:spPr>
      </p:pic>
    </p:spTree>
    <p:extLst>
      <p:ext uri="{BB962C8B-B14F-4D97-AF65-F5344CB8AC3E}">
        <p14:creationId xmlns:p14="http://schemas.microsoft.com/office/powerpoint/2010/main" val="12293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A447BDE-B655-E1BC-C47E-559BB019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9719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4523dde-f9d1-4aa7-80a9-c0900420d3c3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40387</TotalTime>
  <Words>1158</Words>
  <Application>Microsoft Office PowerPoint</Application>
  <PresentationFormat>Widescreen</PresentationFormat>
  <Paragraphs>146</Paragraphs>
  <Slides>24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Arial</vt:lpstr>
      <vt:lpstr>Calibri</vt:lpstr>
      <vt:lpstr>Calibri Light</vt:lpstr>
      <vt:lpstr>Cambria Math</vt:lpstr>
      <vt:lpstr>MT2MIT</vt:lpstr>
      <vt:lpstr>Times-Roman</vt:lpstr>
      <vt:lpstr>Office Theme</vt:lpstr>
      <vt:lpstr>Introduction to Algorithms</vt:lpstr>
      <vt:lpstr>Course Overview</vt:lpstr>
      <vt:lpstr>Balanced vs Unbalanced </vt:lpstr>
      <vt:lpstr>AVL Tree: Definition</vt:lpstr>
      <vt:lpstr>AVL Tree: Example</vt:lpstr>
      <vt:lpstr>AVL Tree: Balance Factor</vt:lpstr>
      <vt:lpstr>AVL Tree: Height (1)</vt:lpstr>
      <vt:lpstr>AVL Tree: Height (2)</vt:lpstr>
      <vt:lpstr>AVL Tree: Height (3)</vt:lpstr>
      <vt:lpstr>Rotations: Left-Rotate And Right-Rotate</vt:lpstr>
      <vt:lpstr>AVL Tree: Left Rotate</vt:lpstr>
      <vt:lpstr>Rotations: Left-Right Rotate</vt:lpstr>
      <vt:lpstr>AVL Tree: Insert (1)</vt:lpstr>
      <vt:lpstr>AVL Tree: Insert Example (1)</vt:lpstr>
      <vt:lpstr>AVL Tree: Insert Example (2)</vt:lpstr>
      <vt:lpstr>AVL Tree: Insert Example (3)</vt:lpstr>
      <vt:lpstr>AVL Tree: Insert Example (4)</vt:lpstr>
      <vt:lpstr>AVL Tree: Insert (2)</vt:lpstr>
      <vt:lpstr>AVL Tree: Insert (3)</vt:lpstr>
      <vt:lpstr>AVL Tree: Insert (4)</vt:lpstr>
      <vt:lpstr>AVL vs Red-Black</vt:lpstr>
      <vt:lpstr>AVL Tree: Exercises</vt:lpstr>
      <vt:lpstr>AVL Tree: Delete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Prazyan, Levon</dc:creator>
  <cp:lastModifiedBy>Prazyan, Levon</cp:lastModifiedBy>
  <cp:revision>7</cp:revision>
  <dcterms:created xsi:type="dcterms:W3CDTF">2024-06-18T05:26:31Z</dcterms:created>
  <dcterms:modified xsi:type="dcterms:W3CDTF">2026-02-23T18:38:44Z</dcterms:modified>
</cp:coreProperties>
</file>
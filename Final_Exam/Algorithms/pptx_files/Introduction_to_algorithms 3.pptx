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  <p:sldId id="291" r:id="rId40"/>
    <p:sldId id="292" r:id="rId41"/>
    <p:sldId id="293" r:id="rId42"/>
  </p:sldIdLst>
  <p:sldSz cy="6858000" cx="12192000"/>
  <p:notesSz cx="7010400" cy="9296400"/>
  <p:embeddedFontLst>
    <p:embeddedFont>
      <p:font typeface="Cambria Math"/>
      <p:regular r:id="rId4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44" roundtripDataSignature="AMtx7mi8jXvKqdxCzrgPl29v3TorJUBLa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6.xml"/><Relationship Id="rId20" Type="http://schemas.openxmlformats.org/officeDocument/2006/relationships/slide" Target="slides/slide16.xml"/><Relationship Id="rId42" Type="http://schemas.openxmlformats.org/officeDocument/2006/relationships/slide" Target="slides/slide38.xml"/><Relationship Id="rId41" Type="http://schemas.openxmlformats.org/officeDocument/2006/relationships/slide" Target="slides/slide37.xml"/><Relationship Id="rId22" Type="http://schemas.openxmlformats.org/officeDocument/2006/relationships/slide" Target="slides/slide18.xml"/><Relationship Id="rId44" Type="http://customschemas.google.com/relationships/presentationmetadata" Target="metadata"/><Relationship Id="rId21" Type="http://schemas.openxmlformats.org/officeDocument/2006/relationships/slide" Target="slides/slide17.xml"/><Relationship Id="rId43" Type="http://schemas.openxmlformats.org/officeDocument/2006/relationships/font" Target="fonts/CambriaMath-regular.fntdata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slide" Target="slides/slide25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11" Type="http://schemas.openxmlformats.org/officeDocument/2006/relationships/slide" Target="slides/slide7.xml"/><Relationship Id="rId33" Type="http://schemas.openxmlformats.org/officeDocument/2006/relationships/slide" Target="slides/slide29.xml"/><Relationship Id="rId10" Type="http://schemas.openxmlformats.org/officeDocument/2006/relationships/slide" Target="slides/slide6.xml"/><Relationship Id="rId32" Type="http://schemas.openxmlformats.org/officeDocument/2006/relationships/slide" Target="slides/slide28.xml"/><Relationship Id="rId13" Type="http://schemas.openxmlformats.org/officeDocument/2006/relationships/slide" Target="slides/slide9.xml"/><Relationship Id="rId35" Type="http://schemas.openxmlformats.org/officeDocument/2006/relationships/slide" Target="slides/slide31.xml"/><Relationship Id="rId12" Type="http://schemas.openxmlformats.org/officeDocument/2006/relationships/slide" Target="slides/slide8.xml"/><Relationship Id="rId34" Type="http://schemas.openxmlformats.org/officeDocument/2006/relationships/slide" Target="slides/slide30.xml"/><Relationship Id="rId15" Type="http://schemas.openxmlformats.org/officeDocument/2006/relationships/slide" Target="slides/slide11.xml"/><Relationship Id="rId37" Type="http://schemas.openxmlformats.org/officeDocument/2006/relationships/slide" Target="slides/slide33.xml"/><Relationship Id="rId14" Type="http://schemas.openxmlformats.org/officeDocument/2006/relationships/slide" Target="slides/slide10.xml"/><Relationship Id="rId36" Type="http://schemas.openxmlformats.org/officeDocument/2006/relationships/slide" Target="slides/slide32.xml"/><Relationship Id="rId17" Type="http://schemas.openxmlformats.org/officeDocument/2006/relationships/slide" Target="slides/slide13.xml"/><Relationship Id="rId39" Type="http://schemas.openxmlformats.org/officeDocument/2006/relationships/slide" Target="slides/slide35.xml"/><Relationship Id="rId16" Type="http://schemas.openxmlformats.org/officeDocument/2006/relationships/slide" Target="slides/slide12.xml"/><Relationship Id="rId38" Type="http://schemas.openxmlformats.org/officeDocument/2006/relationships/slide" Target="slides/slide34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3037840" cy="466434"/>
          </a:xfrm>
          <a:prstGeom prst="rect">
            <a:avLst/>
          </a:prstGeom>
          <a:noFill/>
          <a:ln>
            <a:noFill/>
          </a:ln>
        </p:spPr>
        <p:txBody>
          <a:bodyPr anchorCtr="0" anchor="t" bIns="46575" lIns="93175" spcFirstLastPara="1" rIns="93175" wrap="square" tIns="465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970938" y="0"/>
            <a:ext cx="3037840" cy="466434"/>
          </a:xfrm>
          <a:prstGeom prst="rect">
            <a:avLst/>
          </a:prstGeom>
          <a:noFill/>
          <a:ln>
            <a:noFill/>
          </a:ln>
        </p:spPr>
        <p:txBody>
          <a:bodyPr anchorCtr="0" anchor="t" bIns="46575" lIns="93175" spcFirstLastPara="1" rIns="93175" wrap="square" tIns="46575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717550" y="1162050"/>
            <a:ext cx="5575300" cy="3136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701040" y="4473892"/>
            <a:ext cx="5608320" cy="3660458"/>
          </a:xfrm>
          <a:prstGeom prst="rect">
            <a:avLst/>
          </a:prstGeom>
          <a:noFill/>
          <a:ln>
            <a:noFill/>
          </a:ln>
        </p:spPr>
        <p:txBody>
          <a:bodyPr anchorCtr="0" anchor="t" bIns="46575" lIns="93175" spcFirstLastPara="1" rIns="93175" wrap="square" tIns="46575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829967"/>
            <a:ext cx="3037840" cy="466433"/>
          </a:xfrm>
          <a:prstGeom prst="rect">
            <a:avLst/>
          </a:prstGeom>
          <a:noFill/>
          <a:ln>
            <a:noFill/>
          </a:ln>
        </p:spPr>
        <p:txBody>
          <a:bodyPr anchorCtr="0" anchor="b" bIns="46575" lIns="93175" spcFirstLastPara="1" rIns="93175" wrap="square" tIns="465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970938" y="8829967"/>
            <a:ext cx="3037840" cy="466433"/>
          </a:xfrm>
          <a:prstGeom prst="rect">
            <a:avLst/>
          </a:prstGeom>
          <a:noFill/>
          <a:ln>
            <a:noFill/>
          </a:ln>
        </p:spPr>
        <p:txBody>
          <a:bodyPr anchorCtr="0" anchor="b" bIns="46575" lIns="93175" spcFirstLastPara="1" rIns="93175" wrap="square" tIns="4657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/>
          <p:nvPr>
            <p:ph idx="1" type="body"/>
          </p:nvPr>
        </p:nvSpPr>
        <p:spPr>
          <a:xfrm>
            <a:off x="701040" y="4473892"/>
            <a:ext cx="5608320" cy="3660458"/>
          </a:xfrm>
          <a:prstGeom prst="rect">
            <a:avLst/>
          </a:prstGeom>
        </p:spPr>
        <p:txBody>
          <a:bodyPr anchorCtr="0" anchor="t" bIns="46575" lIns="93175" spcFirstLastPara="1" rIns="93175" wrap="square" tIns="46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:notes"/>
          <p:cNvSpPr/>
          <p:nvPr>
            <p:ph idx="2" type="sldImg"/>
          </p:nvPr>
        </p:nvSpPr>
        <p:spPr>
          <a:xfrm>
            <a:off x="717550" y="1162050"/>
            <a:ext cx="5575300" cy="3136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:notes"/>
          <p:cNvSpPr txBox="1"/>
          <p:nvPr>
            <p:ph idx="1" type="body"/>
          </p:nvPr>
        </p:nvSpPr>
        <p:spPr>
          <a:xfrm>
            <a:off x="701040" y="4473892"/>
            <a:ext cx="5608320" cy="3660458"/>
          </a:xfrm>
          <a:prstGeom prst="rect">
            <a:avLst/>
          </a:prstGeom>
        </p:spPr>
        <p:txBody>
          <a:bodyPr anchorCtr="0" anchor="t" bIns="46575" lIns="93175" spcFirstLastPara="1" rIns="93175" wrap="square" tIns="46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2:notes"/>
          <p:cNvSpPr/>
          <p:nvPr>
            <p:ph idx="2" type="sldImg"/>
          </p:nvPr>
        </p:nvSpPr>
        <p:spPr>
          <a:xfrm>
            <a:off x="717550" y="1162050"/>
            <a:ext cx="5575300" cy="3136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3:notes"/>
          <p:cNvSpPr txBox="1"/>
          <p:nvPr>
            <p:ph idx="1" type="body"/>
          </p:nvPr>
        </p:nvSpPr>
        <p:spPr>
          <a:xfrm>
            <a:off x="701040" y="4473892"/>
            <a:ext cx="5608320" cy="3660458"/>
          </a:xfrm>
          <a:prstGeom prst="rect">
            <a:avLst/>
          </a:prstGeom>
        </p:spPr>
        <p:txBody>
          <a:bodyPr anchorCtr="0" anchor="t" bIns="46575" lIns="93175" spcFirstLastPara="1" rIns="93175" wrap="square" tIns="46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3:notes"/>
          <p:cNvSpPr/>
          <p:nvPr>
            <p:ph idx="2" type="sldImg"/>
          </p:nvPr>
        </p:nvSpPr>
        <p:spPr>
          <a:xfrm>
            <a:off x="717550" y="1162050"/>
            <a:ext cx="5575300" cy="3136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:notes"/>
          <p:cNvSpPr txBox="1"/>
          <p:nvPr>
            <p:ph idx="1" type="body"/>
          </p:nvPr>
        </p:nvSpPr>
        <p:spPr>
          <a:xfrm>
            <a:off x="701040" y="4473892"/>
            <a:ext cx="5608320" cy="3660458"/>
          </a:xfrm>
          <a:prstGeom prst="rect">
            <a:avLst/>
          </a:prstGeom>
        </p:spPr>
        <p:txBody>
          <a:bodyPr anchorCtr="0" anchor="t" bIns="46575" lIns="93175" spcFirstLastPara="1" rIns="93175" wrap="square" tIns="46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4:notes"/>
          <p:cNvSpPr/>
          <p:nvPr>
            <p:ph idx="2" type="sldImg"/>
          </p:nvPr>
        </p:nvSpPr>
        <p:spPr>
          <a:xfrm>
            <a:off x="717550" y="1162050"/>
            <a:ext cx="5575300" cy="3136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5:notes"/>
          <p:cNvSpPr txBox="1"/>
          <p:nvPr>
            <p:ph idx="1" type="body"/>
          </p:nvPr>
        </p:nvSpPr>
        <p:spPr>
          <a:xfrm>
            <a:off x="701040" y="4473892"/>
            <a:ext cx="5608320" cy="3660458"/>
          </a:xfrm>
          <a:prstGeom prst="rect">
            <a:avLst/>
          </a:prstGeom>
        </p:spPr>
        <p:txBody>
          <a:bodyPr anchorCtr="0" anchor="t" bIns="46575" lIns="93175" spcFirstLastPara="1" rIns="93175" wrap="square" tIns="46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5:notes"/>
          <p:cNvSpPr/>
          <p:nvPr>
            <p:ph idx="2" type="sldImg"/>
          </p:nvPr>
        </p:nvSpPr>
        <p:spPr>
          <a:xfrm>
            <a:off x="717550" y="1162050"/>
            <a:ext cx="5575300" cy="3136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6:notes"/>
          <p:cNvSpPr txBox="1"/>
          <p:nvPr>
            <p:ph idx="1" type="body"/>
          </p:nvPr>
        </p:nvSpPr>
        <p:spPr>
          <a:xfrm>
            <a:off x="701040" y="4473892"/>
            <a:ext cx="5608320" cy="3660458"/>
          </a:xfrm>
          <a:prstGeom prst="rect">
            <a:avLst/>
          </a:prstGeom>
        </p:spPr>
        <p:txBody>
          <a:bodyPr anchorCtr="0" anchor="t" bIns="46575" lIns="93175" spcFirstLastPara="1" rIns="93175" wrap="square" tIns="46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6:notes"/>
          <p:cNvSpPr/>
          <p:nvPr>
            <p:ph idx="2" type="sldImg"/>
          </p:nvPr>
        </p:nvSpPr>
        <p:spPr>
          <a:xfrm>
            <a:off x="717550" y="1162050"/>
            <a:ext cx="5575300" cy="3136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7:notes"/>
          <p:cNvSpPr txBox="1"/>
          <p:nvPr>
            <p:ph idx="1" type="body"/>
          </p:nvPr>
        </p:nvSpPr>
        <p:spPr>
          <a:xfrm>
            <a:off x="701040" y="4473892"/>
            <a:ext cx="5608320" cy="3660458"/>
          </a:xfrm>
          <a:prstGeom prst="rect">
            <a:avLst/>
          </a:prstGeom>
        </p:spPr>
        <p:txBody>
          <a:bodyPr anchorCtr="0" anchor="t" bIns="46575" lIns="93175" spcFirstLastPara="1" rIns="93175" wrap="square" tIns="46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7:notes"/>
          <p:cNvSpPr/>
          <p:nvPr>
            <p:ph idx="2" type="sldImg"/>
          </p:nvPr>
        </p:nvSpPr>
        <p:spPr>
          <a:xfrm>
            <a:off x="717550" y="1162050"/>
            <a:ext cx="5575300" cy="3136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8:notes"/>
          <p:cNvSpPr txBox="1"/>
          <p:nvPr>
            <p:ph idx="1" type="body"/>
          </p:nvPr>
        </p:nvSpPr>
        <p:spPr>
          <a:xfrm>
            <a:off x="701040" y="4473892"/>
            <a:ext cx="5608320" cy="3660458"/>
          </a:xfrm>
          <a:prstGeom prst="rect">
            <a:avLst/>
          </a:prstGeom>
        </p:spPr>
        <p:txBody>
          <a:bodyPr anchorCtr="0" anchor="t" bIns="46575" lIns="93175" spcFirstLastPara="1" rIns="93175" wrap="square" tIns="46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8:notes"/>
          <p:cNvSpPr/>
          <p:nvPr>
            <p:ph idx="2" type="sldImg"/>
          </p:nvPr>
        </p:nvSpPr>
        <p:spPr>
          <a:xfrm>
            <a:off x="717550" y="1162050"/>
            <a:ext cx="5575300" cy="3136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9:notes"/>
          <p:cNvSpPr txBox="1"/>
          <p:nvPr>
            <p:ph idx="1" type="body"/>
          </p:nvPr>
        </p:nvSpPr>
        <p:spPr>
          <a:xfrm>
            <a:off x="701040" y="4473892"/>
            <a:ext cx="5608320" cy="3660458"/>
          </a:xfrm>
          <a:prstGeom prst="rect">
            <a:avLst/>
          </a:prstGeom>
        </p:spPr>
        <p:txBody>
          <a:bodyPr anchorCtr="0" anchor="t" bIns="46575" lIns="93175" spcFirstLastPara="1" rIns="93175" wrap="square" tIns="46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9:notes"/>
          <p:cNvSpPr/>
          <p:nvPr>
            <p:ph idx="2" type="sldImg"/>
          </p:nvPr>
        </p:nvSpPr>
        <p:spPr>
          <a:xfrm>
            <a:off x="717550" y="1162050"/>
            <a:ext cx="5575300" cy="3136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0:notes"/>
          <p:cNvSpPr/>
          <p:nvPr>
            <p:ph idx="2" type="sldImg"/>
          </p:nvPr>
        </p:nvSpPr>
        <p:spPr>
          <a:xfrm>
            <a:off x="717550" y="1162050"/>
            <a:ext cx="5575300" cy="3136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0" name="Google Shape;150;p10:notes"/>
          <p:cNvSpPr txBox="1"/>
          <p:nvPr>
            <p:ph idx="1" type="body"/>
          </p:nvPr>
        </p:nvSpPr>
        <p:spPr>
          <a:xfrm>
            <a:off x="701040" y="4473892"/>
            <a:ext cx="5608320" cy="3660458"/>
          </a:xfrm>
          <a:prstGeom prst="rect">
            <a:avLst/>
          </a:prstGeom>
          <a:noFill/>
          <a:ln>
            <a:noFill/>
          </a:ln>
        </p:spPr>
        <p:txBody>
          <a:bodyPr anchorCtr="0" anchor="t" bIns="46575" lIns="93175" spcFirstLastPara="1" rIns="93175" wrap="square" tIns="46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“Closest” refers to the usual Euclidean distance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</a:t>
            </a:r>
            <a:r>
              <a:rPr b="1" i="0" lang="en-US" sz="1200" u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brute-force</a:t>
            </a:r>
            <a:r>
              <a:rPr b="0" i="0" lang="en-US" sz="1200" u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closest-pair algorithm simply looks all pairs and </a:t>
            </a:r>
            <a:r>
              <a:rPr b="1" i="0" lang="en-US" sz="1200" u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takes </a:t>
            </a:r>
            <a:r>
              <a:rPr b="1" i="0" lang="en-US" sz="1200" u="none" strike="noStrike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𝑶(𝒏^𝟐)</a:t>
            </a:r>
            <a:r>
              <a:rPr b="0" i="0" lang="en-US" sz="1200" u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time.</a:t>
            </a:r>
            <a:endParaRPr b="0"/>
          </a:p>
        </p:txBody>
      </p:sp>
      <p:sp>
        <p:nvSpPr>
          <p:cNvPr id="151" name="Google Shape;151;p10:notes"/>
          <p:cNvSpPr txBox="1"/>
          <p:nvPr>
            <p:ph idx="12" type="sldNum"/>
          </p:nvPr>
        </p:nvSpPr>
        <p:spPr>
          <a:xfrm>
            <a:off x="3970938" y="8829967"/>
            <a:ext cx="3037840" cy="466433"/>
          </a:xfrm>
          <a:prstGeom prst="rect">
            <a:avLst/>
          </a:prstGeom>
          <a:noFill/>
          <a:ln>
            <a:noFill/>
          </a:ln>
        </p:spPr>
        <p:txBody>
          <a:bodyPr anchorCtr="0" anchor="b" bIns="46575" lIns="93175" spcFirstLastPara="1" rIns="93175" wrap="square" tIns="465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1:notes"/>
          <p:cNvSpPr/>
          <p:nvPr>
            <p:ph idx="2" type="sldImg"/>
          </p:nvPr>
        </p:nvSpPr>
        <p:spPr>
          <a:xfrm>
            <a:off x="717550" y="1162050"/>
            <a:ext cx="5575300" cy="3136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8" name="Google Shape;158;p11:notes"/>
          <p:cNvSpPr txBox="1"/>
          <p:nvPr>
            <p:ph idx="1" type="body"/>
          </p:nvPr>
        </p:nvSpPr>
        <p:spPr>
          <a:xfrm>
            <a:off x="701040" y="4473892"/>
            <a:ext cx="5608320" cy="3660458"/>
          </a:xfrm>
          <a:prstGeom prst="rect">
            <a:avLst/>
          </a:prstGeom>
          <a:noFill/>
          <a:ln>
            <a:noFill/>
          </a:ln>
        </p:spPr>
        <p:txBody>
          <a:bodyPr anchorCtr="0" anchor="t" bIns="46575" lIns="93175" spcFirstLastPara="1" rIns="93175" wrap="square" tIns="46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i="0"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Sort the points by x-coordinate</a:t>
            </a:r>
            <a:r>
              <a:rPr b="0" i="0"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11:notes"/>
          <p:cNvSpPr txBox="1"/>
          <p:nvPr>
            <p:ph idx="12" type="sldNum"/>
          </p:nvPr>
        </p:nvSpPr>
        <p:spPr>
          <a:xfrm>
            <a:off x="3970938" y="8829967"/>
            <a:ext cx="3037840" cy="466433"/>
          </a:xfrm>
          <a:prstGeom prst="rect">
            <a:avLst/>
          </a:prstGeom>
          <a:noFill/>
          <a:ln>
            <a:noFill/>
          </a:ln>
        </p:spPr>
        <p:txBody>
          <a:bodyPr anchorCtr="0" anchor="b" bIns="46575" lIns="93175" spcFirstLastPara="1" rIns="93175" wrap="square" tIns="465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2:notes"/>
          <p:cNvSpPr/>
          <p:nvPr>
            <p:ph idx="2" type="sldImg"/>
          </p:nvPr>
        </p:nvSpPr>
        <p:spPr>
          <a:xfrm>
            <a:off x="717550" y="1162050"/>
            <a:ext cx="5575300" cy="3136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6" name="Google Shape;166;p12:notes"/>
          <p:cNvSpPr txBox="1"/>
          <p:nvPr>
            <p:ph idx="1" type="body"/>
          </p:nvPr>
        </p:nvSpPr>
        <p:spPr>
          <a:xfrm>
            <a:off x="701040" y="4473892"/>
            <a:ext cx="5608320" cy="3660458"/>
          </a:xfrm>
          <a:prstGeom prst="rect">
            <a:avLst/>
          </a:prstGeom>
          <a:noFill/>
          <a:ln>
            <a:noFill/>
          </a:ln>
        </p:spPr>
        <p:txBody>
          <a:bodyPr anchorCtr="0" anchor="t" bIns="46575" lIns="93175" spcFirstLastPara="1" rIns="93175" wrap="square" tIns="46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>
                <a:latin typeface="Cambria Math"/>
                <a:ea typeface="Cambria Math"/>
                <a:cs typeface="Cambria Math"/>
                <a:sym typeface="Cambria Math"/>
              </a:rPr>
              <a:t>𝑌^′</a:t>
            </a:r>
            <a:r>
              <a:rPr lang="en-US"/>
              <a:t> is sorted by y-coordinate, just as Y is</a:t>
            </a:r>
            <a:endParaRPr/>
          </a:p>
        </p:txBody>
      </p:sp>
      <p:sp>
        <p:nvSpPr>
          <p:cNvPr id="167" name="Google Shape;167;p12:notes"/>
          <p:cNvSpPr txBox="1"/>
          <p:nvPr>
            <p:ph idx="12" type="sldNum"/>
          </p:nvPr>
        </p:nvSpPr>
        <p:spPr>
          <a:xfrm>
            <a:off x="3970938" y="8829967"/>
            <a:ext cx="3037840" cy="466433"/>
          </a:xfrm>
          <a:prstGeom prst="rect">
            <a:avLst/>
          </a:prstGeom>
          <a:noFill/>
          <a:ln>
            <a:noFill/>
          </a:ln>
        </p:spPr>
        <p:txBody>
          <a:bodyPr anchorCtr="0" anchor="b" bIns="46575" lIns="93175" spcFirstLastPara="1" rIns="93175" wrap="square" tIns="465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3:notes"/>
          <p:cNvSpPr/>
          <p:nvPr>
            <p:ph idx="2" type="sldImg"/>
          </p:nvPr>
        </p:nvSpPr>
        <p:spPr>
          <a:xfrm>
            <a:off x="717550" y="1162050"/>
            <a:ext cx="5575300" cy="3136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4" name="Google Shape;174;p13:notes"/>
          <p:cNvSpPr txBox="1"/>
          <p:nvPr>
            <p:ph idx="1" type="body"/>
          </p:nvPr>
        </p:nvSpPr>
        <p:spPr>
          <a:xfrm>
            <a:off x="701040" y="4473892"/>
            <a:ext cx="5608320" cy="3660458"/>
          </a:xfrm>
          <a:prstGeom prst="rect">
            <a:avLst/>
          </a:prstGeom>
          <a:noFill/>
          <a:ln>
            <a:noFill/>
          </a:ln>
        </p:spPr>
        <p:txBody>
          <a:bodyPr anchorCtr="0" anchor="t" bIns="46575" lIns="93175" spcFirstLastPara="1" rIns="93175" wrap="square" tIns="46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>
                <a:latin typeface="Cambria Math"/>
                <a:ea typeface="Cambria Math"/>
                <a:cs typeface="Cambria Math"/>
                <a:sym typeface="Cambria Math"/>
              </a:rPr>
              <a:t>𝑌^′</a:t>
            </a:r>
            <a:r>
              <a:rPr lang="en-US"/>
              <a:t> is sorted by y-coordinate, just as Y is</a:t>
            </a:r>
            <a:endParaRPr/>
          </a:p>
        </p:txBody>
      </p:sp>
      <p:sp>
        <p:nvSpPr>
          <p:cNvPr id="175" name="Google Shape;175;p13:notes"/>
          <p:cNvSpPr txBox="1"/>
          <p:nvPr>
            <p:ph idx="12" type="sldNum"/>
          </p:nvPr>
        </p:nvSpPr>
        <p:spPr>
          <a:xfrm>
            <a:off x="3970938" y="8829967"/>
            <a:ext cx="3037840" cy="466433"/>
          </a:xfrm>
          <a:prstGeom prst="rect">
            <a:avLst/>
          </a:prstGeom>
          <a:noFill/>
          <a:ln>
            <a:noFill/>
          </a:ln>
        </p:spPr>
        <p:txBody>
          <a:bodyPr anchorCtr="0" anchor="b" bIns="46575" lIns="93175" spcFirstLastPara="1" rIns="93175" wrap="square" tIns="465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4:notes"/>
          <p:cNvSpPr/>
          <p:nvPr>
            <p:ph idx="2" type="sldImg"/>
          </p:nvPr>
        </p:nvSpPr>
        <p:spPr>
          <a:xfrm>
            <a:off x="717550" y="1162050"/>
            <a:ext cx="5575300" cy="3136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2" name="Google Shape;182;p14:notes"/>
          <p:cNvSpPr txBox="1"/>
          <p:nvPr>
            <p:ph idx="1" type="body"/>
          </p:nvPr>
        </p:nvSpPr>
        <p:spPr>
          <a:xfrm>
            <a:off x="701040" y="4473892"/>
            <a:ext cx="5608320" cy="3660458"/>
          </a:xfrm>
          <a:prstGeom prst="rect">
            <a:avLst/>
          </a:prstGeom>
          <a:noFill/>
          <a:ln>
            <a:noFill/>
          </a:ln>
        </p:spPr>
        <p:txBody>
          <a:bodyPr anchorCtr="0" anchor="t" bIns="46575" lIns="93175" spcFirstLastPara="1" rIns="93175" wrap="square" tIns="46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 closestPairPoints(Points X, Points Y)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{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int n = X.size();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if (n == 2) return dist(X[0], X[1]);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if (n == 3) return min(dist(X[0], X[1]), dist(X[1], X[2]), dist(X[0], X[2]));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mid = n / 2;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{Yl, Yr} = divide(Y, X);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d = min(closestPairPoints(X[0..mid], Yl),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        closestPairPoints(X[mid+1..n], Yr));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StripeY = getStripElements(Y, X[mid].x, d);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for i = 1 to StripeY.length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   for j = 1 to 7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      if (i + j &lt;= StripeY.length)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         d = min(d. dist(StripeY[i], StripeY[i+j]))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return d;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}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14:notes"/>
          <p:cNvSpPr txBox="1"/>
          <p:nvPr>
            <p:ph idx="12" type="sldNum"/>
          </p:nvPr>
        </p:nvSpPr>
        <p:spPr>
          <a:xfrm>
            <a:off x="3970938" y="8829967"/>
            <a:ext cx="3037840" cy="466433"/>
          </a:xfrm>
          <a:prstGeom prst="rect">
            <a:avLst/>
          </a:prstGeom>
          <a:noFill/>
          <a:ln>
            <a:noFill/>
          </a:ln>
        </p:spPr>
        <p:txBody>
          <a:bodyPr anchorCtr="0" anchor="b" bIns="46575" lIns="93175" spcFirstLastPara="1" rIns="93175" wrap="square" tIns="465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5:notes"/>
          <p:cNvSpPr/>
          <p:nvPr>
            <p:ph idx="2" type="sldImg"/>
          </p:nvPr>
        </p:nvSpPr>
        <p:spPr>
          <a:xfrm>
            <a:off x="717550" y="1162050"/>
            <a:ext cx="5575300" cy="3136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9" name="Google Shape;189;p15:notes"/>
          <p:cNvSpPr txBox="1"/>
          <p:nvPr>
            <p:ph idx="1" type="body"/>
          </p:nvPr>
        </p:nvSpPr>
        <p:spPr>
          <a:xfrm>
            <a:off x="701040" y="4473892"/>
            <a:ext cx="5608320" cy="3660458"/>
          </a:xfrm>
          <a:prstGeom prst="rect">
            <a:avLst/>
          </a:prstGeom>
          <a:noFill/>
          <a:ln>
            <a:noFill/>
          </a:ln>
        </p:spPr>
        <p:txBody>
          <a:bodyPr anchorCtr="0" anchor="t" bIns="46575" lIns="93175" spcFirstLastPara="1" rIns="93175" wrap="square" tIns="46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Base Case: : A simple condition or set of conditions where the recursion stops. This prevents the function from calling itself indefinitely.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Recursive Case: The function calls itself with a modified version of the original problem, moving toward the base case.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15:notes"/>
          <p:cNvSpPr txBox="1"/>
          <p:nvPr>
            <p:ph idx="12" type="sldNum"/>
          </p:nvPr>
        </p:nvSpPr>
        <p:spPr>
          <a:xfrm>
            <a:off x="3970938" y="8829967"/>
            <a:ext cx="3037840" cy="466433"/>
          </a:xfrm>
          <a:prstGeom prst="rect">
            <a:avLst/>
          </a:prstGeom>
          <a:noFill/>
          <a:ln>
            <a:noFill/>
          </a:ln>
        </p:spPr>
        <p:txBody>
          <a:bodyPr anchorCtr="0" anchor="b" bIns="46575" lIns="93175" spcFirstLastPara="1" rIns="93175" wrap="square" tIns="465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16:notes"/>
          <p:cNvSpPr/>
          <p:nvPr>
            <p:ph idx="2" type="sldImg"/>
          </p:nvPr>
        </p:nvSpPr>
        <p:spPr>
          <a:xfrm>
            <a:off x="717550" y="1162050"/>
            <a:ext cx="5575300" cy="3136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2" name="Google Shape;202;p16:notes"/>
          <p:cNvSpPr txBox="1"/>
          <p:nvPr>
            <p:ph idx="1" type="body"/>
          </p:nvPr>
        </p:nvSpPr>
        <p:spPr>
          <a:xfrm>
            <a:off x="701040" y="4473892"/>
            <a:ext cx="5608320" cy="3660458"/>
          </a:xfrm>
          <a:prstGeom prst="rect">
            <a:avLst/>
          </a:prstGeom>
          <a:noFill/>
          <a:ln>
            <a:noFill/>
          </a:ln>
        </p:spPr>
        <p:txBody>
          <a:bodyPr anchorCtr="0" anchor="t" bIns="46575" lIns="93175" spcFirstLastPara="1" rIns="93175" wrap="square" tIns="46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/>
              <a:t>Methods for solving recurrences – obtaining  “</a:t>
            </a:r>
            <a:r>
              <a:rPr i="0" lang="en-US" sz="1200">
                <a:latin typeface="Cambria Math"/>
                <a:ea typeface="Cambria Math"/>
                <a:cs typeface="Cambria Math"/>
                <a:sym typeface="Cambria Math"/>
              </a:rPr>
              <a:t>𝛩</a:t>
            </a:r>
            <a:r>
              <a:rPr lang="en-US"/>
              <a:t>” or “</a:t>
            </a:r>
            <a:r>
              <a:rPr i="0" lang="en-US">
                <a:latin typeface="Cambria Math"/>
                <a:ea typeface="Cambria Math"/>
                <a:cs typeface="Cambria Math"/>
                <a:sym typeface="Cambria Math"/>
              </a:rPr>
              <a:t>𝑂</a:t>
            </a:r>
            <a:r>
              <a:rPr lang="en-US"/>
              <a:t>” bounds on the solution.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16:notes"/>
          <p:cNvSpPr txBox="1"/>
          <p:nvPr>
            <p:ph idx="12" type="sldNum"/>
          </p:nvPr>
        </p:nvSpPr>
        <p:spPr>
          <a:xfrm>
            <a:off x="3970938" y="8829967"/>
            <a:ext cx="3037840" cy="466433"/>
          </a:xfrm>
          <a:prstGeom prst="rect">
            <a:avLst/>
          </a:prstGeom>
          <a:noFill/>
          <a:ln>
            <a:noFill/>
          </a:ln>
        </p:spPr>
        <p:txBody>
          <a:bodyPr anchorCtr="0" anchor="b" bIns="46575" lIns="93175" spcFirstLastPara="1" rIns="93175" wrap="square" tIns="465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17:notes"/>
          <p:cNvSpPr txBox="1"/>
          <p:nvPr>
            <p:ph idx="1" type="body"/>
          </p:nvPr>
        </p:nvSpPr>
        <p:spPr>
          <a:xfrm>
            <a:off x="701040" y="4473892"/>
            <a:ext cx="5608320" cy="3660458"/>
          </a:xfrm>
          <a:prstGeom prst="rect">
            <a:avLst/>
          </a:prstGeom>
        </p:spPr>
        <p:txBody>
          <a:bodyPr anchorCtr="0" anchor="t" bIns="46575" lIns="93175" spcFirstLastPara="1" rIns="93175" wrap="square" tIns="46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17:notes"/>
          <p:cNvSpPr/>
          <p:nvPr>
            <p:ph idx="2" type="sldImg"/>
          </p:nvPr>
        </p:nvSpPr>
        <p:spPr>
          <a:xfrm>
            <a:off x="717550" y="1162050"/>
            <a:ext cx="5575300" cy="3136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18:notes"/>
          <p:cNvSpPr txBox="1"/>
          <p:nvPr>
            <p:ph idx="1" type="body"/>
          </p:nvPr>
        </p:nvSpPr>
        <p:spPr>
          <a:xfrm>
            <a:off x="701040" y="4473892"/>
            <a:ext cx="5608320" cy="3660458"/>
          </a:xfrm>
          <a:prstGeom prst="rect">
            <a:avLst/>
          </a:prstGeom>
        </p:spPr>
        <p:txBody>
          <a:bodyPr anchorCtr="0" anchor="t" bIns="46575" lIns="93175" spcFirstLastPara="1" rIns="93175" wrap="square" tIns="46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18:notes"/>
          <p:cNvSpPr/>
          <p:nvPr>
            <p:ph idx="2" type="sldImg"/>
          </p:nvPr>
        </p:nvSpPr>
        <p:spPr>
          <a:xfrm>
            <a:off x="717550" y="1162050"/>
            <a:ext cx="5575300" cy="3136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19:notes"/>
          <p:cNvSpPr txBox="1"/>
          <p:nvPr>
            <p:ph idx="1" type="body"/>
          </p:nvPr>
        </p:nvSpPr>
        <p:spPr>
          <a:xfrm>
            <a:off x="701040" y="4473892"/>
            <a:ext cx="5608320" cy="3660458"/>
          </a:xfrm>
          <a:prstGeom prst="rect">
            <a:avLst/>
          </a:prstGeom>
        </p:spPr>
        <p:txBody>
          <a:bodyPr anchorCtr="0" anchor="t" bIns="46575" lIns="93175" spcFirstLastPara="1" rIns="93175" wrap="square" tIns="46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19:notes"/>
          <p:cNvSpPr/>
          <p:nvPr>
            <p:ph idx="2" type="sldImg"/>
          </p:nvPr>
        </p:nvSpPr>
        <p:spPr>
          <a:xfrm>
            <a:off x="717550" y="1162050"/>
            <a:ext cx="5575300" cy="3136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20:notes"/>
          <p:cNvSpPr txBox="1"/>
          <p:nvPr>
            <p:ph idx="1" type="body"/>
          </p:nvPr>
        </p:nvSpPr>
        <p:spPr>
          <a:xfrm>
            <a:off x="701040" y="4473892"/>
            <a:ext cx="5608320" cy="3660458"/>
          </a:xfrm>
          <a:prstGeom prst="rect">
            <a:avLst/>
          </a:prstGeom>
        </p:spPr>
        <p:txBody>
          <a:bodyPr anchorCtr="0" anchor="t" bIns="46575" lIns="93175" spcFirstLastPara="1" rIns="93175" wrap="square" tIns="46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20:notes"/>
          <p:cNvSpPr/>
          <p:nvPr>
            <p:ph idx="2" type="sldImg"/>
          </p:nvPr>
        </p:nvSpPr>
        <p:spPr>
          <a:xfrm>
            <a:off x="717550" y="1162050"/>
            <a:ext cx="5575300" cy="3136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21:notes"/>
          <p:cNvSpPr/>
          <p:nvPr>
            <p:ph idx="2" type="sldImg"/>
          </p:nvPr>
        </p:nvSpPr>
        <p:spPr>
          <a:xfrm>
            <a:off x="717550" y="1162050"/>
            <a:ext cx="5575300" cy="3136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2" name="Google Shape;252;p21:notes"/>
          <p:cNvSpPr txBox="1"/>
          <p:nvPr>
            <p:ph idx="1" type="body"/>
          </p:nvPr>
        </p:nvSpPr>
        <p:spPr>
          <a:xfrm>
            <a:off x="701040" y="4473892"/>
            <a:ext cx="5608320" cy="3660458"/>
          </a:xfrm>
          <a:prstGeom prst="rect">
            <a:avLst/>
          </a:prstGeom>
          <a:noFill/>
          <a:ln>
            <a:noFill/>
          </a:ln>
        </p:spPr>
        <p:txBody>
          <a:bodyPr anchorCtr="0" anchor="t" bIns="46575" lIns="93175" spcFirstLastPara="1" rIns="93175" wrap="square" tIns="46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21:notes"/>
          <p:cNvSpPr txBox="1"/>
          <p:nvPr>
            <p:ph idx="12" type="sldNum"/>
          </p:nvPr>
        </p:nvSpPr>
        <p:spPr>
          <a:xfrm>
            <a:off x="3970938" y="8829967"/>
            <a:ext cx="3037840" cy="466433"/>
          </a:xfrm>
          <a:prstGeom prst="rect">
            <a:avLst/>
          </a:prstGeom>
          <a:noFill/>
          <a:ln>
            <a:noFill/>
          </a:ln>
        </p:spPr>
        <p:txBody>
          <a:bodyPr anchorCtr="0" anchor="b" bIns="46575" lIns="93175" spcFirstLastPara="1" rIns="93175" wrap="square" tIns="465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22:notes"/>
          <p:cNvSpPr txBox="1"/>
          <p:nvPr>
            <p:ph idx="1" type="body"/>
          </p:nvPr>
        </p:nvSpPr>
        <p:spPr>
          <a:xfrm>
            <a:off x="701040" y="4473892"/>
            <a:ext cx="5608320" cy="3660458"/>
          </a:xfrm>
          <a:prstGeom prst="rect">
            <a:avLst/>
          </a:prstGeom>
        </p:spPr>
        <p:txBody>
          <a:bodyPr anchorCtr="0" anchor="t" bIns="46575" lIns="93175" spcFirstLastPara="1" rIns="93175" wrap="square" tIns="46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22:notes"/>
          <p:cNvSpPr/>
          <p:nvPr>
            <p:ph idx="2" type="sldImg"/>
          </p:nvPr>
        </p:nvSpPr>
        <p:spPr>
          <a:xfrm>
            <a:off x="717550" y="1162050"/>
            <a:ext cx="5575300" cy="3136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23:notes"/>
          <p:cNvSpPr txBox="1"/>
          <p:nvPr>
            <p:ph idx="1" type="body"/>
          </p:nvPr>
        </p:nvSpPr>
        <p:spPr>
          <a:xfrm>
            <a:off x="701040" y="4473892"/>
            <a:ext cx="5608320" cy="3660458"/>
          </a:xfrm>
          <a:prstGeom prst="rect">
            <a:avLst/>
          </a:prstGeom>
        </p:spPr>
        <p:txBody>
          <a:bodyPr anchorCtr="0" anchor="t" bIns="46575" lIns="93175" spcFirstLastPara="1" rIns="93175" wrap="square" tIns="46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23:notes"/>
          <p:cNvSpPr/>
          <p:nvPr>
            <p:ph idx="2" type="sldImg"/>
          </p:nvPr>
        </p:nvSpPr>
        <p:spPr>
          <a:xfrm>
            <a:off x="717550" y="1162050"/>
            <a:ext cx="5575300" cy="3136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24:notes"/>
          <p:cNvSpPr txBox="1"/>
          <p:nvPr>
            <p:ph idx="1" type="body"/>
          </p:nvPr>
        </p:nvSpPr>
        <p:spPr>
          <a:xfrm>
            <a:off x="701040" y="4473892"/>
            <a:ext cx="5608320" cy="3660458"/>
          </a:xfrm>
          <a:prstGeom prst="rect">
            <a:avLst/>
          </a:prstGeom>
        </p:spPr>
        <p:txBody>
          <a:bodyPr anchorCtr="0" anchor="t" bIns="46575" lIns="93175" spcFirstLastPara="1" rIns="93175" wrap="square" tIns="46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24:notes"/>
          <p:cNvSpPr/>
          <p:nvPr>
            <p:ph idx="2" type="sldImg"/>
          </p:nvPr>
        </p:nvSpPr>
        <p:spPr>
          <a:xfrm>
            <a:off x="717550" y="1162050"/>
            <a:ext cx="5575300" cy="3136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25:notes"/>
          <p:cNvSpPr/>
          <p:nvPr>
            <p:ph idx="2" type="sldImg"/>
          </p:nvPr>
        </p:nvSpPr>
        <p:spPr>
          <a:xfrm>
            <a:off x="717550" y="1162050"/>
            <a:ext cx="5575300" cy="3136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9" name="Google Shape;279;p25:notes"/>
          <p:cNvSpPr txBox="1"/>
          <p:nvPr>
            <p:ph idx="1" type="body"/>
          </p:nvPr>
        </p:nvSpPr>
        <p:spPr>
          <a:xfrm>
            <a:off x="701040" y="4473892"/>
            <a:ext cx="5608320" cy="3660458"/>
          </a:xfrm>
          <a:prstGeom prst="rect">
            <a:avLst/>
          </a:prstGeom>
          <a:noFill/>
          <a:ln>
            <a:noFill/>
          </a:ln>
        </p:spPr>
        <p:txBody>
          <a:bodyPr anchorCtr="0" anchor="t" bIns="46575" lIns="93175" spcFirstLastPara="1" rIns="93175" wrap="square" tIns="46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strike="noStrike">
                <a:latin typeface="Times"/>
                <a:ea typeface="Times"/>
                <a:cs typeface="Times"/>
                <a:sym typeface="Times"/>
              </a:rPr>
              <a:t>In each of the three cases, we compare the function </a:t>
            </a:r>
            <a:r>
              <a:rPr b="0" i="0" lang="en-US" sz="1800" u="none" strike="noStrike">
                <a:latin typeface="Arial"/>
                <a:ea typeface="Arial"/>
                <a:cs typeface="Arial"/>
                <a:sym typeface="Arial"/>
              </a:rPr>
              <a:t>f(n) </a:t>
            </a:r>
            <a:r>
              <a:rPr b="0" i="0" lang="en-US" sz="1800" u="none" strike="noStrike">
                <a:latin typeface="Times"/>
                <a:ea typeface="Times"/>
                <a:cs typeface="Times"/>
                <a:sym typeface="Times"/>
              </a:rPr>
              <a:t>with the function </a:t>
            </a:r>
            <a:r>
              <a:rPr b="0" i="0" lang="en-US" sz="1800" u="none" strike="noStrike">
                <a:latin typeface="Cambria Math"/>
                <a:ea typeface="Cambria Math"/>
                <a:cs typeface="Cambria Math"/>
                <a:sym typeface="Cambria Math"/>
              </a:rPr>
              <a:t>𝑛^(log_𝑏 𝑎)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strike="noStrike">
                <a:latin typeface="Times"/>
                <a:ea typeface="Times"/>
                <a:cs typeface="Times"/>
                <a:sym typeface="Times"/>
              </a:rPr>
              <a:t>the larger of the two functions determines the solution to the recurrence</a:t>
            </a:r>
            <a:endParaRPr/>
          </a:p>
        </p:txBody>
      </p:sp>
      <p:sp>
        <p:nvSpPr>
          <p:cNvPr id="280" name="Google Shape;280;p25:notes"/>
          <p:cNvSpPr txBox="1"/>
          <p:nvPr>
            <p:ph idx="12" type="sldNum"/>
          </p:nvPr>
        </p:nvSpPr>
        <p:spPr>
          <a:xfrm>
            <a:off x="3970938" y="8829967"/>
            <a:ext cx="3037840" cy="466433"/>
          </a:xfrm>
          <a:prstGeom prst="rect">
            <a:avLst/>
          </a:prstGeom>
          <a:noFill/>
          <a:ln>
            <a:noFill/>
          </a:ln>
        </p:spPr>
        <p:txBody>
          <a:bodyPr anchorCtr="0" anchor="b" bIns="46575" lIns="93175" spcFirstLastPara="1" rIns="93175" wrap="square" tIns="465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26:notes"/>
          <p:cNvSpPr/>
          <p:nvPr>
            <p:ph idx="2" type="sldImg"/>
          </p:nvPr>
        </p:nvSpPr>
        <p:spPr>
          <a:xfrm>
            <a:off x="717550" y="1162050"/>
            <a:ext cx="5575300" cy="3136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6" name="Google Shape;286;p26:notes"/>
          <p:cNvSpPr txBox="1"/>
          <p:nvPr>
            <p:ph idx="1" type="body"/>
          </p:nvPr>
        </p:nvSpPr>
        <p:spPr>
          <a:xfrm>
            <a:off x="701040" y="4473892"/>
            <a:ext cx="5608320" cy="3660458"/>
          </a:xfrm>
          <a:prstGeom prst="rect">
            <a:avLst/>
          </a:prstGeom>
          <a:noFill/>
          <a:ln>
            <a:noFill/>
          </a:ln>
        </p:spPr>
        <p:txBody>
          <a:bodyPr anchorCtr="0" anchor="t" bIns="46575" lIns="93175" spcFirstLastPara="1" rIns="93175" wrap="square" tIns="46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p26:notes"/>
          <p:cNvSpPr txBox="1"/>
          <p:nvPr>
            <p:ph idx="12" type="sldNum"/>
          </p:nvPr>
        </p:nvSpPr>
        <p:spPr>
          <a:xfrm>
            <a:off x="3970938" y="8829967"/>
            <a:ext cx="3037840" cy="466433"/>
          </a:xfrm>
          <a:prstGeom prst="rect">
            <a:avLst/>
          </a:prstGeom>
          <a:noFill/>
          <a:ln>
            <a:noFill/>
          </a:ln>
        </p:spPr>
        <p:txBody>
          <a:bodyPr anchorCtr="0" anchor="b" bIns="46575" lIns="93175" spcFirstLastPara="1" rIns="93175" wrap="square" tIns="465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27:notes"/>
          <p:cNvSpPr txBox="1"/>
          <p:nvPr>
            <p:ph idx="1" type="body"/>
          </p:nvPr>
        </p:nvSpPr>
        <p:spPr>
          <a:xfrm>
            <a:off x="701040" y="4473892"/>
            <a:ext cx="5608320" cy="3660458"/>
          </a:xfrm>
          <a:prstGeom prst="rect">
            <a:avLst/>
          </a:prstGeom>
        </p:spPr>
        <p:txBody>
          <a:bodyPr anchorCtr="0" anchor="t" bIns="46575" lIns="93175" spcFirstLastPara="1" rIns="93175" wrap="square" tIns="46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p27:notes"/>
          <p:cNvSpPr/>
          <p:nvPr>
            <p:ph idx="2" type="sldImg"/>
          </p:nvPr>
        </p:nvSpPr>
        <p:spPr>
          <a:xfrm>
            <a:off x="717550" y="1162050"/>
            <a:ext cx="5575300" cy="3136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28:notes"/>
          <p:cNvSpPr txBox="1"/>
          <p:nvPr>
            <p:ph idx="1" type="body"/>
          </p:nvPr>
        </p:nvSpPr>
        <p:spPr>
          <a:xfrm>
            <a:off x="701040" y="4473892"/>
            <a:ext cx="5608320" cy="3660458"/>
          </a:xfrm>
          <a:prstGeom prst="rect">
            <a:avLst/>
          </a:prstGeom>
        </p:spPr>
        <p:txBody>
          <a:bodyPr anchorCtr="0" anchor="t" bIns="46575" lIns="93175" spcFirstLastPara="1" rIns="93175" wrap="square" tIns="46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p28:notes"/>
          <p:cNvSpPr/>
          <p:nvPr>
            <p:ph idx="2" type="sldImg"/>
          </p:nvPr>
        </p:nvSpPr>
        <p:spPr>
          <a:xfrm>
            <a:off x="717550" y="1162050"/>
            <a:ext cx="5575300" cy="3136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29:notes"/>
          <p:cNvSpPr txBox="1"/>
          <p:nvPr>
            <p:ph idx="1" type="body"/>
          </p:nvPr>
        </p:nvSpPr>
        <p:spPr>
          <a:xfrm>
            <a:off x="701040" y="4473892"/>
            <a:ext cx="5608320" cy="3660458"/>
          </a:xfrm>
          <a:prstGeom prst="rect">
            <a:avLst/>
          </a:prstGeom>
        </p:spPr>
        <p:txBody>
          <a:bodyPr anchorCtr="0" anchor="t" bIns="46575" lIns="93175" spcFirstLastPara="1" rIns="93175" wrap="square" tIns="46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" name="Google Shape;309;p29:notes"/>
          <p:cNvSpPr/>
          <p:nvPr>
            <p:ph idx="2" type="sldImg"/>
          </p:nvPr>
        </p:nvSpPr>
        <p:spPr>
          <a:xfrm>
            <a:off x="717550" y="1162050"/>
            <a:ext cx="5575300" cy="3136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30:notes"/>
          <p:cNvSpPr txBox="1"/>
          <p:nvPr>
            <p:ph idx="1" type="body"/>
          </p:nvPr>
        </p:nvSpPr>
        <p:spPr>
          <a:xfrm>
            <a:off x="701040" y="4473892"/>
            <a:ext cx="5608320" cy="3660458"/>
          </a:xfrm>
          <a:prstGeom prst="rect">
            <a:avLst/>
          </a:prstGeom>
        </p:spPr>
        <p:txBody>
          <a:bodyPr anchorCtr="0" anchor="t" bIns="46575" lIns="93175" spcFirstLastPara="1" rIns="93175" wrap="square" tIns="46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" name="Google Shape;315;p30:notes"/>
          <p:cNvSpPr/>
          <p:nvPr>
            <p:ph idx="2" type="sldImg"/>
          </p:nvPr>
        </p:nvSpPr>
        <p:spPr>
          <a:xfrm>
            <a:off x="717550" y="1162050"/>
            <a:ext cx="5575300" cy="3136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31:notes"/>
          <p:cNvSpPr txBox="1"/>
          <p:nvPr>
            <p:ph idx="1" type="body"/>
          </p:nvPr>
        </p:nvSpPr>
        <p:spPr>
          <a:xfrm>
            <a:off x="701040" y="4473892"/>
            <a:ext cx="5608320" cy="3660458"/>
          </a:xfrm>
          <a:prstGeom prst="rect">
            <a:avLst/>
          </a:prstGeom>
        </p:spPr>
        <p:txBody>
          <a:bodyPr anchorCtr="0" anchor="t" bIns="46575" lIns="93175" spcFirstLastPara="1" rIns="93175" wrap="square" tIns="46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" name="Google Shape;321;p31:notes"/>
          <p:cNvSpPr/>
          <p:nvPr>
            <p:ph idx="2" type="sldImg"/>
          </p:nvPr>
        </p:nvSpPr>
        <p:spPr>
          <a:xfrm>
            <a:off x="717550" y="1162050"/>
            <a:ext cx="5575300" cy="3136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32:notes"/>
          <p:cNvSpPr txBox="1"/>
          <p:nvPr>
            <p:ph idx="1" type="body"/>
          </p:nvPr>
        </p:nvSpPr>
        <p:spPr>
          <a:xfrm>
            <a:off x="701040" y="4473892"/>
            <a:ext cx="5608320" cy="3660458"/>
          </a:xfrm>
          <a:prstGeom prst="rect">
            <a:avLst/>
          </a:prstGeom>
        </p:spPr>
        <p:txBody>
          <a:bodyPr anchorCtr="0" anchor="t" bIns="46575" lIns="93175" spcFirstLastPara="1" rIns="93175" wrap="square" tIns="46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7" name="Google Shape;327;p32:notes"/>
          <p:cNvSpPr/>
          <p:nvPr>
            <p:ph idx="2" type="sldImg"/>
          </p:nvPr>
        </p:nvSpPr>
        <p:spPr>
          <a:xfrm>
            <a:off x="717550" y="1162050"/>
            <a:ext cx="5575300" cy="3136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33:notes"/>
          <p:cNvSpPr txBox="1"/>
          <p:nvPr>
            <p:ph idx="1" type="body"/>
          </p:nvPr>
        </p:nvSpPr>
        <p:spPr>
          <a:xfrm>
            <a:off x="701040" y="4473892"/>
            <a:ext cx="5608320" cy="3660458"/>
          </a:xfrm>
          <a:prstGeom prst="rect">
            <a:avLst/>
          </a:prstGeom>
        </p:spPr>
        <p:txBody>
          <a:bodyPr anchorCtr="0" anchor="t" bIns="46575" lIns="93175" spcFirstLastPara="1" rIns="93175" wrap="square" tIns="46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p33:notes"/>
          <p:cNvSpPr/>
          <p:nvPr>
            <p:ph idx="2" type="sldImg"/>
          </p:nvPr>
        </p:nvSpPr>
        <p:spPr>
          <a:xfrm>
            <a:off x="717550" y="1162050"/>
            <a:ext cx="5575300" cy="3136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34:notes"/>
          <p:cNvSpPr/>
          <p:nvPr>
            <p:ph idx="2" type="sldImg"/>
          </p:nvPr>
        </p:nvSpPr>
        <p:spPr>
          <a:xfrm>
            <a:off x="717550" y="1162050"/>
            <a:ext cx="5575300" cy="3136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9" name="Google Shape;339;p34:notes"/>
          <p:cNvSpPr txBox="1"/>
          <p:nvPr>
            <p:ph idx="1" type="body"/>
          </p:nvPr>
        </p:nvSpPr>
        <p:spPr>
          <a:xfrm>
            <a:off x="701040" y="4473892"/>
            <a:ext cx="5608320" cy="3660458"/>
          </a:xfrm>
          <a:prstGeom prst="rect">
            <a:avLst/>
          </a:prstGeom>
          <a:noFill/>
          <a:ln>
            <a:noFill/>
          </a:ln>
        </p:spPr>
        <p:txBody>
          <a:bodyPr anchorCtr="0" anchor="t" bIns="46575" lIns="93175" spcFirstLastPara="1" rIns="93175" wrap="square" tIns="46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strike="noStrike">
                <a:latin typeface="Times"/>
                <a:ea typeface="Times"/>
                <a:cs typeface="Times"/>
                <a:sym typeface="Times"/>
              </a:rPr>
              <a:t>In each of the three cases, we compare the function </a:t>
            </a:r>
            <a:r>
              <a:rPr b="0" i="0" lang="en-US" sz="1800" u="none" strike="noStrike">
                <a:latin typeface="Arial"/>
                <a:ea typeface="Arial"/>
                <a:cs typeface="Arial"/>
                <a:sym typeface="Arial"/>
              </a:rPr>
              <a:t>f(n) </a:t>
            </a:r>
            <a:r>
              <a:rPr b="0" i="0" lang="en-US" sz="1800" u="none" strike="noStrike">
                <a:latin typeface="Times"/>
                <a:ea typeface="Times"/>
                <a:cs typeface="Times"/>
                <a:sym typeface="Times"/>
              </a:rPr>
              <a:t>with the function </a:t>
            </a:r>
            <a:r>
              <a:rPr b="0" i="0" lang="en-US" sz="1800" u="none" strike="noStrike">
                <a:latin typeface="Cambria Math"/>
                <a:ea typeface="Cambria Math"/>
                <a:cs typeface="Cambria Math"/>
                <a:sym typeface="Cambria Math"/>
              </a:rPr>
              <a:t>𝑛^(log_𝑏 𝑎)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strike="noStrike">
                <a:latin typeface="Times"/>
                <a:ea typeface="Times"/>
                <a:cs typeface="Times"/>
                <a:sym typeface="Times"/>
              </a:rPr>
              <a:t>the larger of the two functions determines the solution to the recurrence</a:t>
            </a:r>
            <a:endParaRPr/>
          </a:p>
        </p:txBody>
      </p:sp>
      <p:sp>
        <p:nvSpPr>
          <p:cNvPr id="340" name="Google Shape;340;p34:notes"/>
          <p:cNvSpPr txBox="1"/>
          <p:nvPr>
            <p:ph idx="12" type="sldNum"/>
          </p:nvPr>
        </p:nvSpPr>
        <p:spPr>
          <a:xfrm>
            <a:off x="3970938" y="8829967"/>
            <a:ext cx="3037840" cy="466433"/>
          </a:xfrm>
          <a:prstGeom prst="rect">
            <a:avLst/>
          </a:prstGeom>
          <a:noFill/>
          <a:ln>
            <a:noFill/>
          </a:ln>
        </p:spPr>
        <p:txBody>
          <a:bodyPr anchorCtr="0" anchor="b" bIns="46575" lIns="93175" spcFirstLastPara="1" rIns="93175" wrap="square" tIns="465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35:notes"/>
          <p:cNvSpPr/>
          <p:nvPr>
            <p:ph idx="2" type="sldImg"/>
          </p:nvPr>
        </p:nvSpPr>
        <p:spPr>
          <a:xfrm>
            <a:off x="717550" y="1162050"/>
            <a:ext cx="5575300" cy="3136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6" name="Google Shape;346;p35:notes"/>
          <p:cNvSpPr txBox="1"/>
          <p:nvPr>
            <p:ph idx="1" type="body"/>
          </p:nvPr>
        </p:nvSpPr>
        <p:spPr>
          <a:xfrm>
            <a:off x="701040" y="4473892"/>
            <a:ext cx="5608320" cy="3660458"/>
          </a:xfrm>
          <a:prstGeom prst="rect">
            <a:avLst/>
          </a:prstGeom>
          <a:noFill/>
          <a:ln>
            <a:noFill/>
          </a:ln>
        </p:spPr>
        <p:txBody>
          <a:bodyPr anchorCtr="0" anchor="t" bIns="46575" lIns="93175" spcFirstLastPara="1" rIns="93175" wrap="square" tIns="46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7" name="Google Shape;347;p35:notes"/>
          <p:cNvSpPr txBox="1"/>
          <p:nvPr>
            <p:ph idx="12" type="sldNum"/>
          </p:nvPr>
        </p:nvSpPr>
        <p:spPr>
          <a:xfrm>
            <a:off x="3970938" y="8829967"/>
            <a:ext cx="3037840" cy="466433"/>
          </a:xfrm>
          <a:prstGeom prst="rect">
            <a:avLst/>
          </a:prstGeom>
          <a:noFill/>
          <a:ln>
            <a:noFill/>
          </a:ln>
        </p:spPr>
        <p:txBody>
          <a:bodyPr anchorCtr="0" anchor="b" bIns="46575" lIns="93175" spcFirstLastPara="1" rIns="93175" wrap="square" tIns="465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36:notes"/>
          <p:cNvSpPr/>
          <p:nvPr>
            <p:ph idx="2" type="sldImg"/>
          </p:nvPr>
        </p:nvSpPr>
        <p:spPr>
          <a:xfrm>
            <a:off x="717550" y="1162050"/>
            <a:ext cx="5575300" cy="3136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3" name="Google Shape;353;p36:notes"/>
          <p:cNvSpPr txBox="1"/>
          <p:nvPr>
            <p:ph idx="1" type="body"/>
          </p:nvPr>
        </p:nvSpPr>
        <p:spPr>
          <a:xfrm>
            <a:off x="701040" y="4473892"/>
            <a:ext cx="5608320" cy="3660458"/>
          </a:xfrm>
          <a:prstGeom prst="rect">
            <a:avLst/>
          </a:prstGeom>
          <a:noFill/>
          <a:ln>
            <a:noFill/>
          </a:ln>
        </p:spPr>
        <p:txBody>
          <a:bodyPr anchorCtr="0" anchor="t" bIns="46575" lIns="93175" spcFirstLastPara="1" rIns="93175" wrap="square" tIns="46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4" name="Google Shape;354;p36:notes"/>
          <p:cNvSpPr txBox="1"/>
          <p:nvPr>
            <p:ph idx="12" type="sldNum"/>
          </p:nvPr>
        </p:nvSpPr>
        <p:spPr>
          <a:xfrm>
            <a:off x="3970938" y="8829967"/>
            <a:ext cx="3037840" cy="466433"/>
          </a:xfrm>
          <a:prstGeom prst="rect">
            <a:avLst/>
          </a:prstGeom>
          <a:noFill/>
          <a:ln>
            <a:noFill/>
          </a:ln>
        </p:spPr>
        <p:txBody>
          <a:bodyPr anchorCtr="0" anchor="b" bIns="46575" lIns="93175" spcFirstLastPara="1" rIns="93175" wrap="square" tIns="465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37:notes"/>
          <p:cNvSpPr txBox="1"/>
          <p:nvPr>
            <p:ph idx="1" type="body"/>
          </p:nvPr>
        </p:nvSpPr>
        <p:spPr>
          <a:xfrm>
            <a:off x="701040" y="4473892"/>
            <a:ext cx="5608320" cy="3660458"/>
          </a:xfrm>
          <a:prstGeom prst="rect">
            <a:avLst/>
          </a:prstGeom>
        </p:spPr>
        <p:txBody>
          <a:bodyPr anchorCtr="0" anchor="t" bIns="46575" lIns="93175" spcFirstLastPara="1" rIns="93175" wrap="square" tIns="46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0" name="Google Shape;360;p37:notes"/>
          <p:cNvSpPr/>
          <p:nvPr>
            <p:ph idx="2" type="sldImg"/>
          </p:nvPr>
        </p:nvSpPr>
        <p:spPr>
          <a:xfrm>
            <a:off x="717550" y="1162050"/>
            <a:ext cx="5575300" cy="3136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38:notes"/>
          <p:cNvSpPr txBox="1"/>
          <p:nvPr>
            <p:ph idx="1" type="body"/>
          </p:nvPr>
        </p:nvSpPr>
        <p:spPr>
          <a:xfrm>
            <a:off x="701040" y="4473892"/>
            <a:ext cx="5608320" cy="3660458"/>
          </a:xfrm>
          <a:prstGeom prst="rect">
            <a:avLst/>
          </a:prstGeom>
        </p:spPr>
        <p:txBody>
          <a:bodyPr anchorCtr="0" anchor="t" bIns="46575" lIns="93175" spcFirstLastPara="1" rIns="93175" wrap="square" tIns="46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6" name="Google Shape;366;p38:notes"/>
          <p:cNvSpPr/>
          <p:nvPr>
            <p:ph idx="2" type="sldImg"/>
          </p:nvPr>
        </p:nvSpPr>
        <p:spPr>
          <a:xfrm>
            <a:off x="717550" y="1162050"/>
            <a:ext cx="5575300" cy="3136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0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40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8" name="Google Shape;18;p4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4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4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42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0" name="Google Shape;30;p42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1" name="Google Shape;31;p4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4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4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4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4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4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4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44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44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/>
        </p:txBody>
      </p:sp>
      <p:sp>
        <p:nvSpPr>
          <p:cNvPr id="42" name="Google Shape;42;p4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4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4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45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45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8" name="Google Shape;48;p45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9" name="Google Shape;49;p45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0" name="Google Shape;50;p45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1" name="Google Shape;51;p4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4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4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4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4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4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47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47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47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2" name="Google Shape;62;p4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4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4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48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48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48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9" name="Google Shape;69;p4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4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4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4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49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4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4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4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50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50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5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5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5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39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3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757575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3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757575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3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3.png"/><Relationship Id="rId4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0.png"/><Relationship Id="rId4" Type="http://schemas.openxmlformats.org/officeDocument/2006/relationships/image" Target="../media/image1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7.png"/><Relationship Id="rId4" Type="http://schemas.openxmlformats.org/officeDocument/2006/relationships/image" Target="../media/image2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8.png"/><Relationship Id="rId4" Type="http://schemas.openxmlformats.org/officeDocument/2006/relationships/image" Target="../media/image18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9.png"/><Relationship Id="rId4" Type="http://schemas.openxmlformats.org/officeDocument/2006/relationships/image" Target="../media/image17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4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1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0.png"/><Relationship Id="rId4" Type="http://schemas.openxmlformats.org/officeDocument/2006/relationships/image" Target="../media/image37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9.png"/><Relationship Id="rId4" Type="http://schemas.openxmlformats.org/officeDocument/2006/relationships/image" Target="../media/image26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2.png"/><Relationship Id="rId4" Type="http://schemas.openxmlformats.org/officeDocument/2006/relationships/image" Target="../media/image29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6.png"/><Relationship Id="rId4" Type="http://schemas.openxmlformats.org/officeDocument/2006/relationships/image" Target="../media/image39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34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44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3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28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35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30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40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36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24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27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38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41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33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42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"/>
          <p:cNvSpPr/>
          <p:nvPr/>
        </p:nvSpPr>
        <p:spPr>
          <a:xfrm rot="10800000">
            <a:off x="-2" y="-22693"/>
            <a:ext cx="12191999" cy="4374129"/>
          </a:xfrm>
          <a:prstGeom prst="rect">
            <a:avLst/>
          </a:prstGeom>
          <a:gradFill>
            <a:gsLst>
              <a:gs pos="0">
                <a:srgbClr val="0F4861"/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1"/>
          <p:cNvSpPr/>
          <p:nvPr/>
        </p:nvSpPr>
        <p:spPr>
          <a:xfrm rot="5400000">
            <a:off x="3908719" y="-3931841"/>
            <a:ext cx="4374557" cy="12192000"/>
          </a:xfrm>
          <a:prstGeom prst="rect">
            <a:avLst/>
          </a:prstGeom>
          <a:gradFill>
            <a:gsLst>
              <a:gs pos="0">
                <a:srgbClr val="156082">
                  <a:alpha val="0"/>
                </a:srgbClr>
              </a:gs>
              <a:gs pos="40000">
                <a:srgbClr val="156082">
                  <a:alpha val="0"/>
                </a:srgbClr>
              </a:gs>
              <a:gs pos="100000">
                <a:srgbClr val="0F4861">
                  <a:alpha val="51764"/>
                </a:srgbClr>
              </a:gs>
            </a:gsLst>
            <a:lin ang="2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1"/>
          <p:cNvSpPr/>
          <p:nvPr/>
        </p:nvSpPr>
        <p:spPr>
          <a:xfrm rot="5400000">
            <a:off x="4136696" y="-3703868"/>
            <a:ext cx="4374128" cy="11736479"/>
          </a:xfrm>
          <a:prstGeom prst="rect">
            <a:avLst/>
          </a:prstGeom>
          <a:gradFill>
            <a:gsLst>
              <a:gs pos="0">
                <a:srgbClr val="156082">
                  <a:alpha val="0"/>
                </a:srgbClr>
              </a:gs>
              <a:gs pos="17000">
                <a:srgbClr val="156082">
                  <a:alpha val="0"/>
                </a:srgbClr>
              </a:gs>
              <a:gs pos="100000">
                <a:srgbClr val="000000">
                  <a:alpha val="36862"/>
                </a:srgbClr>
              </a:gs>
            </a:gsLst>
            <a:lin ang="78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1"/>
          <p:cNvSpPr/>
          <p:nvPr/>
        </p:nvSpPr>
        <p:spPr>
          <a:xfrm>
            <a:off x="-5" y="-22690"/>
            <a:ext cx="8542485" cy="4374126"/>
          </a:xfrm>
          <a:prstGeom prst="rect">
            <a:avLst/>
          </a:prstGeom>
          <a:gradFill>
            <a:gsLst>
              <a:gs pos="0">
                <a:srgbClr val="0A3041">
                  <a:alpha val="0"/>
                </a:srgbClr>
              </a:gs>
              <a:gs pos="100000">
                <a:srgbClr val="000000">
                  <a:alpha val="24705"/>
                </a:srgbClr>
              </a:gs>
            </a:gsLst>
            <a:lin ang="186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"/>
          <p:cNvSpPr/>
          <p:nvPr/>
        </p:nvSpPr>
        <p:spPr>
          <a:xfrm rot="-9091028">
            <a:off x="5945431" y="-1032053"/>
            <a:ext cx="4990147" cy="4439131"/>
          </a:xfrm>
          <a:custGeom>
            <a:rect b="b" l="l" r="r" t="t"/>
            <a:pathLst>
              <a:path extrusionOk="0" h="4439131" w="4990147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rgbClr val="156082">
                  <a:alpha val="21960"/>
                </a:srgbClr>
              </a:gs>
              <a:gs pos="87000">
                <a:srgbClr val="43AFE2">
                  <a:alpha val="1960"/>
                </a:srgbClr>
              </a:gs>
              <a:gs pos="100000">
                <a:srgbClr val="43AFE2">
                  <a:alpha val="1960"/>
                </a:srgbClr>
              </a:gs>
            </a:gsLst>
            <a:lin ang="8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"/>
          <p:cNvSpPr txBox="1"/>
          <p:nvPr>
            <p:ph type="ctrTitle"/>
          </p:nvPr>
        </p:nvSpPr>
        <p:spPr>
          <a:xfrm>
            <a:off x="1314824" y="735106"/>
            <a:ext cx="10053763" cy="292847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Calibri"/>
              <a:buNone/>
            </a:pPr>
            <a:r>
              <a:rPr lang="en-US" sz="4800">
                <a:solidFill>
                  <a:srgbClr val="FFFFFF"/>
                </a:solidFill>
              </a:rPr>
              <a:t>Introduction to Algorithms</a:t>
            </a:r>
            <a:endParaRPr/>
          </a:p>
        </p:txBody>
      </p:sp>
      <p:sp>
        <p:nvSpPr>
          <p:cNvPr id="95" name="Google Shape;95;p1"/>
          <p:cNvSpPr txBox="1"/>
          <p:nvPr>
            <p:ph idx="1" type="subTitle"/>
          </p:nvPr>
        </p:nvSpPr>
        <p:spPr>
          <a:xfrm>
            <a:off x="1350682" y="4870824"/>
            <a:ext cx="10005951" cy="145825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/>
              <a:t>Levon Prazyan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Course Overview</a:t>
            </a:r>
            <a:endParaRPr/>
          </a:p>
        </p:txBody>
      </p:sp>
      <p:sp>
        <p:nvSpPr>
          <p:cNvPr id="101" name="Google Shape;101;p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b="1" lang="en-US" sz="1800">
                <a:latin typeface="Arial"/>
                <a:ea typeface="Arial"/>
                <a:cs typeface="Arial"/>
                <a:sym typeface="Arial"/>
              </a:rPr>
              <a:t>Introduction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b="1" lang="en-US" sz="1400">
                <a:latin typeface="Arial"/>
                <a:ea typeface="Arial"/>
                <a:cs typeface="Arial"/>
                <a:sym typeface="Arial"/>
              </a:rPr>
              <a:t>1 lecture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b="1" lang="en-US" sz="1800">
                <a:latin typeface="Arial"/>
                <a:ea typeface="Arial"/>
                <a:cs typeface="Arial"/>
                <a:sym typeface="Arial"/>
              </a:rPr>
              <a:t>Analyzing Algorithms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b="1" lang="en-US" sz="1400">
                <a:latin typeface="Arial"/>
                <a:ea typeface="Arial"/>
                <a:cs typeface="Arial"/>
                <a:sym typeface="Arial"/>
              </a:rPr>
              <a:t>2 lectures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892DC"/>
              </a:buClr>
              <a:buSzPct val="100000"/>
              <a:buChar char="•"/>
            </a:pPr>
            <a:r>
              <a:rPr b="1" lang="en-US" sz="1800">
                <a:solidFill>
                  <a:srgbClr val="4892DC"/>
                </a:solidFill>
                <a:latin typeface="Arial"/>
                <a:ea typeface="Arial"/>
                <a:cs typeface="Arial"/>
                <a:sym typeface="Arial"/>
              </a:rPr>
              <a:t>Recurrences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892DC"/>
              </a:buClr>
              <a:buSzPct val="100000"/>
              <a:buChar char="•"/>
            </a:pPr>
            <a:r>
              <a:rPr b="1" lang="en-US" sz="1400">
                <a:solidFill>
                  <a:srgbClr val="4892DC"/>
                </a:solidFill>
                <a:latin typeface="Arial"/>
                <a:ea typeface="Arial"/>
                <a:cs typeface="Arial"/>
                <a:sym typeface="Arial"/>
              </a:rPr>
              <a:t>2 lectures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b="1" lang="en-US" sz="1800">
                <a:latin typeface="Arial"/>
                <a:ea typeface="Arial"/>
                <a:cs typeface="Arial"/>
                <a:sym typeface="Arial"/>
              </a:rPr>
              <a:t>Probabilistic Analysis and Randomized Algorithms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b="1" lang="en-US" sz="1400">
                <a:latin typeface="Arial"/>
                <a:ea typeface="Arial"/>
                <a:cs typeface="Arial"/>
                <a:sym typeface="Arial"/>
              </a:rPr>
              <a:t>2 lecture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b="1" lang="en-US" sz="1800">
                <a:latin typeface="Arial"/>
                <a:ea typeface="Arial"/>
                <a:cs typeface="Arial"/>
                <a:sym typeface="Arial"/>
              </a:rPr>
              <a:t>Sorting and Searching</a:t>
            </a:r>
            <a:endParaRPr b="1" sz="1800">
              <a:latin typeface="Arial"/>
              <a:ea typeface="Arial"/>
              <a:cs typeface="Arial"/>
              <a:sym typeface="Arial"/>
            </a:endParaRPr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b="1" lang="en-US" sz="1400">
                <a:latin typeface="Arial"/>
                <a:ea typeface="Arial"/>
                <a:cs typeface="Arial"/>
                <a:sym typeface="Arial"/>
              </a:rPr>
              <a:t>4 lectures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b="1" lang="en-US" sz="1800">
                <a:latin typeface="Arial"/>
                <a:ea typeface="Arial"/>
                <a:cs typeface="Arial"/>
                <a:sym typeface="Arial"/>
              </a:rPr>
              <a:t>Heaps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b="1" lang="en-US" sz="1400">
                <a:latin typeface="Arial"/>
                <a:ea typeface="Arial"/>
                <a:cs typeface="Arial"/>
                <a:sym typeface="Arial"/>
              </a:rPr>
              <a:t>1 lecture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b="1" lang="en-US" sz="1800">
                <a:latin typeface="Arial"/>
                <a:ea typeface="Arial"/>
                <a:cs typeface="Arial"/>
                <a:sym typeface="Arial"/>
              </a:rPr>
              <a:t>Arrays, Lists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b="1" lang="en-US" sz="1400">
                <a:latin typeface="Arial"/>
                <a:ea typeface="Arial"/>
                <a:cs typeface="Arial"/>
                <a:sym typeface="Arial"/>
              </a:rPr>
              <a:t>1 lectures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b="1" lang="en-US" sz="1800">
                <a:latin typeface="Arial"/>
                <a:ea typeface="Arial"/>
                <a:cs typeface="Arial"/>
                <a:sym typeface="Arial"/>
              </a:rPr>
              <a:t>Stack, Queue, Double Ended Queue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b="1" lang="en-US" sz="1400">
                <a:latin typeface="Arial"/>
                <a:ea typeface="Arial"/>
                <a:cs typeface="Arial"/>
                <a:sym typeface="Arial"/>
              </a:rPr>
              <a:t>2 lectures</a:t>
            </a:r>
            <a:endParaRPr/>
          </a:p>
          <a:p>
            <a:pPr indent="-122872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b="1" sz="1800">
              <a:latin typeface="Arial"/>
              <a:ea typeface="Arial"/>
              <a:cs typeface="Arial"/>
              <a:sym typeface="Arial"/>
            </a:endParaRPr>
          </a:p>
          <a:p>
            <a:pPr indent="-64135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b="1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Devide and Counquer</a:t>
            </a:r>
            <a:endParaRPr/>
          </a:p>
        </p:txBody>
      </p:sp>
      <p:sp>
        <p:nvSpPr>
          <p:cNvPr id="107" name="Google Shape;107;p3"/>
          <p:cNvSpPr txBox="1"/>
          <p:nvPr>
            <p:ph idx="1" type="body"/>
          </p:nvPr>
        </p:nvSpPr>
        <p:spPr>
          <a:xfrm>
            <a:off x="838200" y="1652649"/>
            <a:ext cx="2597563" cy="45243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Divide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Conquer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Combine</a:t>
            </a:r>
            <a:endParaRPr/>
          </a:p>
        </p:txBody>
      </p:sp>
      <p:pic>
        <p:nvPicPr>
          <p:cNvPr descr="Quick Guide to Divide and Conquer Algo| Board Infinity" id="108" name="Google Shape;108;p3"/>
          <p:cNvPicPr preferRelativeResize="0"/>
          <p:nvPr>
            <p:ph idx="2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20114" y="1652649"/>
            <a:ext cx="6814264" cy="38330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The maximum-subarray problem</a:t>
            </a:r>
            <a:endParaRPr/>
          </a:p>
        </p:txBody>
      </p:sp>
      <p:sp>
        <p:nvSpPr>
          <p:cNvPr id="114" name="Google Shape;114;p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-1216" r="0" t="-224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/>
              <a:t> 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The maximum-subarray problem:</a:t>
            </a:r>
            <a:br>
              <a:rPr lang="en-US"/>
            </a:br>
            <a:r>
              <a:rPr lang="en-US"/>
              <a:t>Divide and conquer (1)</a:t>
            </a:r>
            <a:endParaRPr/>
          </a:p>
        </p:txBody>
      </p:sp>
      <p:sp>
        <p:nvSpPr>
          <p:cNvPr id="120" name="Google Shape;120;p5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-1216" r="-289" t="-224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/>
              <a:t> 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The maximum-subarray problem:</a:t>
            </a:r>
            <a:br>
              <a:rPr lang="en-US"/>
            </a:br>
            <a:r>
              <a:rPr lang="en-US"/>
              <a:t>Divide and conquer (2)</a:t>
            </a:r>
            <a:endParaRPr/>
          </a:p>
        </p:txBody>
      </p:sp>
      <p:pic>
        <p:nvPicPr>
          <p:cNvPr id="126" name="Google Shape;126;p6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24183" y="1825625"/>
            <a:ext cx="5009634" cy="4351338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" name="Google Shape;127;p6"/>
          <p:cNvPicPr preferRelativeResize="0"/>
          <p:nvPr>
            <p:ph idx="2" type="body"/>
          </p:nvPr>
        </p:nvPicPr>
        <p:blipFill rotWithShape="1">
          <a:blip r:embed="rId4">
            <a:alphaModFix/>
          </a:blip>
          <a:srcRect b="0" l="0" r="10710" t="0"/>
          <a:stretch/>
        </p:blipFill>
        <p:spPr>
          <a:xfrm>
            <a:off x="6096000" y="1922464"/>
            <a:ext cx="5829788" cy="379659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The maximum-subarray problem:</a:t>
            </a:r>
            <a:br>
              <a:rPr lang="en-US"/>
            </a:br>
            <a:r>
              <a:rPr lang="en-US"/>
              <a:t>Divide and conquer: Analysis (1)</a:t>
            </a:r>
            <a:endParaRPr/>
          </a:p>
        </p:txBody>
      </p:sp>
      <p:pic>
        <p:nvPicPr>
          <p:cNvPr id="133" name="Google Shape;133;p7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24183" y="1825625"/>
            <a:ext cx="5009634" cy="4351338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7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-1881" r="0" t="-196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/>
              <a:t> 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The maximum-subarray problem:</a:t>
            </a:r>
            <a:br>
              <a:rPr lang="en-US"/>
            </a:br>
            <a:r>
              <a:rPr lang="en-US"/>
              <a:t>Divide and conquer: Analysis (2)</a:t>
            </a:r>
            <a:endParaRPr/>
          </a:p>
        </p:txBody>
      </p:sp>
      <p:sp>
        <p:nvSpPr>
          <p:cNvPr id="140" name="Google Shape;140;p8"/>
          <p:cNvSpPr txBox="1"/>
          <p:nvPr>
            <p:ph idx="1" type="body"/>
          </p:nvPr>
        </p:nvSpPr>
        <p:spPr>
          <a:xfrm>
            <a:off x="838200" y="1825625"/>
            <a:ext cx="10740593" cy="4299232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-793" r="0" t="-269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/>
              <a:t> 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The maximum-subarray problem:</a:t>
            </a:r>
            <a:br>
              <a:rPr lang="en-US"/>
            </a:br>
            <a:r>
              <a:rPr lang="en-US"/>
              <a:t>Divide and conquer: Analysis (1)</a:t>
            </a:r>
            <a:endParaRPr/>
          </a:p>
        </p:txBody>
      </p:sp>
      <p:sp>
        <p:nvSpPr>
          <p:cNvPr id="146" name="Google Shape;146;p9"/>
          <p:cNvSpPr txBox="1"/>
          <p:nvPr>
            <p:ph idx="2" type="body"/>
          </p:nvPr>
        </p:nvSpPr>
        <p:spPr>
          <a:xfrm>
            <a:off x="6918158" y="1813592"/>
            <a:ext cx="5181600" cy="5044407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-1881" r="0" t="-1692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/>
              <a:t> </a:t>
            </a:r>
            <a:endParaRPr/>
          </a:p>
        </p:txBody>
      </p:sp>
      <p:pic>
        <p:nvPicPr>
          <p:cNvPr id="147" name="Google Shape;147;p9"/>
          <p:cNvPicPr preferRelativeResize="0"/>
          <p:nvPr>
            <p:ph idx="1" type="body"/>
          </p:nvPr>
        </p:nvPicPr>
        <p:blipFill rotWithShape="1">
          <a:blip r:embed="rId4">
            <a:alphaModFix/>
          </a:blip>
          <a:srcRect b="0" l="0" r="10710" t="0"/>
          <a:stretch/>
        </p:blipFill>
        <p:spPr>
          <a:xfrm>
            <a:off x="224051" y="1868132"/>
            <a:ext cx="6597855" cy="42967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Closest Pair of Points (1)</a:t>
            </a:r>
            <a:endParaRPr/>
          </a:p>
        </p:txBody>
      </p:sp>
      <p:sp>
        <p:nvSpPr>
          <p:cNvPr id="154" name="Google Shape;154;p10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-2470" r="0" t="-224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/>
              <a:t> </a:t>
            </a:r>
            <a:endParaRPr/>
          </a:p>
        </p:txBody>
      </p:sp>
      <p:pic>
        <p:nvPicPr>
          <p:cNvPr id="155" name="Google Shape;155;p10"/>
          <p:cNvPicPr preferRelativeResize="0"/>
          <p:nvPr>
            <p:ph idx="2" type="body"/>
          </p:nvPr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587331" y="1825625"/>
            <a:ext cx="4351338" cy="43513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Closest Pair of Points: </a:t>
            </a:r>
            <a:r>
              <a:rPr lang="en-US" sz="3200"/>
              <a:t>Divide-and-Conquer. </a:t>
            </a:r>
            <a:r>
              <a:rPr lang="en-US"/>
              <a:t>(2)</a:t>
            </a:r>
            <a:endParaRPr/>
          </a:p>
        </p:txBody>
      </p:sp>
      <p:pic>
        <p:nvPicPr>
          <p:cNvPr descr="Lightbox" id="162" name="Google Shape;162;p11"/>
          <p:cNvPicPr preferRelativeResize="0"/>
          <p:nvPr>
            <p:ph idx="2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447155" y="1919493"/>
            <a:ext cx="4744845" cy="3797567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11"/>
          <p:cNvSpPr txBox="1"/>
          <p:nvPr>
            <p:ph idx="1" type="body"/>
          </p:nvPr>
        </p:nvSpPr>
        <p:spPr>
          <a:xfrm>
            <a:off x="220364" y="1825625"/>
            <a:ext cx="7144263" cy="4351338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-1278" r="-1108" t="-196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/>
              <a:t> 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Closest Pair of Points: </a:t>
            </a:r>
            <a:r>
              <a:rPr lang="en-US" sz="3200"/>
              <a:t>Divide-and-Conquer. </a:t>
            </a:r>
            <a:r>
              <a:rPr lang="en-US"/>
              <a:t>(3)</a:t>
            </a:r>
            <a:endParaRPr/>
          </a:p>
        </p:txBody>
      </p:sp>
      <p:sp>
        <p:nvSpPr>
          <p:cNvPr id="170" name="Google Shape;170;p12"/>
          <p:cNvSpPr txBox="1"/>
          <p:nvPr>
            <p:ph idx="1" type="body"/>
          </p:nvPr>
        </p:nvSpPr>
        <p:spPr>
          <a:xfrm>
            <a:off x="214183" y="1825625"/>
            <a:ext cx="7338256" cy="4351338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-1079" r="0" t="-196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/>
              <a:t> </a:t>
            </a:r>
            <a:endParaRPr/>
          </a:p>
        </p:txBody>
      </p:sp>
      <p:pic>
        <p:nvPicPr>
          <p:cNvPr id="171" name="Google Shape;171;p12"/>
          <p:cNvPicPr preferRelativeResize="0"/>
          <p:nvPr>
            <p:ph idx="2" type="body"/>
          </p:nvPr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552439" y="1690688"/>
            <a:ext cx="4425378" cy="43513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1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Closest Pair of Points: </a:t>
            </a:r>
            <a:r>
              <a:rPr lang="en-US" sz="3200"/>
              <a:t>Divide-and-Conquer. </a:t>
            </a:r>
            <a:r>
              <a:rPr lang="en-US"/>
              <a:t>(4)</a:t>
            </a:r>
            <a:endParaRPr/>
          </a:p>
        </p:txBody>
      </p:sp>
      <p:pic>
        <p:nvPicPr>
          <p:cNvPr id="178" name="Google Shape;178;p13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5470" t="0"/>
          <a:stretch/>
        </p:blipFill>
        <p:spPr>
          <a:xfrm>
            <a:off x="214314" y="1825625"/>
            <a:ext cx="6936130" cy="3930229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13"/>
          <p:cNvSpPr txBox="1"/>
          <p:nvPr>
            <p:ph idx="2" type="body"/>
          </p:nvPr>
        </p:nvSpPr>
        <p:spPr>
          <a:xfrm>
            <a:off x="7150444" y="1825625"/>
            <a:ext cx="4203356" cy="4351338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-2608" r="0" t="-224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/>
              <a:t> 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Closest Pair of Points: </a:t>
            </a:r>
            <a:r>
              <a:rPr lang="en-US" sz="3200"/>
              <a:t>Divide-and-Conquer. </a:t>
            </a:r>
            <a:r>
              <a:rPr lang="en-US"/>
              <a:t>(5)</a:t>
            </a:r>
            <a:endParaRPr/>
          </a:p>
        </p:txBody>
      </p:sp>
      <p:pic>
        <p:nvPicPr>
          <p:cNvPr id="186" name="Google Shape;186;p14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5442" y="1690688"/>
            <a:ext cx="11221116" cy="50245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15"/>
          <p:cNvSpPr/>
          <p:nvPr/>
        </p:nvSpPr>
        <p:spPr>
          <a:xfrm flipH="1" rot="5400000">
            <a:off x="-638515" y="639280"/>
            <a:ext cx="6858000" cy="5579440"/>
          </a:xfrm>
          <a:prstGeom prst="rect">
            <a:avLst/>
          </a:prstGeom>
          <a:gradFill>
            <a:gsLst>
              <a:gs pos="0">
                <a:srgbClr val="000000"/>
              </a:gs>
              <a:gs pos="8000">
                <a:srgbClr val="000000"/>
              </a:gs>
              <a:gs pos="100000">
                <a:srgbClr val="0F4861"/>
              </a:gs>
            </a:gsLst>
            <a:lin ang="30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15"/>
          <p:cNvSpPr/>
          <p:nvPr/>
        </p:nvSpPr>
        <p:spPr>
          <a:xfrm flipH="1" rot="5400000">
            <a:off x="-393206" y="395206"/>
            <a:ext cx="6346209" cy="557608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rgbClr val="156082">
                  <a:alpha val="0"/>
                </a:srgbClr>
              </a:gs>
              <a:gs pos="100000">
                <a:srgbClr val="156082">
                  <a:alpha val="0"/>
                </a:srgbClr>
              </a:gs>
            </a:gsLst>
            <a:lin ang="18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15"/>
          <p:cNvSpPr/>
          <p:nvPr/>
        </p:nvSpPr>
        <p:spPr>
          <a:xfrm flipH="1" rot="5400000">
            <a:off x="1528907" y="2818967"/>
            <a:ext cx="2501979" cy="5576080"/>
          </a:xfrm>
          <a:prstGeom prst="rect">
            <a:avLst/>
          </a:prstGeom>
          <a:gradFill>
            <a:gsLst>
              <a:gs pos="0">
                <a:srgbClr val="156082">
                  <a:alpha val="28627"/>
                </a:srgbClr>
              </a:gs>
              <a:gs pos="2000">
                <a:srgbClr val="156082">
                  <a:alpha val="28627"/>
                </a:srgbClr>
              </a:gs>
              <a:gs pos="100000">
                <a:srgbClr val="000000">
                  <a:alpha val="29803"/>
                </a:srgbClr>
              </a:gs>
            </a:gsLst>
            <a:lin ang="78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15"/>
          <p:cNvSpPr/>
          <p:nvPr/>
        </p:nvSpPr>
        <p:spPr>
          <a:xfrm flipH="1" rot="5400000">
            <a:off x="-425002" y="852793"/>
            <a:ext cx="6858001" cy="5152412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rgbClr val="156082">
                  <a:alpha val="10980"/>
                </a:srgbClr>
              </a:gs>
              <a:gs pos="100000">
                <a:srgbClr val="156082">
                  <a:alpha val="10980"/>
                </a:srgbClr>
              </a:gs>
            </a:gsLst>
            <a:lin ang="78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15"/>
          <p:cNvSpPr/>
          <p:nvPr/>
        </p:nvSpPr>
        <p:spPr>
          <a:xfrm rot="6097846">
            <a:off x="818753" y="1128497"/>
            <a:ext cx="4318303" cy="4318303"/>
          </a:xfrm>
          <a:prstGeom prst="ellipse">
            <a:avLst/>
          </a:prstGeom>
          <a:gradFill>
            <a:gsLst>
              <a:gs pos="0">
                <a:srgbClr val="156082">
                  <a:alpha val="0"/>
                </a:srgbClr>
              </a:gs>
              <a:gs pos="39000">
                <a:srgbClr val="156082">
                  <a:alpha val="0"/>
                </a:srgbClr>
              </a:gs>
              <a:gs pos="100000">
                <a:srgbClr val="43AFE2">
                  <a:alpha val="14901"/>
                </a:srgbClr>
              </a:gs>
            </a:gsLst>
            <a:lin ang="17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15"/>
          <p:cNvSpPr txBox="1"/>
          <p:nvPr>
            <p:ph type="title"/>
          </p:nvPr>
        </p:nvSpPr>
        <p:spPr>
          <a:xfrm>
            <a:off x="826396" y="586855"/>
            <a:ext cx="4230100" cy="338749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libri"/>
              <a:buNone/>
            </a:pPr>
            <a:r>
              <a:rPr lang="en-US" sz="4000">
                <a:solidFill>
                  <a:srgbClr val="FFFFFF"/>
                </a:solidFill>
              </a:rPr>
              <a:t>Recursion</a:t>
            </a:r>
            <a:endParaRPr/>
          </a:p>
        </p:txBody>
      </p:sp>
      <p:sp>
        <p:nvSpPr>
          <p:cNvPr id="199" name="Google Shape;199;p15"/>
          <p:cNvSpPr txBox="1"/>
          <p:nvPr>
            <p:ph idx="1" type="body"/>
          </p:nvPr>
        </p:nvSpPr>
        <p:spPr>
          <a:xfrm>
            <a:off x="6503158" y="649480"/>
            <a:ext cx="4862447" cy="554604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Recursion is a concept where a procedure calls itself in order to solve a problem. </a:t>
            </a:r>
            <a:br>
              <a:rPr lang="en-US" sz="2000"/>
            </a:br>
            <a:r>
              <a:rPr lang="en-US" sz="2000"/>
              <a:t>A recursive algorithm typically follows these steps: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Base  Case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Recursive Case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 sz="20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1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Solving Recurrences</a:t>
            </a:r>
            <a:endParaRPr/>
          </a:p>
        </p:txBody>
      </p:sp>
      <p:grpSp>
        <p:nvGrpSpPr>
          <p:cNvPr id="206" name="Google Shape;206;p16"/>
          <p:cNvGrpSpPr/>
          <p:nvPr/>
        </p:nvGrpSpPr>
        <p:grpSpPr>
          <a:xfrm>
            <a:off x="3766053" y="1827605"/>
            <a:ext cx="4659893" cy="4347377"/>
            <a:chOff x="2927853" y="1980"/>
            <a:chExt cx="4659893" cy="4347377"/>
          </a:xfrm>
        </p:grpSpPr>
        <p:sp>
          <p:nvSpPr>
            <p:cNvPr id="207" name="Google Shape;207;p16"/>
            <p:cNvSpPr/>
            <p:nvPr/>
          </p:nvSpPr>
          <p:spPr>
            <a:xfrm>
              <a:off x="2927853" y="1980"/>
              <a:ext cx="4659893" cy="915237"/>
            </a:xfrm>
            <a:prstGeom prst="roundRect">
              <a:avLst>
                <a:gd fmla="val 10000" name="adj"/>
              </a:avLst>
            </a:prstGeom>
            <a:solidFill>
              <a:srgbClr val="126082"/>
            </a:solidFill>
            <a:ln cap="flat" cmpd="sng" w="190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" name="Google Shape;208;p16"/>
            <p:cNvSpPr txBox="1"/>
            <p:nvPr/>
          </p:nvSpPr>
          <p:spPr>
            <a:xfrm>
              <a:off x="2954659" y="28786"/>
              <a:ext cx="4606281" cy="8616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5875" lIns="83800" spcFirstLastPara="1" rIns="83800" wrap="square" tIns="5587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4400"/>
                <a:buFont typeface="Calibri"/>
                <a:buNone/>
              </a:pPr>
              <a:r>
                <a:rPr b="0" i="0" lang="en-US" sz="44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Solving recurrences</a:t>
              </a:r>
              <a:endParaRPr/>
            </a:p>
          </p:txBody>
        </p:sp>
        <p:sp>
          <p:nvSpPr>
            <p:cNvPr id="209" name="Google Shape;209;p16"/>
            <p:cNvSpPr/>
            <p:nvPr/>
          </p:nvSpPr>
          <p:spPr>
            <a:xfrm>
              <a:off x="3393842" y="917217"/>
              <a:ext cx="465989" cy="686427"/>
            </a:xfrm>
            <a:custGeom>
              <a:rect b="b" l="l" r="r" t="t"/>
              <a:pathLst>
                <a:path extrusionOk="0" h="120000" w="120000">
                  <a:moveTo>
                    <a:pt x="0" y="0"/>
                  </a:moveTo>
                  <a:lnTo>
                    <a:pt x="0" y="120000"/>
                  </a:lnTo>
                  <a:lnTo>
                    <a:pt x="120000" y="120000"/>
                  </a:lnTo>
                </a:path>
              </a:pathLst>
            </a:custGeom>
            <a:noFill/>
            <a:ln cap="flat" cmpd="sng" w="19050">
              <a:solidFill>
                <a:srgbClr val="0D4C67"/>
              </a:solidFill>
              <a:prstDash val="solid"/>
              <a:miter lim="800000"/>
              <a:headEnd len="sm" w="sm" type="none"/>
              <a:tailEnd len="sm" w="sm" type="none"/>
            </a:ln>
          </p:spPr>
        </p:sp>
        <p:sp>
          <p:nvSpPr>
            <p:cNvPr id="210" name="Google Shape;210;p16"/>
            <p:cNvSpPr/>
            <p:nvPr/>
          </p:nvSpPr>
          <p:spPr>
            <a:xfrm>
              <a:off x="3859831" y="1146027"/>
              <a:ext cx="3727914" cy="915237"/>
            </a:xfrm>
            <a:prstGeom prst="roundRect">
              <a:avLst>
                <a:gd fmla="val 10000" name="adj"/>
              </a:avLst>
            </a:prstGeom>
            <a:solidFill>
              <a:schemeClr val="lt1">
                <a:alpha val="89803"/>
              </a:schemeClr>
            </a:solidFill>
            <a:ln cap="flat" cmpd="sng" w="19050">
              <a:solidFill>
                <a:srgbClr val="12608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" name="Google Shape;211;p16"/>
            <p:cNvSpPr txBox="1"/>
            <p:nvPr/>
          </p:nvSpPr>
          <p:spPr>
            <a:xfrm>
              <a:off x="3886637" y="1172833"/>
              <a:ext cx="3674302" cy="8616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6825" lIns="55225" spcFirstLastPara="1" rIns="55225" wrap="square" tIns="3682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900"/>
                <a:buFont typeface="Calibri"/>
                <a:buNone/>
              </a:pPr>
              <a:r>
                <a:rPr b="0" i="0" lang="en-US" sz="29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Substitution method</a:t>
              </a:r>
              <a:endParaRPr/>
            </a:p>
          </p:txBody>
        </p:sp>
        <p:sp>
          <p:nvSpPr>
            <p:cNvPr id="212" name="Google Shape;212;p16"/>
            <p:cNvSpPr/>
            <p:nvPr/>
          </p:nvSpPr>
          <p:spPr>
            <a:xfrm>
              <a:off x="3393842" y="917217"/>
              <a:ext cx="465989" cy="1830474"/>
            </a:xfrm>
            <a:custGeom>
              <a:rect b="b" l="l" r="r" t="t"/>
              <a:pathLst>
                <a:path extrusionOk="0" h="120000" w="120000">
                  <a:moveTo>
                    <a:pt x="0" y="0"/>
                  </a:moveTo>
                  <a:lnTo>
                    <a:pt x="0" y="120000"/>
                  </a:lnTo>
                  <a:lnTo>
                    <a:pt x="120000" y="120000"/>
                  </a:lnTo>
                </a:path>
              </a:pathLst>
            </a:custGeom>
            <a:noFill/>
            <a:ln cap="flat" cmpd="sng" w="19050">
              <a:solidFill>
                <a:srgbClr val="0D4C67"/>
              </a:solidFill>
              <a:prstDash val="solid"/>
              <a:miter lim="800000"/>
              <a:headEnd len="sm" w="sm" type="none"/>
              <a:tailEnd len="sm" w="sm" type="none"/>
            </a:ln>
          </p:spPr>
        </p:sp>
        <p:sp>
          <p:nvSpPr>
            <p:cNvPr id="213" name="Google Shape;213;p16"/>
            <p:cNvSpPr/>
            <p:nvPr/>
          </p:nvSpPr>
          <p:spPr>
            <a:xfrm>
              <a:off x="3859831" y="2290073"/>
              <a:ext cx="3727914" cy="915237"/>
            </a:xfrm>
            <a:prstGeom prst="roundRect">
              <a:avLst>
                <a:gd fmla="val 10000" name="adj"/>
              </a:avLst>
            </a:prstGeom>
            <a:solidFill>
              <a:schemeClr val="lt1">
                <a:alpha val="89803"/>
              </a:schemeClr>
            </a:solidFill>
            <a:ln cap="flat" cmpd="sng" w="19050">
              <a:solidFill>
                <a:srgbClr val="12608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" name="Google Shape;214;p16"/>
            <p:cNvSpPr txBox="1"/>
            <p:nvPr/>
          </p:nvSpPr>
          <p:spPr>
            <a:xfrm>
              <a:off x="3886637" y="2316879"/>
              <a:ext cx="3674302" cy="8616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6825" lIns="55225" spcFirstLastPara="1" rIns="55225" wrap="square" tIns="3682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900"/>
                <a:buFont typeface="Calibri"/>
                <a:buNone/>
              </a:pPr>
              <a:r>
                <a:rPr b="0" i="0" lang="en-US" sz="29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Recursion-tree method</a:t>
              </a:r>
              <a:endParaRPr/>
            </a:p>
          </p:txBody>
        </p:sp>
        <p:sp>
          <p:nvSpPr>
            <p:cNvPr id="215" name="Google Shape;215;p16"/>
            <p:cNvSpPr/>
            <p:nvPr/>
          </p:nvSpPr>
          <p:spPr>
            <a:xfrm>
              <a:off x="3393842" y="917217"/>
              <a:ext cx="465989" cy="2974520"/>
            </a:xfrm>
            <a:custGeom>
              <a:rect b="b" l="l" r="r" t="t"/>
              <a:pathLst>
                <a:path extrusionOk="0" h="120000" w="120000">
                  <a:moveTo>
                    <a:pt x="0" y="0"/>
                  </a:moveTo>
                  <a:lnTo>
                    <a:pt x="0" y="120000"/>
                  </a:lnTo>
                  <a:lnTo>
                    <a:pt x="120000" y="120000"/>
                  </a:lnTo>
                </a:path>
              </a:pathLst>
            </a:custGeom>
            <a:noFill/>
            <a:ln cap="flat" cmpd="sng" w="19050">
              <a:solidFill>
                <a:srgbClr val="0D4C67"/>
              </a:solidFill>
              <a:prstDash val="solid"/>
              <a:miter lim="800000"/>
              <a:headEnd len="sm" w="sm" type="none"/>
              <a:tailEnd len="sm" w="sm" type="none"/>
            </a:ln>
          </p:spPr>
        </p:sp>
        <p:sp>
          <p:nvSpPr>
            <p:cNvPr id="216" name="Google Shape;216;p16"/>
            <p:cNvSpPr/>
            <p:nvPr/>
          </p:nvSpPr>
          <p:spPr>
            <a:xfrm>
              <a:off x="3859831" y="3434120"/>
              <a:ext cx="3727914" cy="915237"/>
            </a:xfrm>
            <a:prstGeom prst="roundRect">
              <a:avLst>
                <a:gd fmla="val 10000" name="adj"/>
              </a:avLst>
            </a:prstGeom>
            <a:solidFill>
              <a:schemeClr val="lt1">
                <a:alpha val="89803"/>
              </a:schemeClr>
            </a:solidFill>
            <a:ln cap="flat" cmpd="sng" w="19050">
              <a:solidFill>
                <a:srgbClr val="12608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" name="Google Shape;217;p16"/>
            <p:cNvSpPr txBox="1"/>
            <p:nvPr/>
          </p:nvSpPr>
          <p:spPr>
            <a:xfrm>
              <a:off x="3886637" y="3460926"/>
              <a:ext cx="3674302" cy="8616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6825" lIns="55225" spcFirstLastPara="1" rIns="55225" wrap="square" tIns="3682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900"/>
                <a:buFont typeface="Calibri"/>
                <a:buNone/>
              </a:pPr>
              <a:r>
                <a:rPr b="0" i="0" lang="en-US" sz="29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Master method</a:t>
              </a:r>
              <a:endParaRPr b="0" i="0" sz="2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1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The Substitution Method</a:t>
            </a:r>
            <a:endParaRPr/>
          </a:p>
        </p:txBody>
      </p:sp>
      <p:grpSp>
        <p:nvGrpSpPr>
          <p:cNvPr id="223" name="Google Shape;223;p17"/>
          <p:cNvGrpSpPr/>
          <p:nvPr/>
        </p:nvGrpSpPr>
        <p:grpSpPr>
          <a:xfrm>
            <a:off x="1398000" y="2434219"/>
            <a:ext cx="9396000" cy="3134149"/>
            <a:chOff x="559800" y="608594"/>
            <a:chExt cx="9396000" cy="3134149"/>
          </a:xfrm>
        </p:grpSpPr>
        <p:sp>
          <p:nvSpPr>
            <p:cNvPr id="224" name="Google Shape;224;p17"/>
            <p:cNvSpPr/>
            <p:nvPr/>
          </p:nvSpPr>
          <p:spPr>
            <a:xfrm>
              <a:off x="1747800" y="608594"/>
              <a:ext cx="1944000" cy="1944000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 cap="flat" cmpd="sng" w="190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" name="Google Shape;225;p17"/>
            <p:cNvSpPr/>
            <p:nvPr/>
          </p:nvSpPr>
          <p:spPr>
            <a:xfrm>
              <a:off x="559800" y="3022743"/>
              <a:ext cx="4320000" cy="72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" name="Google Shape;226;p17"/>
            <p:cNvSpPr txBox="1"/>
            <p:nvPr/>
          </p:nvSpPr>
          <p:spPr>
            <a:xfrm>
              <a:off x="559800" y="3022743"/>
              <a:ext cx="4320000" cy="72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4500"/>
                <a:buFont typeface="Calibri"/>
                <a:buNone/>
              </a:pPr>
              <a:r>
                <a:rPr b="0" i="0" lang="en-US" sz="45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Guess the solution</a:t>
              </a:r>
              <a:endParaRPr/>
            </a:p>
          </p:txBody>
        </p:sp>
        <p:sp>
          <p:nvSpPr>
            <p:cNvPr id="227" name="Google Shape;227;p17"/>
            <p:cNvSpPr/>
            <p:nvPr/>
          </p:nvSpPr>
          <p:spPr>
            <a:xfrm>
              <a:off x="6823800" y="608594"/>
              <a:ext cx="1944000" cy="1944000"/>
            </a:xfrm>
            <a:prstGeom prst="rect">
              <a:avLst/>
            </a:pr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 cap="flat" cmpd="sng" w="190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" name="Google Shape;228;p17"/>
            <p:cNvSpPr/>
            <p:nvPr/>
          </p:nvSpPr>
          <p:spPr>
            <a:xfrm>
              <a:off x="5635800" y="3022743"/>
              <a:ext cx="4320000" cy="72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" name="Google Shape;229;p17"/>
            <p:cNvSpPr txBox="1"/>
            <p:nvPr/>
          </p:nvSpPr>
          <p:spPr>
            <a:xfrm>
              <a:off x="5635800" y="3022743"/>
              <a:ext cx="4320000" cy="72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4500"/>
                <a:buFont typeface="Calibri"/>
                <a:buNone/>
              </a:pPr>
              <a:r>
                <a:rPr b="0" i="0" lang="en-US" sz="45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Proof by induction</a:t>
              </a:r>
              <a:endParaRPr/>
            </a:p>
          </p:txBody>
        </p:sp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1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The Substitution Method: Example</a:t>
            </a:r>
            <a:endParaRPr/>
          </a:p>
        </p:txBody>
      </p:sp>
      <p:sp>
        <p:nvSpPr>
          <p:cNvPr id="235" name="Google Shape;235;p18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-2939" l="-810" r="0" t="-196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/>
              <a:t> 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1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The Recursive-tree Method: Example 1 (1)</a:t>
            </a:r>
            <a:endParaRPr/>
          </a:p>
        </p:txBody>
      </p:sp>
      <p:sp>
        <p:nvSpPr>
          <p:cNvPr id="241" name="Google Shape;241;p19"/>
          <p:cNvSpPr txBox="1"/>
          <p:nvPr>
            <p:ph idx="1" type="body"/>
          </p:nvPr>
        </p:nvSpPr>
        <p:spPr>
          <a:xfrm>
            <a:off x="838200" y="1825625"/>
            <a:ext cx="10515600" cy="1106948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/>
              <a:t> </a:t>
            </a:r>
            <a:endParaRPr/>
          </a:p>
        </p:txBody>
      </p:sp>
      <p:pic>
        <p:nvPicPr>
          <p:cNvPr id="242" name="Google Shape;242;p19"/>
          <p:cNvPicPr preferRelativeResize="0"/>
          <p:nvPr>
            <p:ph idx="2" type="body"/>
          </p:nvPr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940620" y="3133751"/>
            <a:ext cx="8310760" cy="34077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2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The Recursive-tree Method: Example 1 (2)</a:t>
            </a:r>
            <a:endParaRPr/>
          </a:p>
        </p:txBody>
      </p:sp>
      <p:sp>
        <p:nvSpPr>
          <p:cNvPr id="248" name="Google Shape;248;p20"/>
          <p:cNvSpPr txBox="1"/>
          <p:nvPr>
            <p:ph idx="1" type="body"/>
          </p:nvPr>
        </p:nvSpPr>
        <p:spPr>
          <a:xfrm>
            <a:off x="838200" y="2150263"/>
            <a:ext cx="3717568" cy="1913135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/>
              <a:t> </a:t>
            </a:r>
            <a:endParaRPr/>
          </a:p>
        </p:txBody>
      </p:sp>
      <p:pic>
        <p:nvPicPr>
          <p:cNvPr id="249" name="Google Shape;249;p20"/>
          <p:cNvPicPr preferRelativeResize="0"/>
          <p:nvPr>
            <p:ph idx="2" type="body"/>
          </p:nvPr>
        </p:nvPicPr>
        <p:blipFill rotWithShape="1">
          <a:blip r:embed="rId4">
            <a:alphaModFix/>
          </a:blip>
          <a:srcRect b="9901" l="0" r="0" t="0"/>
          <a:stretch/>
        </p:blipFill>
        <p:spPr>
          <a:xfrm>
            <a:off x="4938655" y="1310554"/>
            <a:ext cx="5925931" cy="518232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2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The Recursive-tree Method: Example 2 (1)</a:t>
            </a:r>
            <a:endParaRPr/>
          </a:p>
        </p:txBody>
      </p:sp>
      <p:sp>
        <p:nvSpPr>
          <p:cNvPr id="256" name="Google Shape;256;p21"/>
          <p:cNvSpPr txBox="1"/>
          <p:nvPr>
            <p:ph idx="1" type="body"/>
          </p:nvPr>
        </p:nvSpPr>
        <p:spPr>
          <a:xfrm>
            <a:off x="838200" y="1825625"/>
            <a:ext cx="10515600" cy="1106948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/>
              <a:t> </a:t>
            </a:r>
            <a:endParaRPr/>
          </a:p>
        </p:txBody>
      </p:sp>
      <p:pic>
        <p:nvPicPr>
          <p:cNvPr id="257" name="Google Shape;257;p21"/>
          <p:cNvPicPr preferRelativeResize="0"/>
          <p:nvPr>
            <p:ph idx="2" type="body"/>
          </p:nvPr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11329" y="2981269"/>
            <a:ext cx="10642471" cy="33793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2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The Recursive-tree Method: Example 2 (2)</a:t>
            </a:r>
            <a:endParaRPr/>
          </a:p>
        </p:txBody>
      </p:sp>
      <p:sp>
        <p:nvSpPr>
          <p:cNvPr id="263" name="Google Shape;263;p22"/>
          <p:cNvSpPr txBox="1"/>
          <p:nvPr>
            <p:ph idx="1" type="body"/>
          </p:nvPr>
        </p:nvSpPr>
        <p:spPr>
          <a:xfrm>
            <a:off x="7472110" y="1690687"/>
            <a:ext cx="4719890" cy="4309818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-282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/>
              <a:t> </a:t>
            </a:r>
            <a:endParaRPr/>
          </a:p>
        </p:txBody>
      </p:sp>
      <p:pic>
        <p:nvPicPr>
          <p:cNvPr id="264" name="Google Shape;264;p22"/>
          <p:cNvPicPr preferRelativeResize="0"/>
          <p:nvPr>
            <p:ph idx="2" type="body"/>
          </p:nvPr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1981" y="1433591"/>
            <a:ext cx="7430628" cy="456691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2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Exercises (1)</a:t>
            </a:r>
            <a:endParaRPr/>
          </a:p>
        </p:txBody>
      </p:sp>
      <p:sp>
        <p:nvSpPr>
          <p:cNvPr id="270" name="Google Shape;270;p2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-279" l="-1216" r="0" t="-238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/>
              <a:t> 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2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Exercises (2)</a:t>
            </a:r>
            <a:endParaRPr/>
          </a:p>
        </p:txBody>
      </p:sp>
      <p:sp>
        <p:nvSpPr>
          <p:cNvPr id="276" name="Google Shape;276;p2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-1216" r="0" t="-1119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/>
              <a:t> 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2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Master Method</a:t>
            </a:r>
            <a:endParaRPr/>
          </a:p>
        </p:txBody>
      </p:sp>
      <p:sp>
        <p:nvSpPr>
          <p:cNvPr id="283" name="Google Shape;283;p25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-1216" r="0" t="-224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/>
              <a:t> 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2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Master Method: Proof (1)</a:t>
            </a:r>
            <a:endParaRPr/>
          </a:p>
        </p:txBody>
      </p:sp>
      <p:grpSp>
        <p:nvGrpSpPr>
          <p:cNvPr id="290" name="Google Shape;290;p26"/>
          <p:cNvGrpSpPr/>
          <p:nvPr/>
        </p:nvGrpSpPr>
        <p:grpSpPr>
          <a:xfrm>
            <a:off x="838200" y="1825678"/>
            <a:ext cx="10515600" cy="4351231"/>
            <a:chOff x="0" y="53"/>
            <a:chExt cx="10515600" cy="4351231"/>
          </a:xfrm>
        </p:grpSpPr>
        <p:sp>
          <p:nvSpPr>
            <p:cNvPr id="291" name="Google Shape;291;p26"/>
            <p:cNvSpPr/>
            <p:nvPr/>
          </p:nvSpPr>
          <p:spPr>
            <a:xfrm>
              <a:off x="0" y="53"/>
              <a:ext cx="10515600" cy="2122552"/>
            </a:xfrm>
            <a:prstGeom prst="rect">
              <a:avLst/>
            </a:prstGeom>
            <a:solidFill>
              <a:srgbClr val="126082"/>
            </a:solidFill>
            <a:ln cap="flat" cmpd="sng" w="190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2" name="Google Shape;292;p26"/>
            <p:cNvSpPr txBox="1"/>
            <p:nvPr/>
          </p:nvSpPr>
          <p:spPr>
            <a:xfrm>
              <a:off x="0" y="53"/>
              <a:ext cx="10515600" cy="21225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4800"/>
                <a:buFont typeface="Calibri"/>
                <a:buNone/>
              </a:pPr>
              <a:r>
                <a:rPr b="0" i="0" lang="en-US" sz="4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Analyze the  for</a:t>
              </a:r>
              <a:endParaRPr/>
            </a:p>
            <a:p>
              <a:pPr indent="0" lvl="0" marL="0" marR="0" rtl="0" algn="ctr">
                <a:lnSpc>
                  <a:spcPct val="90000"/>
                </a:lnSpc>
                <a:spcBef>
                  <a:spcPts val="1680"/>
                </a:spcBef>
                <a:spcAft>
                  <a:spcPts val="0"/>
                </a:spcAft>
                <a:buClr>
                  <a:schemeClr val="lt1"/>
                </a:buClr>
                <a:buSzPts val="4800"/>
                <a:buFont typeface="Calibri"/>
                <a:buNone/>
              </a:pPr>
              <a:r>
                <a:rPr b="0" i="0" lang="en-US" sz="4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  </a:t>
              </a:r>
              <a:endParaRPr b="0" i="0" sz="4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3" name="Google Shape;293;p26"/>
            <p:cNvSpPr/>
            <p:nvPr/>
          </p:nvSpPr>
          <p:spPr>
            <a:xfrm>
              <a:off x="9" y="2228732"/>
              <a:ext cx="10515581" cy="2122552"/>
            </a:xfrm>
            <a:prstGeom prst="rect">
              <a:avLst/>
            </a:prstGeom>
            <a:solidFill>
              <a:srgbClr val="126082"/>
            </a:solidFill>
            <a:ln cap="flat" cmpd="sng" w="190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4" name="Google Shape;294;p26"/>
            <p:cNvSpPr txBox="1"/>
            <p:nvPr/>
          </p:nvSpPr>
          <p:spPr>
            <a:xfrm>
              <a:off x="9" y="2228732"/>
              <a:ext cx="10515581" cy="21225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4800"/>
                <a:buFont typeface="Calibri"/>
                <a:buNone/>
              </a:pPr>
              <a:r>
                <a:rPr b="0" i="0" lang="en-US" sz="4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Extend the analysis to all positive integers.</a:t>
              </a:r>
              <a:endParaRPr/>
            </a:p>
          </p:txBody>
        </p:sp>
      </p:grp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2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Master Method: Proof (2)</a:t>
            </a:r>
            <a:endParaRPr/>
          </a:p>
        </p:txBody>
      </p:sp>
      <p:sp>
        <p:nvSpPr>
          <p:cNvPr id="300" name="Google Shape;300;p27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-1216" r="0" t="-224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/>
              <a:t> 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2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Master Method: Proof (3)</a:t>
            </a:r>
            <a:endParaRPr/>
          </a:p>
        </p:txBody>
      </p:sp>
      <p:pic>
        <p:nvPicPr>
          <p:cNvPr id="306" name="Google Shape;306;p28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4678"/>
          <a:stretch/>
        </p:blipFill>
        <p:spPr>
          <a:xfrm>
            <a:off x="2091181" y="1416509"/>
            <a:ext cx="8009637" cy="477569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2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Master Method: Proof (4)</a:t>
            </a:r>
            <a:endParaRPr/>
          </a:p>
        </p:txBody>
      </p:sp>
      <p:sp>
        <p:nvSpPr>
          <p:cNvPr id="312" name="Google Shape;312;p29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-1216" r="0" t="-224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/>
              <a:t> </a:t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3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Master Method: Proof (5)</a:t>
            </a:r>
            <a:endParaRPr/>
          </a:p>
        </p:txBody>
      </p:sp>
      <p:sp>
        <p:nvSpPr>
          <p:cNvPr id="318" name="Google Shape;318;p30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-1216" r="0" t="-238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/>
              <a:t> </a:t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3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Master Method: Proof (6)</a:t>
            </a:r>
            <a:endParaRPr/>
          </a:p>
        </p:txBody>
      </p:sp>
      <p:sp>
        <p:nvSpPr>
          <p:cNvPr id="324" name="Google Shape;324;p3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-1216" r="0" t="-238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/>
              <a:t> </a:t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3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Master Method: Proof (7)</a:t>
            </a:r>
            <a:endParaRPr/>
          </a:p>
        </p:txBody>
      </p:sp>
      <p:sp>
        <p:nvSpPr>
          <p:cNvPr id="330" name="Google Shape;330;p3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-1216" r="0" t="-238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/>
              <a:t> </a:t>
            </a: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3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Master Method: Proof (8)</a:t>
            </a:r>
            <a:endParaRPr/>
          </a:p>
        </p:txBody>
      </p:sp>
      <p:sp>
        <p:nvSpPr>
          <p:cNvPr id="336" name="Google Shape;336;p3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-1216" r="0" t="-238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/>
              <a:t> </a:t>
            </a:r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3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Master Method: Proof (9)</a:t>
            </a:r>
            <a:endParaRPr/>
          </a:p>
        </p:txBody>
      </p:sp>
      <p:sp>
        <p:nvSpPr>
          <p:cNvPr id="343" name="Google Shape;343;p3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-1216" r="0" t="-224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/>
              <a:t> </a:t>
            </a:r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3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Master Method: Proof (10)</a:t>
            </a:r>
            <a:endParaRPr/>
          </a:p>
        </p:txBody>
      </p:sp>
      <p:sp>
        <p:nvSpPr>
          <p:cNvPr id="350" name="Google Shape;350;p35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-1216" r="0" t="-224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/>
              <a:t> </a:t>
            </a:r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3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Master Method: Proof (11)</a:t>
            </a:r>
            <a:endParaRPr/>
          </a:p>
        </p:txBody>
      </p:sp>
      <p:sp>
        <p:nvSpPr>
          <p:cNvPr id="357" name="Google Shape;357;p36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-1216" r="0" t="-224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/>
              <a:t> </a:t>
            </a:r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37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Exersises: Solve Recurrences</a:t>
            </a:r>
            <a:endParaRPr/>
          </a:p>
        </p:txBody>
      </p:sp>
      <p:sp>
        <p:nvSpPr>
          <p:cNvPr id="363" name="Google Shape;363;p37"/>
          <p:cNvSpPr txBox="1"/>
          <p:nvPr>
            <p:ph idx="1" type="body"/>
          </p:nvPr>
        </p:nvSpPr>
        <p:spPr>
          <a:xfrm>
            <a:off x="838200" y="1628606"/>
            <a:ext cx="10515600" cy="45483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-19168" l="-869" r="0" t="-3479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/>
              <a:t> </a:t>
            </a:r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3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38"/>
          <p:cNvSpPr/>
          <p:nvPr/>
        </p:nvSpPr>
        <p:spPr>
          <a:xfrm rot="10800000">
            <a:off x="-2" y="-22693"/>
            <a:ext cx="12191999" cy="4374129"/>
          </a:xfrm>
          <a:prstGeom prst="rect">
            <a:avLst/>
          </a:prstGeom>
          <a:gradFill>
            <a:gsLst>
              <a:gs pos="0">
                <a:srgbClr val="0F4861"/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38"/>
          <p:cNvSpPr/>
          <p:nvPr/>
        </p:nvSpPr>
        <p:spPr>
          <a:xfrm rot="5400000">
            <a:off x="3908719" y="-3931841"/>
            <a:ext cx="4374557" cy="12192000"/>
          </a:xfrm>
          <a:prstGeom prst="rect">
            <a:avLst/>
          </a:prstGeom>
          <a:gradFill>
            <a:gsLst>
              <a:gs pos="0">
                <a:srgbClr val="156082">
                  <a:alpha val="0"/>
                </a:srgbClr>
              </a:gs>
              <a:gs pos="40000">
                <a:srgbClr val="156082">
                  <a:alpha val="0"/>
                </a:srgbClr>
              </a:gs>
              <a:gs pos="100000">
                <a:srgbClr val="0F4861">
                  <a:alpha val="51764"/>
                </a:srgbClr>
              </a:gs>
            </a:gsLst>
            <a:lin ang="2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38"/>
          <p:cNvSpPr/>
          <p:nvPr/>
        </p:nvSpPr>
        <p:spPr>
          <a:xfrm rot="5400000">
            <a:off x="4136696" y="-3703868"/>
            <a:ext cx="4374128" cy="11736479"/>
          </a:xfrm>
          <a:prstGeom prst="rect">
            <a:avLst/>
          </a:prstGeom>
          <a:gradFill>
            <a:gsLst>
              <a:gs pos="0">
                <a:srgbClr val="156082">
                  <a:alpha val="0"/>
                </a:srgbClr>
              </a:gs>
              <a:gs pos="17000">
                <a:srgbClr val="156082">
                  <a:alpha val="0"/>
                </a:srgbClr>
              </a:gs>
              <a:gs pos="100000">
                <a:srgbClr val="000000">
                  <a:alpha val="36862"/>
                </a:srgbClr>
              </a:gs>
            </a:gsLst>
            <a:lin ang="78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38"/>
          <p:cNvSpPr/>
          <p:nvPr/>
        </p:nvSpPr>
        <p:spPr>
          <a:xfrm>
            <a:off x="-5" y="-22690"/>
            <a:ext cx="8542485" cy="4374126"/>
          </a:xfrm>
          <a:prstGeom prst="rect">
            <a:avLst/>
          </a:prstGeom>
          <a:gradFill>
            <a:gsLst>
              <a:gs pos="0">
                <a:srgbClr val="0A3041">
                  <a:alpha val="0"/>
                </a:srgbClr>
              </a:gs>
              <a:gs pos="100000">
                <a:srgbClr val="000000">
                  <a:alpha val="24705"/>
                </a:srgbClr>
              </a:gs>
            </a:gsLst>
            <a:lin ang="186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38"/>
          <p:cNvSpPr/>
          <p:nvPr/>
        </p:nvSpPr>
        <p:spPr>
          <a:xfrm rot="-9091028">
            <a:off x="5945431" y="-1032053"/>
            <a:ext cx="4990147" cy="4439131"/>
          </a:xfrm>
          <a:custGeom>
            <a:rect b="b" l="l" r="r" t="t"/>
            <a:pathLst>
              <a:path extrusionOk="0" h="4439131" w="4990147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rgbClr val="156082">
                  <a:alpha val="21960"/>
                </a:srgbClr>
              </a:gs>
              <a:gs pos="87000">
                <a:srgbClr val="43AFE2">
                  <a:alpha val="1960"/>
                </a:srgbClr>
              </a:gs>
              <a:gs pos="100000">
                <a:srgbClr val="43AFE2">
                  <a:alpha val="1960"/>
                </a:srgbClr>
              </a:gs>
            </a:gsLst>
            <a:lin ang="8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38"/>
          <p:cNvSpPr txBox="1"/>
          <p:nvPr>
            <p:ph type="title"/>
          </p:nvPr>
        </p:nvSpPr>
        <p:spPr>
          <a:xfrm>
            <a:off x="1314824" y="735106"/>
            <a:ext cx="10053763" cy="292847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Calibri"/>
              <a:buNone/>
            </a:pPr>
            <a:r>
              <a:rPr lang="en-US" sz="4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Thank You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2024-06-18T05:26:31Z</dcterms:created>
  <dc:creator>Prazyan, Levon</dc:creator>
</cp:coreProperties>
</file>
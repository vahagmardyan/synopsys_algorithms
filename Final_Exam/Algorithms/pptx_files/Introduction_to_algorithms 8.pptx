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4823" r:id="rId4"/>
    <p:sldId id="4796" r:id="rId5"/>
    <p:sldId id="4795" r:id="rId6"/>
    <p:sldId id="4797" r:id="rId7"/>
    <p:sldId id="4801" r:id="rId8"/>
    <p:sldId id="4798" r:id="rId9"/>
    <p:sldId id="4802" r:id="rId10"/>
    <p:sldId id="4803" r:id="rId11"/>
    <p:sldId id="4822" r:id="rId12"/>
    <p:sldId id="4799" r:id="rId13"/>
    <p:sldId id="4804" r:id="rId14"/>
    <p:sldId id="4800" r:id="rId15"/>
    <p:sldId id="4805" r:id="rId16"/>
    <p:sldId id="4806" r:id="rId17"/>
    <p:sldId id="4807" r:id="rId18"/>
    <p:sldId id="4813" r:id="rId19"/>
    <p:sldId id="4814" r:id="rId20"/>
    <p:sldId id="4815" r:id="rId21"/>
    <p:sldId id="4816" r:id="rId22"/>
    <p:sldId id="4817" r:id="rId23"/>
    <p:sldId id="4808" r:id="rId24"/>
    <p:sldId id="4809" r:id="rId25"/>
    <p:sldId id="4810" r:id="rId26"/>
    <p:sldId id="4812" r:id="rId27"/>
    <p:sldId id="4811" r:id="rId28"/>
    <p:sldId id="4818" r:id="rId29"/>
    <p:sldId id="4819" r:id="rId30"/>
    <p:sldId id="4820" r:id="rId31"/>
    <p:sldId id="4821" r:id="rId32"/>
    <p:sldId id="479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EC5ED5-F682-414F-90F9-CBB9747B6D2C}" v="190" dt="2026-03-23T17:43:59.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61" autoAdjust="0"/>
    <p:restoredTop sz="86925" autoAdjust="0"/>
  </p:normalViewPr>
  <p:slideViewPr>
    <p:cSldViewPr snapToGrid="0">
      <p:cViewPr varScale="1">
        <p:scale>
          <a:sx n="134" d="100"/>
          <a:sy n="134" d="100"/>
        </p:scale>
        <p:origin x="750" y="13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zyan, Levon" userId="ed024b0e-4a1a-418a-8ca0-755e149680c9" providerId="ADAL" clId="{4A4D12F4-25F0-4DC3-8755-13CF4EFB28EA}"/>
    <pc:docChg chg="undo custSel addSld modSld modNotesMaster">
      <pc:chgData name="Prazyan, Levon" userId="ed024b0e-4a1a-418a-8ca0-755e149680c9" providerId="ADAL" clId="{4A4D12F4-25F0-4DC3-8755-13CF4EFB28EA}" dt="2026-03-23T17:43:56.079" v="242" actId="20577"/>
      <pc:docMkLst>
        <pc:docMk/>
      </pc:docMkLst>
      <pc:sldChg chg="modSp mod">
        <pc:chgData name="Prazyan, Levon" userId="ed024b0e-4a1a-418a-8ca0-755e149680c9" providerId="ADAL" clId="{4A4D12F4-25F0-4DC3-8755-13CF4EFB28EA}" dt="2026-03-08T14:49:48.463" v="5" actId="6549"/>
        <pc:sldMkLst>
          <pc:docMk/>
          <pc:sldMk cId="607282830" sldId="4796"/>
        </pc:sldMkLst>
        <pc:spChg chg="mod">
          <ac:chgData name="Prazyan, Levon" userId="ed024b0e-4a1a-418a-8ca0-755e149680c9" providerId="ADAL" clId="{4A4D12F4-25F0-4DC3-8755-13CF4EFB28EA}" dt="2026-03-08T14:49:48.463" v="5" actId="6549"/>
          <ac:spMkLst>
            <pc:docMk/>
            <pc:sldMk cId="607282830" sldId="4796"/>
            <ac:spMk id="3" creationId="{1E34D6C1-4239-52EE-297F-2FDCEBC6F27F}"/>
          </ac:spMkLst>
        </pc:spChg>
      </pc:sldChg>
      <pc:sldChg chg="modNotesTx">
        <pc:chgData name="Prazyan, Levon" userId="ed024b0e-4a1a-418a-8ca0-755e149680c9" providerId="ADAL" clId="{4A4D12F4-25F0-4DC3-8755-13CF4EFB28EA}" dt="2026-03-23T17:43:56.079" v="242" actId="20577"/>
        <pc:sldMkLst>
          <pc:docMk/>
          <pc:sldMk cId="1338094608" sldId="4810"/>
        </pc:sldMkLst>
      </pc:sldChg>
      <pc:sldChg chg="addSp delSp modSp add mod modClrScheme delAnim modAnim chgLayout">
        <pc:chgData name="Prazyan, Levon" userId="ed024b0e-4a1a-418a-8ca0-755e149680c9" providerId="ADAL" clId="{4A4D12F4-25F0-4DC3-8755-13CF4EFB28EA}" dt="2026-03-16T15:21:35.950" v="158"/>
        <pc:sldMkLst>
          <pc:docMk/>
          <pc:sldMk cId="673005896" sldId="4822"/>
        </pc:sldMkLst>
        <pc:spChg chg="mod ord">
          <ac:chgData name="Prazyan, Levon" userId="ed024b0e-4a1a-418a-8ca0-755e149680c9" providerId="ADAL" clId="{4A4D12F4-25F0-4DC3-8755-13CF4EFB28EA}" dt="2026-03-16T14:59:19.750" v="12" actId="700"/>
          <ac:spMkLst>
            <pc:docMk/>
            <pc:sldMk cId="673005896" sldId="4822"/>
            <ac:spMk id="2" creationId="{67069CEA-FB72-D4EA-0CEC-65205668F453}"/>
          </ac:spMkLst>
        </pc:spChg>
        <pc:spChg chg="add mod ord">
          <ac:chgData name="Prazyan, Levon" userId="ed024b0e-4a1a-418a-8ca0-755e149680c9" providerId="ADAL" clId="{4A4D12F4-25F0-4DC3-8755-13CF4EFB28EA}" dt="2026-03-16T15:21:35.950" v="158"/>
          <ac:spMkLst>
            <pc:docMk/>
            <pc:sldMk cId="673005896" sldId="4822"/>
            <ac:spMk id="8" creationId="{34CEE14F-CCB6-1E48-3194-3AEFE64CE3AB}"/>
          </ac:spMkLst>
        </pc:spChg>
      </pc:sldChg>
      <pc:sldChg chg="addSp delSp modSp new mod modClrScheme chgLayout modNotesTx">
        <pc:chgData name="Prazyan, Levon" userId="ed024b0e-4a1a-418a-8ca0-755e149680c9" providerId="ADAL" clId="{4A4D12F4-25F0-4DC3-8755-13CF4EFB28EA}" dt="2026-03-16T17:35:46.507" v="221" actId="20577"/>
        <pc:sldMkLst>
          <pc:docMk/>
          <pc:sldMk cId="2327052209" sldId="4823"/>
        </pc:sldMkLst>
        <pc:spChg chg="mod ord">
          <ac:chgData name="Prazyan, Levon" userId="ed024b0e-4a1a-418a-8ca0-755e149680c9" providerId="ADAL" clId="{4A4D12F4-25F0-4DC3-8755-13CF4EFB28EA}" dt="2026-03-16T16:28:08.432" v="188" actId="700"/>
          <ac:spMkLst>
            <pc:docMk/>
            <pc:sldMk cId="2327052209" sldId="4823"/>
            <ac:spMk id="2" creationId="{43794F98-DB78-EA38-D37B-99F775648E00}"/>
          </ac:spMkLst>
        </pc:spChg>
        <pc:spChg chg="add mod ord">
          <ac:chgData name="Prazyan, Levon" userId="ed024b0e-4a1a-418a-8ca0-755e149680c9" providerId="ADAL" clId="{4A4D12F4-25F0-4DC3-8755-13CF4EFB28EA}" dt="2026-03-16T16:28:17.107" v="190"/>
          <ac:spMkLst>
            <pc:docMk/>
            <pc:sldMk cId="2327052209" sldId="4823"/>
            <ac:spMk id="4" creationId="{591D5EA0-862F-0611-D2D7-AB7ADEB27D53}"/>
          </ac:spMkLst>
        </pc:spChg>
        <pc:spChg chg="add mod ord">
          <ac:chgData name="Prazyan, Levon" userId="ed024b0e-4a1a-418a-8ca0-755e149680c9" providerId="ADAL" clId="{4A4D12F4-25F0-4DC3-8755-13CF4EFB28EA}" dt="2026-03-16T17:12:27.809" v="217" actId="20577"/>
          <ac:spMkLst>
            <pc:docMk/>
            <pc:sldMk cId="2327052209" sldId="4823"/>
            <ac:spMk id="6" creationId="{35783E8C-BE8D-81B7-3719-FBBDCD19ED87}"/>
          </ac:spMkLst>
        </pc:spChg>
        <pc:picChg chg="add mod">
          <ac:chgData name="Prazyan, Levon" userId="ed024b0e-4a1a-418a-8ca0-755e149680c9" providerId="ADAL" clId="{4A4D12F4-25F0-4DC3-8755-13CF4EFB28EA}" dt="2026-03-16T16:28:21.870" v="191" actId="1076"/>
          <ac:picMkLst>
            <pc:docMk/>
            <pc:sldMk cId="2327052209" sldId="4823"/>
            <ac:picMk id="1026" creationId="{D4101CB1-1501-8291-8EE5-B0050389D411}"/>
          </ac:picMkLst>
        </pc:picChg>
        <pc:picChg chg="add mod">
          <ac:chgData name="Prazyan, Levon" userId="ed024b0e-4a1a-418a-8ca0-755e149680c9" providerId="ADAL" clId="{4A4D12F4-25F0-4DC3-8755-13CF4EFB28EA}" dt="2026-03-16T17:12:51.895" v="220" actId="1076"/>
          <ac:picMkLst>
            <pc:docMk/>
            <pc:sldMk cId="2327052209" sldId="4823"/>
            <ac:picMk id="1028" creationId="{85AA3A0C-6448-298A-C84F-E5C560044FD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5" tIns="45718" rIns="91435" bIns="45718"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35" tIns="45718" rIns="91435" bIns="45718" rtlCol="0"/>
          <a:lstStyle>
            <a:lvl1pPr algn="r">
              <a:defRPr sz="1200"/>
            </a:lvl1pPr>
          </a:lstStyle>
          <a:p>
            <a:fld id="{D0DB5702-F164-4492-9EF6-882193065F88}" type="datetimeFigureOut">
              <a:rPr lang="en-US" smtClean="0"/>
              <a:t>3/23/2026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35" tIns="45718" rIns="91435" bIns="45718"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5" tIns="45718" rIns="91435" bIns="4571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4"/>
            <a:ext cx="2971800" cy="458787"/>
          </a:xfrm>
          <a:prstGeom prst="rect">
            <a:avLst/>
          </a:prstGeom>
        </p:spPr>
        <p:txBody>
          <a:bodyPr vert="horz" lIns="91435" tIns="45718" rIns="91435" bIns="45718"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4"/>
            <a:ext cx="2971800" cy="458787"/>
          </a:xfrm>
          <a:prstGeom prst="rect">
            <a:avLst/>
          </a:prstGeom>
        </p:spPr>
        <p:txBody>
          <a:bodyPr vert="horz" lIns="91435" tIns="45718" rIns="91435" bIns="45718" rtlCol="0" anchor="b"/>
          <a:lstStyle>
            <a:lvl1pPr algn="r">
              <a:defRPr sz="1200"/>
            </a:lvl1pPr>
          </a:lstStyle>
          <a:p>
            <a:fld id="{BD22A58C-8E2F-4CF4-BCC2-14D73B27F336}" type="slidenum">
              <a:rPr lang="en-US" smtClean="0"/>
              <a:t>‹#›</a:t>
            </a:fld>
            <a:endParaRPr lang="en-US" dirty="0"/>
          </a:p>
        </p:txBody>
      </p:sp>
    </p:spTree>
    <p:extLst>
      <p:ext uri="{BB962C8B-B14F-4D97-AF65-F5344CB8AC3E}">
        <p14:creationId xmlns:p14="http://schemas.microsoft.com/office/powerpoint/2010/main" val="780355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Richard Bellman</a:t>
            </a:r>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was interested in naming… but the Secretary of Defense had a pathological fear and hatred of the word ‘research’. I therefore chose the word </a:t>
            </a:r>
            <a:r>
              <a:rPr lang="en-US" i="1" dirty="0"/>
              <a:t>programming</a:t>
            </a:r>
            <a:r>
              <a:rPr lang="en-US" dirty="0"/>
              <a:t>. I wanted to get across the idea that this was dynamic, multi-stage decision making.”</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Charles Erwin Wilson</a:t>
            </a:r>
          </a:p>
          <a:p>
            <a:r>
              <a:rPr lang="en-US" sz="1200" b="0" i="0" kern="1200" dirty="0">
                <a:solidFill>
                  <a:schemeClr val="tx1"/>
                </a:solidFill>
                <a:effectLst/>
                <a:latin typeface="+mn-lt"/>
                <a:ea typeface="+mn-ea"/>
                <a:cs typeface="+mn-cs"/>
              </a:rPr>
              <a:t>Charles Erwin Wilson (1890–1961) was an American engineer, businessman, and government official who served as U.S. Secretary of Defense from 1953 to 1957 under President Dwight D. Eisenhower. Nicknamed “Engine Charlie,” he was best known for his prior leadership of General Motors and his remark linking the company’s success to that of the nation.</a:t>
            </a:r>
          </a:p>
          <a:p>
            <a:endParaRPr lang="en-US" dirty="0"/>
          </a:p>
          <a:p>
            <a:r>
              <a:rPr lang="en-US" sz="1200" b="1" i="0" kern="1200">
                <a:solidFill>
                  <a:schemeClr val="tx1"/>
                </a:solidFill>
                <a:effectLst/>
                <a:latin typeface="+mn-lt"/>
                <a:ea typeface="+mn-ea"/>
                <a:cs typeface="+mn-cs"/>
              </a:rPr>
              <a:t>It's neither "dynamic" nor "programming" in the modern sense</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3</a:t>
            </a:fld>
            <a:endParaRPr lang="en-US" dirty="0"/>
          </a:p>
        </p:txBody>
      </p:sp>
    </p:spTree>
    <p:extLst>
      <p:ext uri="{BB962C8B-B14F-4D97-AF65-F5344CB8AC3E}">
        <p14:creationId xmlns:p14="http://schemas.microsoft.com/office/powerpoint/2010/main" val="2613686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25BE4-0C5A-A6EF-8B4C-48DB8E0811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2E624-41DC-980A-01B4-71115F32C7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D3632B-09FD-C311-1ABC-067AA1D19953}"/>
              </a:ext>
            </a:extLst>
          </p:cNvPr>
          <p:cNvSpPr>
            <a:spLocks noGrp="1"/>
          </p:cNvSpPr>
          <p:nvPr>
            <p:ph type="body" idx="1"/>
          </p:nvPr>
        </p:nvSpPr>
        <p:spPr/>
        <p:txBody>
          <a:bodyPr/>
          <a:lstStyle/>
          <a:p>
            <a:pPr algn="l">
              <a:buNone/>
            </a:pPr>
            <a:r>
              <a:rPr lang="en-US" b="0" i="0" dirty="0">
                <a:solidFill>
                  <a:srgbClr val="C1C2C5"/>
                </a:solidFill>
                <a:effectLst/>
                <a:latin typeface="-apple-system"/>
              </a:rPr>
              <a:t>Unlike </a:t>
            </a:r>
            <a:r>
              <a:rPr lang="en-US" b="1" i="0" dirty="0">
                <a:solidFill>
                  <a:srgbClr val="C1C2C5"/>
                </a:solidFill>
                <a:effectLst/>
                <a:latin typeface="-apple-system"/>
              </a:rPr>
              <a:t>divide-and-conquer</a:t>
            </a:r>
            <a:r>
              <a:rPr lang="en-US" b="0" i="0" dirty="0">
                <a:solidFill>
                  <a:srgbClr val="C1C2C5"/>
                </a:solidFill>
                <a:effectLst/>
                <a:latin typeface="-apple-system"/>
              </a:rPr>
              <a:t> approach, the </a:t>
            </a:r>
            <a:r>
              <a:rPr lang="en-US" b="1" i="0" dirty="0">
                <a:solidFill>
                  <a:srgbClr val="C1C2C5"/>
                </a:solidFill>
                <a:effectLst/>
                <a:latin typeface="-apple-system"/>
              </a:rPr>
              <a:t>dynamic programming </a:t>
            </a:r>
            <a:r>
              <a:rPr lang="en-US" b="0" i="0" dirty="0">
                <a:solidFill>
                  <a:srgbClr val="C1C2C5"/>
                </a:solidFill>
                <a:effectLst/>
                <a:latin typeface="-apple-system"/>
              </a:rPr>
              <a:t>share solution of subproblems</a:t>
            </a:r>
          </a:p>
          <a:p>
            <a:endParaRPr lang="en-US" dirty="0"/>
          </a:p>
        </p:txBody>
      </p:sp>
      <p:sp>
        <p:nvSpPr>
          <p:cNvPr id="4" name="Slide Number Placeholder 3">
            <a:extLst>
              <a:ext uri="{FF2B5EF4-FFF2-40B4-BE49-F238E27FC236}">
                <a16:creationId xmlns:a16="http://schemas.microsoft.com/office/drawing/2014/main" id="{9C03638F-6FFB-CB52-6595-669A03361196}"/>
              </a:ext>
            </a:extLst>
          </p:cNvPr>
          <p:cNvSpPr>
            <a:spLocks noGrp="1"/>
          </p:cNvSpPr>
          <p:nvPr>
            <p:ph type="sldNum" sz="quarter" idx="5"/>
          </p:nvPr>
        </p:nvSpPr>
        <p:spPr/>
        <p:txBody>
          <a:bodyPr/>
          <a:lstStyle/>
          <a:p>
            <a:fld id="{BD22A58C-8E2F-4CF4-BCC2-14D73B27F336}" type="slidenum">
              <a:rPr lang="en-US" smtClean="0"/>
              <a:t>4</a:t>
            </a:fld>
            <a:endParaRPr lang="en-US" dirty="0"/>
          </a:p>
        </p:txBody>
      </p:sp>
    </p:spTree>
    <p:extLst>
      <p:ext uri="{BB962C8B-B14F-4D97-AF65-F5344CB8AC3E}">
        <p14:creationId xmlns:p14="http://schemas.microsoft.com/office/powerpoint/2010/main" val="3862970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endParaRPr lang="en-US" b="1" i="0" dirty="0">
              <a:solidFill>
                <a:srgbClr val="C1C2C5"/>
              </a:solidFill>
              <a:effectLst/>
              <a:latin typeface="-apple-system"/>
            </a:endParaRPr>
          </a:p>
          <a:p>
            <a:r>
              <a:rPr lang="en-US" dirty="0"/>
              <a:t>A classic example of a problem that does not exhibit optimal substructure is the Traveling Salesman Problem (TSP) under certain conditions</a:t>
            </a:r>
          </a:p>
          <a:p>
            <a:r>
              <a:rPr lang="en-US" dirty="0"/>
              <a:t>Traveling Salesman Problem:</a:t>
            </a:r>
          </a:p>
          <a:p>
            <a:r>
              <a:rPr lang="en-US" b="1" dirty="0"/>
              <a:t>Problem Statement</a:t>
            </a:r>
            <a:r>
              <a:rPr lang="en-US" dirty="0"/>
              <a:t>: Given a list of cities and the distances between every pair of cities, the task is to find the shortest possible route that visits each city exactly once and returns to the original city.</a:t>
            </a:r>
          </a:p>
          <a:p>
            <a:endParaRPr lang="en-US" dirty="0"/>
          </a:p>
          <a:p>
            <a:r>
              <a:rPr lang="en-US" b="1" dirty="0"/>
              <a:t>Why Optimal Substructure is Not Applicable:</a:t>
            </a:r>
          </a:p>
          <a:p>
            <a:r>
              <a:rPr lang="en-US" dirty="0"/>
              <a:t>Global Nature: The TSP requires considering the entire set of cities simultaneously to ensure that the chosen path is globally optimal. This means the optimal path from city A to B doesn't necessarily lead to an optimal solution for the entire problem.</a:t>
            </a:r>
          </a:p>
          <a:p>
            <a:endParaRPr lang="en-US" dirty="0"/>
          </a:p>
          <a:p>
            <a:r>
              <a:rPr lang="en-US" dirty="0"/>
              <a:t>Subset Solutions May Not Combine: Unlike problems with optimal substructure, solving a subset of the cities optimally doesn't guarantee that adding another city will lead to a globally optimal solution. For example, choosing the shortest path through a subset of cities may result in an infeasible or suboptimal path when additional cities are added.</a:t>
            </a:r>
          </a:p>
          <a:p>
            <a:endParaRPr lang="en-US" dirty="0"/>
          </a:p>
          <a:p>
            <a:r>
              <a:rPr lang="en-US" dirty="0"/>
              <a:t>Dynamic Connections: Each city's role changes based on previous and subsequent cities, meaning the "optimal connections" are heavily dependent on the complete context of the path.</a:t>
            </a:r>
          </a:p>
        </p:txBody>
      </p:sp>
      <p:sp>
        <p:nvSpPr>
          <p:cNvPr id="4" name="Slide Number Placeholder 3"/>
          <p:cNvSpPr>
            <a:spLocks noGrp="1"/>
          </p:cNvSpPr>
          <p:nvPr>
            <p:ph type="sldNum" sz="quarter" idx="5"/>
          </p:nvPr>
        </p:nvSpPr>
        <p:spPr/>
        <p:txBody>
          <a:bodyPr/>
          <a:lstStyle/>
          <a:p>
            <a:fld id="{BD22A58C-8E2F-4CF4-BCC2-14D73B27F336}" type="slidenum">
              <a:rPr lang="en-US" smtClean="0"/>
              <a:t>5</a:t>
            </a:fld>
            <a:endParaRPr lang="en-US" dirty="0"/>
          </a:p>
        </p:txBody>
      </p:sp>
    </p:spTree>
    <p:extLst>
      <p:ext uri="{BB962C8B-B14F-4D97-AF65-F5344CB8AC3E}">
        <p14:creationId xmlns:p14="http://schemas.microsoft.com/office/powerpoint/2010/main" val="2225437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C1C2C5"/>
                </a:solidFill>
                <a:effectLst/>
                <a:latin typeface="-apple-system"/>
              </a:rPr>
              <a:t>Memoization vs. Tabulation</a:t>
            </a:r>
            <a:r>
              <a:rPr lang="en-US" b="0" i="0" dirty="0">
                <a:solidFill>
                  <a:srgbClr val="C1C2C5"/>
                </a:solidFill>
                <a:effectLst/>
                <a:latin typeface="-apple-system"/>
              </a:rPr>
              <a:t>:</a:t>
            </a:r>
          </a:p>
          <a:p>
            <a:pPr marL="742909" lvl="1" indent="-285734">
              <a:buFont typeface="+mj-lt"/>
              <a:buAutoNum type="arabicPeriod"/>
            </a:pPr>
            <a:r>
              <a:rPr lang="en-US" b="1" i="0" dirty="0">
                <a:solidFill>
                  <a:srgbClr val="C1C2C5"/>
                </a:solidFill>
                <a:effectLst/>
                <a:latin typeface="-apple-system"/>
              </a:rPr>
              <a:t>Memoization</a:t>
            </a:r>
            <a:r>
              <a:rPr lang="en-US" b="0" i="0" dirty="0">
                <a:solidFill>
                  <a:srgbClr val="C1C2C5"/>
                </a:solidFill>
                <a:effectLst/>
                <a:latin typeface="-apple-system"/>
              </a:rPr>
              <a:t>: This is a top-down approach. You recursively solve the subproblems and store their results in a data structure (typically an array or hash table). If you encounter the same subproblem again, you use the stored result instead of recomputing it.</a:t>
            </a:r>
          </a:p>
          <a:p>
            <a:pPr marL="742909" lvl="1" indent="-285734">
              <a:buFont typeface="+mj-lt"/>
              <a:buAutoNum type="arabicPeriod"/>
            </a:pPr>
            <a:r>
              <a:rPr lang="en-US" b="1" i="0" dirty="0">
                <a:solidFill>
                  <a:srgbClr val="C1C2C5"/>
                </a:solidFill>
                <a:effectLst/>
                <a:latin typeface="-apple-system"/>
              </a:rPr>
              <a:t>Tabulation</a:t>
            </a:r>
            <a:r>
              <a:rPr lang="en-US" b="0" i="0" dirty="0">
                <a:solidFill>
                  <a:srgbClr val="C1C2C5"/>
                </a:solidFill>
                <a:effectLst/>
                <a:latin typeface="-apple-system"/>
              </a:rPr>
              <a:t>: This is a bottom-up approach. You iteratively solve all subproblems starting from the smallest one, and build up to the solution of the entire problem by storing intermediate results in a table.</a:t>
            </a:r>
          </a:p>
          <a:p>
            <a:pPr algn="l">
              <a:buFont typeface="+mj-lt"/>
              <a:buAutoNum type="arabicPeriod"/>
            </a:pPr>
            <a:r>
              <a:rPr lang="en-US" b="1" i="0" dirty="0">
                <a:solidFill>
                  <a:srgbClr val="C1C2C5"/>
                </a:solidFill>
                <a:effectLst/>
                <a:latin typeface="-apple-system"/>
              </a:rPr>
              <a:t>Examples</a:t>
            </a:r>
            <a:r>
              <a:rPr lang="en-US" b="0" i="0" dirty="0">
                <a:solidFill>
                  <a:srgbClr val="C1C2C5"/>
                </a:solidFill>
                <a:effectLst/>
                <a:latin typeface="-apple-system"/>
              </a:rPr>
              <a:t>:</a:t>
            </a:r>
          </a:p>
          <a:p>
            <a:pPr marL="742909" lvl="1" indent="-285734">
              <a:buFont typeface="+mj-lt"/>
              <a:buAutoNum type="arabicPeriod"/>
            </a:pPr>
            <a:r>
              <a:rPr lang="en-US" b="1" i="0" dirty="0">
                <a:solidFill>
                  <a:srgbClr val="C1C2C5"/>
                </a:solidFill>
                <a:effectLst/>
                <a:latin typeface="-apple-system"/>
              </a:rPr>
              <a:t>Fibonacci Sequence</a:t>
            </a:r>
            <a:r>
              <a:rPr lang="en-US" b="0" i="0" dirty="0">
                <a:solidFill>
                  <a:srgbClr val="C1C2C5"/>
                </a:solidFill>
                <a:effectLst/>
                <a:latin typeface="-apple-system"/>
              </a:rPr>
              <a:t>: Calculating Fibonacci numbers is a classic example where dynamic programming can significantly speed up computation by avoiding redundant calculations.</a:t>
            </a:r>
          </a:p>
          <a:p>
            <a:pPr marL="742909" lvl="1" indent="-285734">
              <a:buFont typeface="+mj-lt"/>
              <a:buAutoNum type="arabicPeriod"/>
            </a:pPr>
            <a:r>
              <a:rPr lang="en-US" b="1" i="0" dirty="0">
                <a:solidFill>
                  <a:srgbClr val="C1C2C5"/>
                </a:solidFill>
                <a:effectLst/>
                <a:latin typeface="-apple-system"/>
              </a:rPr>
              <a:t>Knapsack Problem</a:t>
            </a:r>
            <a:r>
              <a:rPr lang="en-US" b="0" i="0" dirty="0">
                <a:solidFill>
                  <a:srgbClr val="C1C2C5"/>
                </a:solidFill>
                <a:effectLst/>
                <a:latin typeface="-apple-system"/>
              </a:rPr>
              <a:t>: A classic optimization problem where you determine the maximum value of items that can be packed into a knapsack with capacity constraints.</a:t>
            </a:r>
          </a:p>
          <a:p>
            <a:pPr marL="742909" lvl="1" indent="-285734">
              <a:buFont typeface="+mj-lt"/>
              <a:buAutoNum type="arabicPeriod"/>
            </a:pPr>
            <a:r>
              <a:rPr lang="en-US" b="1" i="0" dirty="0">
                <a:solidFill>
                  <a:srgbClr val="C1C2C5"/>
                </a:solidFill>
                <a:effectLst/>
                <a:latin typeface="-apple-system"/>
              </a:rPr>
              <a:t>Shortest Path Algorithms</a:t>
            </a:r>
            <a:r>
              <a:rPr lang="en-US" b="0" i="0" dirty="0">
                <a:solidFill>
                  <a:srgbClr val="C1C2C5"/>
                </a:solidFill>
                <a:effectLst/>
                <a:latin typeface="-apple-system"/>
              </a:rPr>
              <a:t>: Algorithms like Floyd-</a:t>
            </a:r>
            <a:r>
              <a:rPr lang="en-US" b="0" i="0" dirty="0" err="1">
                <a:solidFill>
                  <a:srgbClr val="C1C2C5"/>
                </a:solidFill>
                <a:effectLst/>
                <a:latin typeface="-apple-system"/>
              </a:rPr>
              <a:t>Warshall</a:t>
            </a:r>
            <a:r>
              <a:rPr lang="en-US" b="0" i="0" dirty="0">
                <a:solidFill>
                  <a:srgbClr val="C1C2C5"/>
                </a:solidFill>
                <a:effectLst/>
                <a:latin typeface="-apple-system"/>
              </a:rPr>
              <a:t> for finding shortest paths in weighted graphs use dynamic programming principles.</a:t>
            </a:r>
          </a:p>
          <a:p>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6</a:t>
            </a:fld>
            <a:endParaRPr lang="en-US" dirty="0"/>
          </a:p>
        </p:txBody>
      </p:sp>
    </p:spTree>
    <p:extLst>
      <p:ext uri="{BB962C8B-B14F-4D97-AF65-F5344CB8AC3E}">
        <p14:creationId xmlns:p14="http://schemas.microsoft.com/office/powerpoint/2010/main" val="4215385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a:fld id="{825F15A7-03F4-43D7-82C5-3E23DA2F108C}" type="mathplaceholder">
                        <a:rPr lang="en-US" i="1" smtClean="0">
                          <a:latin typeface="Cambria Math" panose="02040503050406030204" pitchFamily="18" charset="0"/>
                        </a:rPr>
                        <a:t>Type equation here.</a:t>
                      </a:fld>
                    </m:oMath>
                  </m:oMathPara>
                </a14:m>
                <a:endParaRPr lang="en-US" dirty="0"/>
              </a:p>
            </p:txBody>
          </p:sp>
        </mc:Choice>
        <mc:Fallback xmlns="">
          <p:sp>
            <p:nvSpPr>
              <p:cNvPr id="3" name="Notes Placeholder 2"/>
              <p:cNvSpPr>
                <a:spLocks noGrp="1"/>
              </p:cNvSpPr>
              <p:nvPr>
                <p:ph type="body" idx="1"/>
              </p:nvPr>
            </p:nvSpPr>
            <p:spPr/>
            <p:txBody>
              <a:bodyPr/>
              <a:lstStyle/>
              <a:p>
                <a:r>
                  <a:rPr lang="en-US" i="0">
                    <a:latin typeface="Cambria Math" panose="02040503050406030204" pitchFamily="18" charset="0"/>
                  </a:rPr>
                  <a:t>"Type equation here."</a:t>
                </a:r>
                <a:endParaRPr lang="en-US" dirty="0"/>
              </a:p>
            </p:txBody>
          </p:sp>
        </mc:Fallback>
      </mc:AlternateContent>
      <p:sp>
        <p:nvSpPr>
          <p:cNvPr id="4" name="Slide Number Placeholder 3"/>
          <p:cNvSpPr>
            <a:spLocks noGrp="1"/>
          </p:cNvSpPr>
          <p:nvPr>
            <p:ph type="sldNum" sz="quarter" idx="5"/>
          </p:nvPr>
        </p:nvSpPr>
        <p:spPr/>
        <p:txBody>
          <a:bodyPr/>
          <a:lstStyle/>
          <a:p>
            <a:fld id="{BD22A58C-8E2F-4CF4-BCC2-14D73B27F336}" type="slidenum">
              <a:rPr lang="en-US" smtClean="0"/>
              <a:t>7</a:t>
            </a:fld>
            <a:endParaRPr lang="en-US" dirty="0"/>
          </a:p>
        </p:txBody>
      </p:sp>
    </p:spTree>
    <p:extLst>
      <p:ext uri="{BB962C8B-B14F-4D97-AF65-F5344CB8AC3E}">
        <p14:creationId xmlns:p14="http://schemas.microsoft.com/office/powerpoint/2010/main" val="718281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a:fld id="{825F15A7-03F4-43D7-82C5-3E23DA2F108C}" type="mathplaceholder">
                        <a:rPr lang="en-US" i="1" smtClean="0">
                          <a:latin typeface="Cambria Math" panose="02040503050406030204" pitchFamily="18" charset="0"/>
                        </a:rPr>
                        <a:t>Type equation here.</a:t>
                      </a:fld>
                    </m:oMath>
                  </m:oMathPara>
                </a14:m>
                <a:endParaRPr lang="en-US" dirty="0"/>
              </a:p>
            </p:txBody>
          </p:sp>
        </mc:Choice>
        <mc:Fallback xmlns="">
          <p:sp>
            <p:nvSpPr>
              <p:cNvPr id="3" name="Notes Placeholder 2"/>
              <p:cNvSpPr>
                <a:spLocks noGrp="1"/>
              </p:cNvSpPr>
              <p:nvPr>
                <p:ph type="body" idx="1"/>
              </p:nvPr>
            </p:nvSpPr>
            <p:spPr/>
            <p:txBody>
              <a:bodyPr/>
              <a:lstStyle/>
              <a:p>
                <a:r>
                  <a:rPr lang="en-US" i="0">
                    <a:latin typeface="Cambria Math" panose="02040503050406030204" pitchFamily="18" charset="0"/>
                  </a:rPr>
                  <a:t>"Type equation here."</a:t>
                </a:r>
                <a:endParaRPr lang="en-US" dirty="0"/>
              </a:p>
            </p:txBody>
          </p:sp>
        </mc:Fallback>
      </mc:AlternateContent>
      <p:sp>
        <p:nvSpPr>
          <p:cNvPr id="4" name="Slide Number Placeholder 3"/>
          <p:cNvSpPr>
            <a:spLocks noGrp="1"/>
          </p:cNvSpPr>
          <p:nvPr>
            <p:ph type="sldNum" sz="quarter" idx="5"/>
          </p:nvPr>
        </p:nvSpPr>
        <p:spPr/>
        <p:txBody>
          <a:bodyPr/>
          <a:lstStyle/>
          <a:p>
            <a:fld id="{BD22A58C-8E2F-4CF4-BCC2-14D73B27F336}" type="slidenum">
              <a:rPr lang="en-US" smtClean="0"/>
              <a:t>9</a:t>
            </a:fld>
            <a:endParaRPr lang="en-US" dirty="0"/>
          </a:p>
        </p:txBody>
      </p:sp>
    </p:spTree>
    <p:extLst>
      <p:ext uri="{BB962C8B-B14F-4D97-AF65-F5344CB8AC3E}">
        <p14:creationId xmlns:p14="http://schemas.microsoft.com/office/powerpoint/2010/main" val="15284975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Memoization</a:t>
            </a:r>
          </a:p>
        </p:txBody>
      </p:sp>
      <p:sp>
        <p:nvSpPr>
          <p:cNvPr id="4" name="Slide Number Placeholder 3"/>
          <p:cNvSpPr>
            <a:spLocks noGrp="1"/>
          </p:cNvSpPr>
          <p:nvPr>
            <p:ph type="sldNum" sz="quarter" idx="5"/>
          </p:nvPr>
        </p:nvSpPr>
        <p:spPr/>
        <p:txBody>
          <a:bodyPr/>
          <a:lstStyle/>
          <a:p>
            <a:fld id="{BD22A58C-8E2F-4CF4-BCC2-14D73B27F336}" type="slidenum">
              <a:rPr lang="en-US" smtClean="0"/>
              <a:t>15</a:t>
            </a:fld>
            <a:endParaRPr lang="en-US" dirty="0"/>
          </a:p>
        </p:txBody>
      </p:sp>
    </p:spTree>
    <p:extLst>
      <p:ext uri="{BB962C8B-B14F-4D97-AF65-F5344CB8AC3E}">
        <p14:creationId xmlns:p14="http://schemas.microsoft.com/office/powerpoint/2010/main" val="1220474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dirty="0">
                <a:solidFill>
                  <a:srgbClr val="C1C2C5"/>
                </a:solidFill>
                <a:effectLst/>
                <a:latin typeface="-apple-system"/>
              </a:rPr>
              <a:t>Time Complexity:</a:t>
            </a:r>
          </a:p>
          <a:p>
            <a:pPr algn="l">
              <a:buFont typeface="Arial" panose="020B0604020202020204" pitchFamily="34" charset="0"/>
              <a:buChar char="•"/>
            </a:pPr>
            <a:r>
              <a:rPr lang="en-US" b="1" i="0" dirty="0">
                <a:solidFill>
                  <a:srgbClr val="C1C2C5"/>
                </a:solidFill>
                <a:effectLst/>
                <a:latin typeface="-apple-system"/>
              </a:rPr>
              <a:t>Description</a:t>
            </a:r>
            <a:r>
              <a:rPr lang="en-US" b="0" i="0" dirty="0">
                <a:solidFill>
                  <a:srgbClr val="C1C2C5"/>
                </a:solidFill>
                <a:effectLst/>
                <a:latin typeface="-apple-system"/>
              </a:rPr>
              <a:t>:</a:t>
            </a:r>
          </a:p>
          <a:p>
            <a:pPr marL="742909" lvl="1" indent="-285734">
              <a:buFont typeface="Arial" panose="020B0604020202020204" pitchFamily="34" charset="0"/>
              <a:buChar char="•"/>
            </a:pPr>
            <a:r>
              <a:rPr lang="en-US" b="0" i="0" dirty="0">
                <a:solidFill>
                  <a:srgbClr val="C1C2C5"/>
                </a:solidFill>
                <a:effectLst/>
                <a:latin typeface="-apple-system"/>
              </a:rPr>
              <a:t>The </a:t>
            </a:r>
            <a:r>
              <a:rPr lang="en-US" b="0" i="0" dirty="0" err="1">
                <a:solidFill>
                  <a:srgbClr val="C1C2C5"/>
                </a:solidFill>
                <a:effectLst/>
                <a:latin typeface="-apple-system"/>
              </a:rPr>
              <a:t>memoization</a:t>
            </a:r>
            <a:r>
              <a:rPr lang="en-US" b="0" i="0" dirty="0">
                <a:solidFill>
                  <a:srgbClr val="C1C2C5"/>
                </a:solidFill>
                <a:effectLst/>
                <a:latin typeface="-apple-system"/>
              </a:rPr>
              <a:t> approach explores each amount recursively and stores results to avoid redundant calculations.</a:t>
            </a:r>
          </a:p>
          <a:p>
            <a:pPr marL="742909" lvl="1" indent="-285734">
              <a:buFont typeface="Arial" panose="020B0604020202020204" pitchFamily="34" charset="0"/>
              <a:buChar char="•"/>
            </a:pPr>
            <a:r>
              <a:rPr lang="en-US" b="0" i="0" dirty="0">
                <a:solidFill>
                  <a:srgbClr val="C1C2C5"/>
                </a:solidFill>
                <a:effectLst/>
                <a:latin typeface="-apple-system"/>
              </a:rPr>
              <a:t>For each amount, the function potentially checks all coin denominations.</a:t>
            </a:r>
          </a:p>
          <a:p>
            <a:pPr algn="l">
              <a:buFont typeface="Arial" panose="020B0604020202020204" pitchFamily="34" charset="0"/>
              <a:buChar char="•"/>
            </a:pPr>
            <a:r>
              <a:rPr lang="en-US" b="1" i="0" dirty="0">
                <a:solidFill>
                  <a:srgbClr val="C1C2C5"/>
                </a:solidFill>
                <a:effectLst/>
                <a:latin typeface="-apple-system"/>
              </a:rPr>
              <a:t>Complexity</a:t>
            </a:r>
            <a:r>
              <a:rPr lang="en-US" b="0" i="0" dirty="0">
                <a:solidFill>
                  <a:srgbClr val="C1C2C5"/>
                </a:solidFill>
                <a:effectLst/>
                <a:latin typeface="-apple-system"/>
              </a:rPr>
              <a:t>:</a:t>
            </a:r>
          </a:p>
          <a:p>
            <a:pPr marL="742909" lvl="1" indent="-285734">
              <a:buFont typeface="Arial" panose="020B0604020202020204" pitchFamily="34" charset="0"/>
              <a:buChar char="•"/>
            </a:pPr>
            <a:r>
              <a:rPr lang="en-US" b="0" i="0" dirty="0">
                <a:solidFill>
                  <a:srgbClr val="C1C2C5"/>
                </a:solidFill>
                <a:effectLst/>
                <a:latin typeface="-apple-system"/>
              </a:rPr>
              <a:t>The worst-case time complexity can be O(amount * </a:t>
            </a:r>
            <a:r>
              <a:rPr lang="en-US" b="0" i="0" dirty="0" err="1">
                <a:solidFill>
                  <a:srgbClr val="C1C2C5"/>
                </a:solidFill>
                <a:effectLst/>
                <a:latin typeface="-apple-system"/>
              </a:rPr>
              <a:t>num_coins</a:t>
            </a:r>
            <a:r>
              <a:rPr lang="en-US" b="0" i="0" dirty="0">
                <a:solidFill>
                  <a:srgbClr val="C1C2C5"/>
                </a:solidFill>
                <a:effectLst/>
                <a:latin typeface="-apple-system"/>
              </a:rPr>
              <a:t>). This results from every subproblem (up to amount) needing to check all coins, though </a:t>
            </a:r>
            <a:r>
              <a:rPr lang="en-US" b="0" i="0" dirty="0" err="1">
                <a:solidFill>
                  <a:srgbClr val="C1C2C5"/>
                </a:solidFill>
                <a:effectLst/>
                <a:latin typeface="-apple-system"/>
              </a:rPr>
              <a:t>memoization</a:t>
            </a:r>
            <a:r>
              <a:rPr lang="en-US" b="0" i="0" dirty="0">
                <a:solidFill>
                  <a:srgbClr val="C1C2C5"/>
                </a:solidFill>
                <a:effectLst/>
                <a:latin typeface="-apple-system"/>
              </a:rPr>
              <a:t> should reduce actual calculations by storing results.</a:t>
            </a:r>
          </a:p>
          <a:p>
            <a:pPr algn="l">
              <a:buNone/>
            </a:pPr>
            <a:r>
              <a:rPr lang="en-US" b="1" i="0" dirty="0">
                <a:solidFill>
                  <a:srgbClr val="C1C2C5"/>
                </a:solidFill>
                <a:effectLst/>
                <a:latin typeface="-apple-system"/>
              </a:rPr>
              <a:t>Space Complexity:</a:t>
            </a:r>
          </a:p>
          <a:p>
            <a:pPr algn="l">
              <a:buFont typeface="Arial" panose="020B0604020202020204" pitchFamily="34" charset="0"/>
              <a:buChar char="•"/>
            </a:pPr>
            <a:r>
              <a:rPr lang="en-US" b="1" i="0" dirty="0">
                <a:solidFill>
                  <a:srgbClr val="C1C2C5"/>
                </a:solidFill>
                <a:effectLst/>
                <a:latin typeface="-apple-system"/>
              </a:rPr>
              <a:t>Description</a:t>
            </a:r>
            <a:r>
              <a:rPr lang="en-US" b="0" i="0" dirty="0">
                <a:solidFill>
                  <a:srgbClr val="C1C2C5"/>
                </a:solidFill>
                <a:effectLst/>
                <a:latin typeface="-apple-system"/>
              </a:rPr>
              <a:t>:</a:t>
            </a:r>
          </a:p>
          <a:p>
            <a:pPr marL="742909" lvl="1" indent="-285734">
              <a:buFont typeface="Arial" panose="020B0604020202020204" pitchFamily="34" charset="0"/>
              <a:buChar char="•"/>
            </a:pPr>
            <a:r>
              <a:rPr lang="en-US" b="0" i="0" dirty="0">
                <a:solidFill>
                  <a:srgbClr val="C1C2C5"/>
                </a:solidFill>
                <a:effectLst/>
                <a:latin typeface="-apple-system"/>
              </a:rPr>
              <a:t>A </a:t>
            </a:r>
            <a:r>
              <a:rPr lang="en-US" b="0" i="0" dirty="0" err="1">
                <a:solidFill>
                  <a:srgbClr val="C1C2C5"/>
                </a:solidFill>
                <a:effectLst/>
                <a:latin typeface="-apple-system"/>
              </a:rPr>
              <a:t>memoization</a:t>
            </a:r>
            <a:r>
              <a:rPr lang="en-US" b="0" i="0" dirty="0">
                <a:solidFill>
                  <a:srgbClr val="C1C2C5"/>
                </a:solidFill>
                <a:effectLst/>
                <a:latin typeface="-apple-system"/>
              </a:rPr>
              <a:t> table (vector) of size amount + 1 is used to cache computed results.</a:t>
            </a:r>
          </a:p>
          <a:p>
            <a:pPr marL="742909" lvl="1" indent="-285734">
              <a:buFont typeface="Arial" panose="020B0604020202020204" pitchFamily="34" charset="0"/>
              <a:buChar char="•"/>
            </a:pPr>
            <a:r>
              <a:rPr lang="en-US" b="0" i="0" dirty="0">
                <a:solidFill>
                  <a:srgbClr val="C1C2C5"/>
                </a:solidFill>
                <a:effectLst/>
                <a:latin typeface="-apple-system"/>
              </a:rPr>
              <a:t>The recursive call stack can grow until it uses memory proportional to amount.</a:t>
            </a:r>
          </a:p>
          <a:p>
            <a:pPr algn="l">
              <a:buFont typeface="Arial" panose="020B0604020202020204" pitchFamily="34" charset="0"/>
              <a:buChar char="•"/>
            </a:pPr>
            <a:r>
              <a:rPr lang="en-US" b="1" i="0" dirty="0">
                <a:solidFill>
                  <a:srgbClr val="C1C2C5"/>
                </a:solidFill>
                <a:effectLst/>
                <a:latin typeface="-apple-system"/>
              </a:rPr>
              <a:t>Complexity</a:t>
            </a:r>
            <a:r>
              <a:rPr lang="en-US" b="0" i="0" dirty="0">
                <a:solidFill>
                  <a:srgbClr val="C1C2C5"/>
                </a:solidFill>
                <a:effectLst/>
                <a:latin typeface="-apple-system"/>
              </a:rPr>
              <a:t>:</a:t>
            </a:r>
          </a:p>
          <a:p>
            <a:pPr marL="742909" lvl="1" indent="-285734">
              <a:buFont typeface="Arial" panose="020B0604020202020204" pitchFamily="34" charset="0"/>
              <a:buChar char="•"/>
            </a:pPr>
            <a:r>
              <a:rPr lang="en-US" b="0" i="0" dirty="0">
                <a:solidFill>
                  <a:srgbClr val="C1C2C5"/>
                </a:solidFill>
                <a:effectLst/>
                <a:latin typeface="-apple-system"/>
              </a:rPr>
              <a:t>O(amount) due to the </a:t>
            </a:r>
            <a:r>
              <a:rPr lang="en-US" b="0" i="0" dirty="0" err="1">
                <a:solidFill>
                  <a:srgbClr val="C1C2C5"/>
                </a:solidFill>
                <a:effectLst/>
                <a:latin typeface="-apple-system"/>
              </a:rPr>
              <a:t>memoization</a:t>
            </a:r>
            <a:r>
              <a:rPr lang="en-US" b="0" i="0" dirty="0">
                <a:solidFill>
                  <a:srgbClr val="C1C2C5"/>
                </a:solidFill>
                <a:effectLst/>
                <a:latin typeface="-apple-system"/>
              </a:rPr>
              <a:t> table storing results for each subproblem. Additionally, the recursive depth of the call stack also contributes to the same factor.</a:t>
            </a:r>
          </a:p>
        </p:txBody>
      </p:sp>
      <p:sp>
        <p:nvSpPr>
          <p:cNvPr id="4" name="Slide Number Placeholder 3"/>
          <p:cNvSpPr>
            <a:spLocks noGrp="1"/>
          </p:cNvSpPr>
          <p:nvPr>
            <p:ph type="sldNum" sz="quarter" idx="5"/>
          </p:nvPr>
        </p:nvSpPr>
        <p:spPr/>
        <p:txBody>
          <a:bodyPr/>
          <a:lstStyle/>
          <a:p>
            <a:fld id="{BD22A58C-8E2F-4CF4-BCC2-14D73B27F336}" type="slidenum">
              <a:rPr lang="en-US" smtClean="0"/>
              <a:t>16</a:t>
            </a:fld>
            <a:endParaRPr lang="en-US" dirty="0"/>
          </a:p>
        </p:txBody>
      </p:sp>
    </p:spTree>
    <p:extLst>
      <p:ext uri="{BB962C8B-B14F-4D97-AF65-F5344CB8AC3E}">
        <p14:creationId xmlns:p14="http://schemas.microsoft.com/office/powerpoint/2010/main" val="2406708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2FC66-E139-793E-FF73-75F2EFA2A3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46931-154E-85F5-70D4-E212DCB0CD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7E5338-00C1-E964-7CC4-89E797267B39}"/>
              </a:ext>
            </a:extLst>
          </p:cNvPr>
          <p:cNvSpPr>
            <a:spLocks noGrp="1"/>
          </p:cNvSpPr>
          <p:nvPr>
            <p:ph type="body" idx="1"/>
          </p:nvPr>
        </p:nvSpPr>
        <p:spPr/>
        <p:txBody>
          <a:bodyPr/>
          <a:lstStyle/>
          <a:p>
            <a:pPr algn="l">
              <a:buNone/>
            </a:pPr>
            <a:r>
              <a:rPr lang="en-US" b="1" i="0" dirty="0">
                <a:solidFill>
                  <a:srgbClr val="C1C2C5"/>
                </a:solidFill>
                <a:effectLst/>
                <a:latin typeface="-apple-system"/>
              </a:rPr>
              <a:t>Time Complexity:</a:t>
            </a:r>
          </a:p>
          <a:p>
            <a:pPr algn="l">
              <a:buFont typeface="Arial" panose="020B0604020202020204" pitchFamily="34" charset="0"/>
              <a:buChar char="•"/>
            </a:pPr>
            <a:r>
              <a:rPr lang="en-US" b="1" i="0" dirty="0">
                <a:solidFill>
                  <a:srgbClr val="C1C2C5"/>
                </a:solidFill>
                <a:effectLst/>
                <a:latin typeface="-apple-system"/>
              </a:rPr>
              <a:t>Description</a:t>
            </a:r>
            <a:r>
              <a:rPr lang="en-US" b="0" i="0" dirty="0">
                <a:solidFill>
                  <a:srgbClr val="C1C2C5"/>
                </a:solidFill>
                <a:effectLst/>
                <a:latin typeface="-apple-system"/>
              </a:rPr>
              <a:t>:</a:t>
            </a:r>
          </a:p>
          <a:p>
            <a:pPr marL="742909" lvl="1" indent="-285734">
              <a:buFont typeface="Arial" panose="020B0604020202020204" pitchFamily="34" charset="0"/>
              <a:buChar char="•"/>
            </a:pPr>
            <a:r>
              <a:rPr lang="en-US" b="0" i="0" dirty="0">
                <a:solidFill>
                  <a:srgbClr val="C1C2C5"/>
                </a:solidFill>
                <a:effectLst/>
                <a:latin typeface="-apple-system"/>
              </a:rPr>
              <a:t>This approach involves iteratively building up solutions using a dynamic programming table.</a:t>
            </a:r>
          </a:p>
          <a:p>
            <a:pPr marL="742909" lvl="1" indent="-285734">
              <a:buFont typeface="Arial" panose="020B0604020202020204" pitchFamily="34" charset="0"/>
              <a:buChar char="•"/>
            </a:pPr>
            <a:r>
              <a:rPr lang="en-US" b="0" i="0" dirty="0">
                <a:solidFill>
                  <a:srgbClr val="C1C2C5"/>
                </a:solidFill>
                <a:effectLst/>
                <a:latin typeface="-apple-system"/>
              </a:rPr>
              <a:t>For each amount from 1 to amount, it checks all denominations.</a:t>
            </a:r>
          </a:p>
          <a:p>
            <a:pPr algn="l">
              <a:buFont typeface="Arial" panose="020B0604020202020204" pitchFamily="34" charset="0"/>
              <a:buChar char="•"/>
            </a:pPr>
            <a:r>
              <a:rPr lang="en-US" b="1" i="0" dirty="0">
                <a:solidFill>
                  <a:srgbClr val="C1C2C5"/>
                </a:solidFill>
                <a:effectLst/>
                <a:latin typeface="-apple-system"/>
              </a:rPr>
              <a:t>Complexity</a:t>
            </a:r>
            <a:r>
              <a:rPr lang="en-US" b="0" i="0" dirty="0">
                <a:solidFill>
                  <a:srgbClr val="C1C2C5"/>
                </a:solidFill>
                <a:effectLst/>
                <a:latin typeface="-apple-system"/>
              </a:rPr>
              <a:t>:</a:t>
            </a:r>
          </a:p>
          <a:p>
            <a:pPr marL="742909" lvl="1" indent="-285734">
              <a:buFont typeface="Arial" panose="020B0604020202020204" pitchFamily="34" charset="0"/>
              <a:buChar char="•"/>
            </a:pPr>
            <a:r>
              <a:rPr lang="en-US" b="0" i="0" dirty="0">
                <a:solidFill>
                  <a:srgbClr val="C1C2C5"/>
                </a:solidFill>
                <a:effectLst/>
                <a:latin typeface="-apple-system"/>
              </a:rPr>
              <a:t>O(amount * </a:t>
            </a:r>
            <a:r>
              <a:rPr lang="en-US" b="0" i="0" dirty="0" err="1">
                <a:solidFill>
                  <a:srgbClr val="C1C2C5"/>
                </a:solidFill>
                <a:effectLst/>
                <a:latin typeface="-apple-system"/>
              </a:rPr>
              <a:t>num_coins</a:t>
            </a:r>
            <a:r>
              <a:rPr lang="en-US" b="0" i="0" dirty="0">
                <a:solidFill>
                  <a:srgbClr val="C1C2C5"/>
                </a:solidFill>
                <a:effectLst/>
                <a:latin typeface="-apple-system"/>
              </a:rPr>
              <a:t>) because the algorithm iterates through each subproblem (amount) and evaluates possibilities for each coin denomination.</a:t>
            </a:r>
          </a:p>
          <a:p>
            <a:pPr algn="l">
              <a:buNone/>
            </a:pPr>
            <a:r>
              <a:rPr lang="en-US" b="1" i="0" dirty="0">
                <a:solidFill>
                  <a:srgbClr val="C1C2C5"/>
                </a:solidFill>
                <a:effectLst/>
                <a:latin typeface="-apple-system"/>
              </a:rPr>
              <a:t>Space Complexity:</a:t>
            </a:r>
          </a:p>
          <a:p>
            <a:pPr algn="l">
              <a:buFont typeface="Arial" panose="020B0604020202020204" pitchFamily="34" charset="0"/>
              <a:buChar char="•"/>
            </a:pPr>
            <a:r>
              <a:rPr lang="en-US" b="1" i="0" dirty="0">
                <a:solidFill>
                  <a:srgbClr val="C1C2C5"/>
                </a:solidFill>
                <a:effectLst/>
                <a:latin typeface="-apple-system"/>
              </a:rPr>
              <a:t>Description</a:t>
            </a:r>
            <a:r>
              <a:rPr lang="en-US" b="0" i="0" dirty="0">
                <a:solidFill>
                  <a:srgbClr val="C1C2C5"/>
                </a:solidFill>
                <a:effectLst/>
                <a:latin typeface="-apple-system"/>
              </a:rPr>
              <a:t>:</a:t>
            </a:r>
          </a:p>
          <a:p>
            <a:pPr marL="742909" lvl="1" indent="-285734">
              <a:buFont typeface="Arial" panose="020B0604020202020204" pitchFamily="34" charset="0"/>
              <a:buChar char="•"/>
            </a:pPr>
            <a:r>
              <a:rPr lang="en-US" b="0" i="0" dirty="0">
                <a:solidFill>
                  <a:srgbClr val="C1C2C5"/>
                </a:solidFill>
                <a:effectLst/>
                <a:latin typeface="-apple-system"/>
              </a:rPr>
              <a:t>A DP table (vector) of size amount + 1 is used for storing solutions to subproblems.</a:t>
            </a:r>
          </a:p>
          <a:p>
            <a:pPr algn="l">
              <a:buFont typeface="Arial" panose="020B0604020202020204" pitchFamily="34" charset="0"/>
              <a:buChar char="•"/>
            </a:pPr>
            <a:r>
              <a:rPr lang="en-US" b="1" i="0" dirty="0">
                <a:solidFill>
                  <a:srgbClr val="C1C2C5"/>
                </a:solidFill>
                <a:effectLst/>
                <a:latin typeface="-apple-system"/>
              </a:rPr>
              <a:t>Complexity</a:t>
            </a:r>
            <a:r>
              <a:rPr lang="en-US" b="0" i="0" dirty="0">
                <a:solidFill>
                  <a:srgbClr val="C1C2C5"/>
                </a:solidFill>
                <a:effectLst/>
                <a:latin typeface="-apple-system"/>
              </a:rPr>
              <a:t>:</a:t>
            </a:r>
          </a:p>
          <a:p>
            <a:pPr marL="742909" lvl="1" indent="-285734">
              <a:buFont typeface="Arial" panose="020B0604020202020204" pitchFamily="34" charset="0"/>
              <a:buChar char="•"/>
            </a:pPr>
            <a:r>
              <a:rPr lang="en-US" b="0" i="0" dirty="0">
                <a:solidFill>
                  <a:srgbClr val="C1C2C5"/>
                </a:solidFill>
                <a:effectLst/>
                <a:latin typeface="-apple-system"/>
              </a:rPr>
              <a:t>O(amount) because it employs a single-dimensional array to store the best-known results for each subproblem.</a:t>
            </a:r>
          </a:p>
        </p:txBody>
      </p:sp>
      <p:sp>
        <p:nvSpPr>
          <p:cNvPr id="4" name="Slide Number Placeholder 3">
            <a:extLst>
              <a:ext uri="{FF2B5EF4-FFF2-40B4-BE49-F238E27FC236}">
                <a16:creationId xmlns:a16="http://schemas.microsoft.com/office/drawing/2014/main" id="{D23DEFD8-B7DF-C80A-ACD4-7CD794BFAD29}"/>
              </a:ext>
            </a:extLst>
          </p:cNvPr>
          <p:cNvSpPr>
            <a:spLocks noGrp="1"/>
          </p:cNvSpPr>
          <p:nvPr>
            <p:ph type="sldNum" sz="quarter" idx="5"/>
          </p:nvPr>
        </p:nvSpPr>
        <p:spPr/>
        <p:txBody>
          <a:bodyPr/>
          <a:lstStyle/>
          <a:p>
            <a:fld id="{BD22A58C-8E2F-4CF4-BCC2-14D73B27F336}" type="slidenum">
              <a:rPr lang="en-US" smtClean="0"/>
              <a:t>17</a:t>
            </a:fld>
            <a:endParaRPr lang="en-US" dirty="0"/>
          </a:p>
        </p:txBody>
      </p:sp>
    </p:spTree>
    <p:extLst>
      <p:ext uri="{BB962C8B-B14F-4D97-AF65-F5344CB8AC3E}">
        <p14:creationId xmlns:p14="http://schemas.microsoft.com/office/powerpoint/2010/main" val="895088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2^n possible cuts</a:t>
            </a:r>
          </a:p>
        </p:txBody>
      </p:sp>
      <p:sp>
        <p:nvSpPr>
          <p:cNvPr id="4" name="Slide Number Placeholder 3"/>
          <p:cNvSpPr>
            <a:spLocks noGrp="1"/>
          </p:cNvSpPr>
          <p:nvPr>
            <p:ph type="sldNum" sz="quarter" idx="5"/>
          </p:nvPr>
        </p:nvSpPr>
        <p:spPr/>
        <p:txBody>
          <a:bodyPr/>
          <a:lstStyle/>
          <a:p>
            <a:fld id="{BD22A58C-8E2F-4CF4-BCC2-14D73B27F336}" type="slidenum">
              <a:rPr lang="en-US" smtClean="0"/>
              <a:t>19</a:t>
            </a:fld>
            <a:endParaRPr lang="en-US" dirty="0"/>
          </a:p>
        </p:txBody>
      </p:sp>
    </p:spTree>
    <p:extLst>
      <p:ext uri="{BB962C8B-B14F-4D97-AF65-F5344CB8AC3E}">
        <p14:creationId xmlns:p14="http://schemas.microsoft.com/office/powerpoint/2010/main" val="3412516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memoization</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21</a:t>
            </a:fld>
            <a:endParaRPr lang="en-US" dirty="0"/>
          </a:p>
        </p:txBody>
      </p:sp>
    </p:spTree>
    <p:extLst>
      <p:ext uri="{BB962C8B-B14F-4D97-AF65-F5344CB8AC3E}">
        <p14:creationId xmlns:p14="http://schemas.microsoft.com/office/powerpoint/2010/main" val="16991165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tabulation</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22</a:t>
            </a:fld>
            <a:endParaRPr lang="en-US" dirty="0"/>
          </a:p>
        </p:txBody>
      </p:sp>
    </p:spTree>
    <p:extLst>
      <p:ext uri="{BB962C8B-B14F-4D97-AF65-F5344CB8AC3E}">
        <p14:creationId xmlns:p14="http://schemas.microsoft.com/office/powerpoint/2010/main" val="1168901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O(2^n) time</a:t>
            </a:r>
          </a:p>
        </p:txBody>
      </p:sp>
      <p:sp>
        <p:nvSpPr>
          <p:cNvPr id="4" name="Slide Number Placeholder 3"/>
          <p:cNvSpPr>
            <a:spLocks noGrp="1"/>
          </p:cNvSpPr>
          <p:nvPr>
            <p:ph type="sldNum" sz="quarter" idx="5"/>
          </p:nvPr>
        </p:nvSpPr>
        <p:spPr/>
        <p:txBody>
          <a:bodyPr/>
          <a:lstStyle/>
          <a:p>
            <a:fld id="{BD22A58C-8E2F-4CF4-BCC2-14D73B27F336}" type="slidenum">
              <a:rPr lang="en-US" smtClean="0"/>
              <a:t>24</a:t>
            </a:fld>
            <a:endParaRPr lang="en-US" dirty="0"/>
          </a:p>
        </p:txBody>
      </p:sp>
    </p:spTree>
    <p:extLst>
      <p:ext uri="{BB962C8B-B14F-4D97-AF65-F5344CB8AC3E}">
        <p14:creationId xmlns:p14="http://schemas.microsoft.com/office/powerpoint/2010/main" val="1240240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EDEEF-E073-3497-B2C8-A1262F9A17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306065-D4E4-C5A1-3B51-0802AC2669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1019DD-563F-59B4-B75F-463523578F8D}"/>
              </a:ext>
            </a:extLst>
          </p:cNvPr>
          <p:cNvSpPr>
            <a:spLocks noGrp="1"/>
          </p:cNvSpPr>
          <p:nvPr>
            <p:ph type="body" idx="1"/>
          </p:nvPr>
        </p:nvSpPr>
        <p:spPr/>
        <p:txBody>
          <a:bodyPr/>
          <a:lstStyle/>
          <a:p>
            <a:r>
              <a:rPr lang="en-US" dirty="0"/>
              <a:t>O(cap*</a:t>
            </a:r>
            <a:r>
              <a:rPr lang="en-US" dirty="0" err="1"/>
              <a:t>itemCount</a:t>
            </a:r>
            <a:r>
              <a:rPr lang="en-US" dirty="0"/>
              <a:t>)</a:t>
            </a:r>
            <a:endParaRPr lang="hy-AM" dirty="0"/>
          </a:p>
          <a:p>
            <a:endParaRPr lang="hy-AM" dirty="0"/>
          </a:p>
        </p:txBody>
      </p:sp>
      <p:sp>
        <p:nvSpPr>
          <p:cNvPr id="4" name="Slide Number Placeholder 3">
            <a:extLst>
              <a:ext uri="{FF2B5EF4-FFF2-40B4-BE49-F238E27FC236}">
                <a16:creationId xmlns:a16="http://schemas.microsoft.com/office/drawing/2014/main" id="{4935C696-BAB4-4D38-2A0D-5F3A87322505}"/>
              </a:ext>
            </a:extLst>
          </p:cNvPr>
          <p:cNvSpPr>
            <a:spLocks noGrp="1"/>
          </p:cNvSpPr>
          <p:nvPr>
            <p:ph type="sldNum" sz="quarter" idx="5"/>
          </p:nvPr>
        </p:nvSpPr>
        <p:spPr/>
        <p:txBody>
          <a:bodyPr/>
          <a:lstStyle/>
          <a:p>
            <a:fld id="{BD22A58C-8E2F-4CF4-BCC2-14D73B27F336}" type="slidenum">
              <a:rPr lang="en-US" smtClean="0"/>
              <a:t>25</a:t>
            </a:fld>
            <a:endParaRPr lang="en-US" dirty="0"/>
          </a:p>
        </p:txBody>
      </p:sp>
    </p:spTree>
    <p:extLst>
      <p:ext uri="{BB962C8B-B14F-4D97-AF65-F5344CB8AC3E}">
        <p14:creationId xmlns:p14="http://schemas.microsoft.com/office/powerpoint/2010/main" val="56217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BC20E-A4EB-D9A6-AA5B-EDAA28852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B69E3-2A09-2666-D8B1-350368F75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FAE882-5D03-FF8A-119C-FBBAC27F9BFA}"/>
              </a:ext>
            </a:extLst>
          </p:cNvPr>
          <p:cNvSpPr>
            <a:spLocks noGrp="1"/>
          </p:cNvSpPr>
          <p:nvPr>
            <p:ph type="body" idx="1"/>
          </p:nvPr>
        </p:nvSpPr>
        <p:spPr/>
        <p:txBody>
          <a:bodyPr/>
          <a:lstStyle/>
          <a:p>
            <a:r>
              <a:rPr lang="en-US" dirty="0"/>
              <a:t>O(cap*</a:t>
            </a:r>
            <a:r>
              <a:rPr lang="en-US" dirty="0" err="1"/>
              <a:t>itemCount</a:t>
            </a:r>
            <a:r>
              <a:rPr lang="en-US" dirty="0"/>
              <a:t>)</a:t>
            </a:r>
          </a:p>
          <a:p>
            <a:endParaRPr lang="en-US" dirty="0"/>
          </a:p>
          <a:p>
            <a:r>
              <a:rPr lang="en-US" dirty="0" err="1"/>
              <a:t>dp</a:t>
            </a:r>
            <a:r>
              <a:rPr lang="en-US" dirty="0"/>
              <a:t>[</a:t>
            </a:r>
            <a:r>
              <a:rPr lang="en-US" dirty="0" err="1"/>
              <a:t>i</a:t>
            </a:r>
            <a:r>
              <a:rPr lang="en-US" dirty="0"/>
              <a:t>][w]</a:t>
            </a:r>
            <a:r>
              <a:rPr lang="en-US" b="0" i="0" dirty="0">
                <a:solidFill>
                  <a:srgbClr val="C1C2C5"/>
                </a:solidFill>
                <a:effectLst/>
                <a:latin typeface="-apple-system"/>
              </a:rPr>
              <a:t> represent the maximum value that can be attained with the first </a:t>
            </a:r>
            <a:r>
              <a:rPr lang="en-US" dirty="0" err="1"/>
              <a:t>i</a:t>
            </a:r>
            <a:r>
              <a:rPr lang="en-US" b="0" i="0" dirty="0">
                <a:solidFill>
                  <a:srgbClr val="C1C2C5"/>
                </a:solidFill>
                <a:effectLst/>
                <a:latin typeface="-apple-system"/>
              </a:rPr>
              <a:t> items within a weight capacity </a:t>
            </a:r>
            <a:r>
              <a:rPr lang="en-US" dirty="0"/>
              <a:t>w</a:t>
            </a:r>
          </a:p>
        </p:txBody>
      </p:sp>
      <p:sp>
        <p:nvSpPr>
          <p:cNvPr id="4" name="Slide Number Placeholder 3">
            <a:extLst>
              <a:ext uri="{FF2B5EF4-FFF2-40B4-BE49-F238E27FC236}">
                <a16:creationId xmlns:a16="http://schemas.microsoft.com/office/drawing/2014/main" id="{F3EC4EC4-FCA2-D7A5-39D5-40EE3BF62F08}"/>
              </a:ext>
            </a:extLst>
          </p:cNvPr>
          <p:cNvSpPr>
            <a:spLocks noGrp="1"/>
          </p:cNvSpPr>
          <p:nvPr>
            <p:ph type="sldNum" sz="quarter" idx="5"/>
          </p:nvPr>
        </p:nvSpPr>
        <p:spPr/>
        <p:txBody>
          <a:bodyPr/>
          <a:lstStyle/>
          <a:p>
            <a:fld id="{BD22A58C-8E2F-4CF4-BCC2-14D73B27F336}" type="slidenum">
              <a:rPr lang="en-US" smtClean="0"/>
              <a:t>27</a:t>
            </a:fld>
            <a:endParaRPr lang="en-US" dirty="0"/>
          </a:p>
        </p:txBody>
      </p:sp>
    </p:spTree>
    <p:extLst>
      <p:ext uri="{BB962C8B-B14F-4D97-AF65-F5344CB8AC3E}">
        <p14:creationId xmlns:p14="http://schemas.microsoft.com/office/powerpoint/2010/main" val="4058083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p>
          <a:p>
            <a:r>
              <a:rPr lang="en-US" dirty="0"/>
              <a:t>Input: X = "ABCBDAB", Y = "BDCAB"</a:t>
            </a:r>
          </a:p>
          <a:p>
            <a:r>
              <a:rPr lang="en-US" dirty="0"/>
              <a:t>Output: LCS = "BCAB", which has a length of 4</a:t>
            </a:r>
          </a:p>
          <a:p>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28</a:t>
            </a:fld>
            <a:endParaRPr lang="en-US" dirty="0"/>
          </a:p>
        </p:txBody>
      </p:sp>
    </p:spTree>
    <p:extLst>
      <p:ext uri="{BB962C8B-B14F-4D97-AF65-F5344CB8AC3E}">
        <p14:creationId xmlns:p14="http://schemas.microsoft.com/office/powerpoint/2010/main" val="24504326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29</a:t>
            </a:fld>
            <a:endParaRPr lang="en-US" dirty="0"/>
          </a:p>
        </p:txBody>
      </p:sp>
    </p:spTree>
    <p:extLst>
      <p:ext uri="{BB962C8B-B14F-4D97-AF65-F5344CB8AC3E}">
        <p14:creationId xmlns:p14="http://schemas.microsoft.com/office/powerpoint/2010/main" val="478283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98626-0F69-1CC4-4989-DADD458C9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C3CAD3-5B06-7CEC-9109-902B1D928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B1261-F468-0216-197B-623BC98AF5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29FF53-B41A-E9D4-C4C7-30B99A091730}"/>
              </a:ext>
            </a:extLst>
          </p:cNvPr>
          <p:cNvSpPr>
            <a:spLocks noGrp="1"/>
          </p:cNvSpPr>
          <p:nvPr>
            <p:ph type="sldNum" sz="quarter" idx="5"/>
          </p:nvPr>
        </p:nvSpPr>
        <p:spPr/>
        <p:txBody>
          <a:bodyPr/>
          <a:lstStyle/>
          <a:p>
            <a:fld id="{BD22A58C-8E2F-4CF4-BCC2-14D73B27F336}" type="slidenum">
              <a:rPr lang="en-US" smtClean="0"/>
              <a:t>30</a:t>
            </a:fld>
            <a:endParaRPr lang="en-US" dirty="0"/>
          </a:p>
        </p:txBody>
      </p:sp>
    </p:spTree>
    <p:extLst>
      <p:ext uri="{BB962C8B-B14F-4D97-AF65-F5344CB8AC3E}">
        <p14:creationId xmlns:p14="http://schemas.microsoft.com/office/powerpoint/2010/main" val="10669357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A9D29-CF40-5F9B-54BA-7130D6683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6411E-0F02-9FD0-5812-EE7028E2C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F2330-2CE0-2CFE-175F-4AB52277C7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1C5072-8348-CBC8-9E4B-E6A03A8D7CCE}"/>
              </a:ext>
            </a:extLst>
          </p:cNvPr>
          <p:cNvSpPr>
            <a:spLocks noGrp="1"/>
          </p:cNvSpPr>
          <p:nvPr>
            <p:ph type="sldNum" sz="quarter" idx="5"/>
          </p:nvPr>
        </p:nvSpPr>
        <p:spPr/>
        <p:txBody>
          <a:bodyPr/>
          <a:lstStyle/>
          <a:p>
            <a:fld id="{BD22A58C-8E2F-4CF4-BCC2-14D73B27F336}" type="slidenum">
              <a:rPr lang="en-US" smtClean="0"/>
              <a:t>31</a:t>
            </a:fld>
            <a:endParaRPr lang="en-US" dirty="0"/>
          </a:p>
        </p:txBody>
      </p:sp>
    </p:spTree>
    <p:extLst>
      <p:ext uri="{BB962C8B-B14F-4D97-AF65-F5344CB8AC3E}">
        <p14:creationId xmlns:p14="http://schemas.microsoft.com/office/powerpoint/2010/main" val="1642885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251D-1AB8-4A55-9051-A4850FF0DE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C6D16F-41EB-C530-78CE-0B18178A86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6AA832-E3FE-8947-C7FA-0D781C4540D4}"/>
              </a:ext>
            </a:extLst>
          </p:cNvPr>
          <p:cNvSpPr>
            <a:spLocks noGrp="1"/>
          </p:cNvSpPr>
          <p:nvPr>
            <p:ph type="dt" sz="half" idx="10"/>
          </p:nvPr>
        </p:nvSpPr>
        <p:spPr/>
        <p:txBody>
          <a:bodyPr/>
          <a:lstStyle/>
          <a:p>
            <a:fld id="{40AC09B7-BC59-4FDF-B344-E8A7C51BB8C6}" type="datetimeFigureOut">
              <a:rPr lang="en-US" smtClean="0"/>
              <a:t>3/23/2026</a:t>
            </a:fld>
            <a:endParaRPr lang="en-US" dirty="0"/>
          </a:p>
        </p:txBody>
      </p:sp>
      <p:sp>
        <p:nvSpPr>
          <p:cNvPr id="5" name="Footer Placeholder 4">
            <a:extLst>
              <a:ext uri="{FF2B5EF4-FFF2-40B4-BE49-F238E27FC236}">
                <a16:creationId xmlns:a16="http://schemas.microsoft.com/office/drawing/2014/main" id="{8DD9FE3B-1087-D5D0-361B-FC104D4AC1B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2D8F0A0-7733-E96F-DC79-DACDE9499791}"/>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1918606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5360-8393-F8A7-9B4E-A5F91C25F4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338C8A-E199-A705-6FB1-EFB25F2552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872B8-8F94-B6C1-3137-90E3C7B59C81}"/>
              </a:ext>
            </a:extLst>
          </p:cNvPr>
          <p:cNvSpPr>
            <a:spLocks noGrp="1"/>
          </p:cNvSpPr>
          <p:nvPr>
            <p:ph type="dt" sz="half" idx="10"/>
          </p:nvPr>
        </p:nvSpPr>
        <p:spPr/>
        <p:txBody>
          <a:bodyPr/>
          <a:lstStyle/>
          <a:p>
            <a:fld id="{40AC09B7-BC59-4FDF-B344-E8A7C51BB8C6}" type="datetimeFigureOut">
              <a:rPr lang="en-US" smtClean="0"/>
              <a:t>3/23/2026</a:t>
            </a:fld>
            <a:endParaRPr lang="en-US" dirty="0"/>
          </a:p>
        </p:txBody>
      </p:sp>
      <p:sp>
        <p:nvSpPr>
          <p:cNvPr id="5" name="Footer Placeholder 4">
            <a:extLst>
              <a:ext uri="{FF2B5EF4-FFF2-40B4-BE49-F238E27FC236}">
                <a16:creationId xmlns:a16="http://schemas.microsoft.com/office/drawing/2014/main" id="{C267A7F3-F5E8-E21B-CA86-E578C83C982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D81585B-DFE4-AA74-C10F-1BDADACE73C1}"/>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1964739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5B468-8243-B0E9-A019-1B9445C348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2F40F6-9706-8C8D-2DF2-B51050C322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EA4183-BAA7-0B79-A0AA-A700AAB253C1}"/>
              </a:ext>
            </a:extLst>
          </p:cNvPr>
          <p:cNvSpPr>
            <a:spLocks noGrp="1"/>
          </p:cNvSpPr>
          <p:nvPr>
            <p:ph type="dt" sz="half" idx="10"/>
          </p:nvPr>
        </p:nvSpPr>
        <p:spPr/>
        <p:txBody>
          <a:bodyPr/>
          <a:lstStyle/>
          <a:p>
            <a:fld id="{40AC09B7-BC59-4FDF-B344-E8A7C51BB8C6}" type="datetimeFigureOut">
              <a:rPr lang="en-US" smtClean="0"/>
              <a:t>3/23/2026</a:t>
            </a:fld>
            <a:endParaRPr lang="en-US" dirty="0"/>
          </a:p>
        </p:txBody>
      </p:sp>
      <p:sp>
        <p:nvSpPr>
          <p:cNvPr id="5" name="Footer Placeholder 4">
            <a:extLst>
              <a:ext uri="{FF2B5EF4-FFF2-40B4-BE49-F238E27FC236}">
                <a16:creationId xmlns:a16="http://schemas.microsoft.com/office/drawing/2014/main" id="{9910D003-B433-16F0-6348-16048167AA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EC807A1-7565-6E01-2D59-D66D5A01D829}"/>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809636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BAAA8-63B4-C2F0-8CA3-B8F798B633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0962E5-19BA-1876-5AE3-9E174F29AE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83F4F3-8D6D-20EF-D16A-9D4CF970F1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EA0B1A-0D87-5C43-32C0-1358CFD136DF}"/>
              </a:ext>
            </a:extLst>
          </p:cNvPr>
          <p:cNvSpPr>
            <a:spLocks noGrp="1"/>
          </p:cNvSpPr>
          <p:nvPr>
            <p:ph type="dt" sz="half" idx="10"/>
          </p:nvPr>
        </p:nvSpPr>
        <p:spPr/>
        <p:txBody>
          <a:bodyPr/>
          <a:lstStyle/>
          <a:p>
            <a:fld id="{40AC09B7-BC59-4FDF-B344-E8A7C51BB8C6}" type="datetimeFigureOut">
              <a:rPr lang="en-US" smtClean="0"/>
              <a:t>3/23/2026</a:t>
            </a:fld>
            <a:endParaRPr lang="en-US" dirty="0"/>
          </a:p>
        </p:txBody>
      </p:sp>
      <p:sp>
        <p:nvSpPr>
          <p:cNvPr id="6" name="Footer Placeholder 5">
            <a:extLst>
              <a:ext uri="{FF2B5EF4-FFF2-40B4-BE49-F238E27FC236}">
                <a16:creationId xmlns:a16="http://schemas.microsoft.com/office/drawing/2014/main" id="{6187086C-C7D0-4D1F-FA23-54332C668A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BD90FBE-A8B2-329E-CCA0-94DB075C2832}"/>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580741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4A20B-C9A8-6031-2DC7-6B412D8DE8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A4FC9F-7BEC-554C-4B1F-3D5125729B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B22F46-6193-B43E-0D4C-6F5BC1B6D5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E8F3A4-E020-78E9-B267-50E92C5297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40B438-BB33-DF3F-BA12-F7C1B8C4CC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4D0D84-87B3-C51C-AC29-D9845F466299}"/>
              </a:ext>
            </a:extLst>
          </p:cNvPr>
          <p:cNvSpPr>
            <a:spLocks noGrp="1"/>
          </p:cNvSpPr>
          <p:nvPr>
            <p:ph type="dt" sz="half" idx="10"/>
          </p:nvPr>
        </p:nvSpPr>
        <p:spPr/>
        <p:txBody>
          <a:bodyPr/>
          <a:lstStyle/>
          <a:p>
            <a:fld id="{40AC09B7-BC59-4FDF-B344-E8A7C51BB8C6}" type="datetimeFigureOut">
              <a:rPr lang="en-US" smtClean="0"/>
              <a:t>3/23/2026</a:t>
            </a:fld>
            <a:endParaRPr lang="en-US" dirty="0"/>
          </a:p>
        </p:txBody>
      </p:sp>
      <p:sp>
        <p:nvSpPr>
          <p:cNvPr id="8" name="Footer Placeholder 7">
            <a:extLst>
              <a:ext uri="{FF2B5EF4-FFF2-40B4-BE49-F238E27FC236}">
                <a16:creationId xmlns:a16="http://schemas.microsoft.com/office/drawing/2014/main" id="{9DA2DCA0-A536-8D48-7378-A626BECDB8B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B876080-45E6-416C-00C6-347A8A98AB02}"/>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921325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A7D1-749D-7264-FEEC-BD7FD8728D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59877B-B058-565C-757C-2907747E10F9}"/>
              </a:ext>
            </a:extLst>
          </p:cNvPr>
          <p:cNvSpPr>
            <a:spLocks noGrp="1"/>
          </p:cNvSpPr>
          <p:nvPr>
            <p:ph type="dt" sz="half" idx="10"/>
          </p:nvPr>
        </p:nvSpPr>
        <p:spPr/>
        <p:txBody>
          <a:bodyPr/>
          <a:lstStyle/>
          <a:p>
            <a:fld id="{40AC09B7-BC59-4FDF-B344-E8A7C51BB8C6}" type="datetimeFigureOut">
              <a:rPr lang="en-US" smtClean="0"/>
              <a:t>3/23/2026</a:t>
            </a:fld>
            <a:endParaRPr lang="en-US" dirty="0"/>
          </a:p>
        </p:txBody>
      </p:sp>
      <p:sp>
        <p:nvSpPr>
          <p:cNvPr id="4" name="Footer Placeholder 3">
            <a:extLst>
              <a:ext uri="{FF2B5EF4-FFF2-40B4-BE49-F238E27FC236}">
                <a16:creationId xmlns:a16="http://schemas.microsoft.com/office/drawing/2014/main" id="{85444686-960D-94DB-FEB0-DA72E035D9C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9A8E631-05EE-2866-77A5-78C8249547A6}"/>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319396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2388AF-A5D5-0A2A-82A6-9CD7A811F9CF}"/>
              </a:ext>
            </a:extLst>
          </p:cNvPr>
          <p:cNvSpPr>
            <a:spLocks noGrp="1"/>
          </p:cNvSpPr>
          <p:nvPr>
            <p:ph type="dt" sz="half" idx="10"/>
          </p:nvPr>
        </p:nvSpPr>
        <p:spPr/>
        <p:txBody>
          <a:bodyPr/>
          <a:lstStyle/>
          <a:p>
            <a:fld id="{40AC09B7-BC59-4FDF-B344-E8A7C51BB8C6}" type="datetimeFigureOut">
              <a:rPr lang="en-US" smtClean="0"/>
              <a:t>3/23/2026</a:t>
            </a:fld>
            <a:endParaRPr lang="en-US" dirty="0"/>
          </a:p>
        </p:txBody>
      </p:sp>
      <p:sp>
        <p:nvSpPr>
          <p:cNvPr id="3" name="Footer Placeholder 2">
            <a:extLst>
              <a:ext uri="{FF2B5EF4-FFF2-40B4-BE49-F238E27FC236}">
                <a16:creationId xmlns:a16="http://schemas.microsoft.com/office/drawing/2014/main" id="{3FBF5736-623E-B24E-3971-2F6AD9FFFD6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EDBE808-390D-38AE-4A34-B1E033B13D7D}"/>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486480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5E8AA-1F34-5D9C-A547-B828AF2092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A2B504-3687-EE8F-6159-9F4195A21E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17951D-8F58-D234-7143-C946F4901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11AA36-9E0C-BAF8-2AF6-495CF68A9303}"/>
              </a:ext>
            </a:extLst>
          </p:cNvPr>
          <p:cNvSpPr>
            <a:spLocks noGrp="1"/>
          </p:cNvSpPr>
          <p:nvPr>
            <p:ph type="dt" sz="half" idx="10"/>
          </p:nvPr>
        </p:nvSpPr>
        <p:spPr/>
        <p:txBody>
          <a:bodyPr/>
          <a:lstStyle/>
          <a:p>
            <a:fld id="{40AC09B7-BC59-4FDF-B344-E8A7C51BB8C6}" type="datetimeFigureOut">
              <a:rPr lang="en-US" smtClean="0"/>
              <a:t>3/23/2026</a:t>
            </a:fld>
            <a:endParaRPr lang="en-US" dirty="0"/>
          </a:p>
        </p:txBody>
      </p:sp>
      <p:sp>
        <p:nvSpPr>
          <p:cNvPr id="6" name="Footer Placeholder 5">
            <a:extLst>
              <a:ext uri="{FF2B5EF4-FFF2-40B4-BE49-F238E27FC236}">
                <a16:creationId xmlns:a16="http://schemas.microsoft.com/office/drawing/2014/main" id="{D8CC3457-1A37-75E2-CDEF-A08D51C8333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346739D-88BC-0A95-048E-487986B62A3B}"/>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2672395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585F3-E3A2-0034-D209-A44746D56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72E9A8-1577-EDFF-BA82-F43C0786B6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8D70423-A7D2-FD06-9B28-CE2A07D754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A9DF61-F71D-5569-F144-7856376755FC}"/>
              </a:ext>
            </a:extLst>
          </p:cNvPr>
          <p:cNvSpPr>
            <a:spLocks noGrp="1"/>
          </p:cNvSpPr>
          <p:nvPr>
            <p:ph type="dt" sz="half" idx="10"/>
          </p:nvPr>
        </p:nvSpPr>
        <p:spPr/>
        <p:txBody>
          <a:bodyPr/>
          <a:lstStyle/>
          <a:p>
            <a:fld id="{40AC09B7-BC59-4FDF-B344-E8A7C51BB8C6}" type="datetimeFigureOut">
              <a:rPr lang="en-US" smtClean="0"/>
              <a:t>3/23/2026</a:t>
            </a:fld>
            <a:endParaRPr lang="en-US" dirty="0"/>
          </a:p>
        </p:txBody>
      </p:sp>
      <p:sp>
        <p:nvSpPr>
          <p:cNvPr id="6" name="Footer Placeholder 5">
            <a:extLst>
              <a:ext uri="{FF2B5EF4-FFF2-40B4-BE49-F238E27FC236}">
                <a16:creationId xmlns:a16="http://schemas.microsoft.com/office/drawing/2014/main" id="{65EF9E7B-F0D5-2CF7-553A-892F1053CD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741547A-AB84-C515-772E-0B7683FD330B}"/>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807585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5F46B-8307-541C-E9CF-83AF33F6A7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CE2592-5CE7-58A5-373B-321A1130F1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F874E-49CB-B018-23C5-E5897AC8E5EF}"/>
              </a:ext>
            </a:extLst>
          </p:cNvPr>
          <p:cNvSpPr>
            <a:spLocks noGrp="1"/>
          </p:cNvSpPr>
          <p:nvPr>
            <p:ph type="dt" sz="half" idx="10"/>
          </p:nvPr>
        </p:nvSpPr>
        <p:spPr/>
        <p:txBody>
          <a:bodyPr/>
          <a:lstStyle/>
          <a:p>
            <a:fld id="{40AC09B7-BC59-4FDF-B344-E8A7C51BB8C6}" type="datetimeFigureOut">
              <a:rPr lang="en-US" smtClean="0"/>
              <a:t>3/23/2026</a:t>
            </a:fld>
            <a:endParaRPr lang="en-US" dirty="0"/>
          </a:p>
        </p:txBody>
      </p:sp>
      <p:sp>
        <p:nvSpPr>
          <p:cNvPr id="5" name="Footer Placeholder 4">
            <a:extLst>
              <a:ext uri="{FF2B5EF4-FFF2-40B4-BE49-F238E27FC236}">
                <a16:creationId xmlns:a16="http://schemas.microsoft.com/office/drawing/2014/main" id="{8DAB249B-5A2E-3F8C-C0D2-08BF531302F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07D5739-EB31-644D-B898-70968DCE944E}"/>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2898040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DBD635-112D-AB74-DA68-5A8F79D582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7BA7F6-B791-16DD-20EC-DB18789367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49D594-7827-EE34-6C2E-F620C151B61A}"/>
              </a:ext>
            </a:extLst>
          </p:cNvPr>
          <p:cNvSpPr>
            <a:spLocks noGrp="1"/>
          </p:cNvSpPr>
          <p:nvPr>
            <p:ph type="dt" sz="half" idx="10"/>
          </p:nvPr>
        </p:nvSpPr>
        <p:spPr/>
        <p:txBody>
          <a:bodyPr/>
          <a:lstStyle/>
          <a:p>
            <a:fld id="{40AC09B7-BC59-4FDF-B344-E8A7C51BB8C6}" type="datetimeFigureOut">
              <a:rPr lang="en-US" smtClean="0"/>
              <a:t>3/23/2026</a:t>
            </a:fld>
            <a:endParaRPr lang="en-US" dirty="0"/>
          </a:p>
        </p:txBody>
      </p:sp>
      <p:sp>
        <p:nvSpPr>
          <p:cNvPr id="5" name="Footer Placeholder 4">
            <a:extLst>
              <a:ext uri="{FF2B5EF4-FFF2-40B4-BE49-F238E27FC236}">
                <a16:creationId xmlns:a16="http://schemas.microsoft.com/office/drawing/2014/main" id="{05044812-33F0-EAB7-7CE0-3153610CC2B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CFADD4-1D22-273D-EEA9-2710F284B43A}"/>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992901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862182-6389-D39E-EB48-051E9B7F6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71F1FB-EE6D-B1EF-1BFC-F76DDD70C1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B1F4C2-B8D9-56AA-BF23-257D597AF1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AC09B7-BC59-4FDF-B344-E8A7C51BB8C6}" type="datetimeFigureOut">
              <a:rPr lang="en-US" smtClean="0"/>
              <a:t>3/23/2026</a:t>
            </a:fld>
            <a:endParaRPr lang="en-US" dirty="0"/>
          </a:p>
        </p:txBody>
      </p:sp>
      <p:sp>
        <p:nvSpPr>
          <p:cNvPr id="5" name="Footer Placeholder 4">
            <a:extLst>
              <a:ext uri="{FF2B5EF4-FFF2-40B4-BE49-F238E27FC236}">
                <a16:creationId xmlns:a16="http://schemas.microsoft.com/office/drawing/2014/main" id="{2F11E698-2BE3-B173-F1AE-1366188D37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80946E3-415D-563B-A77E-FA512FACD4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93447A-3B3E-403A-8835-99E0FFC7C0C8}" type="slidenum">
              <a:rPr lang="en-US" smtClean="0"/>
              <a:t>‹#›</a:t>
            </a:fld>
            <a:endParaRPr lang="en-US" dirty="0"/>
          </a:p>
        </p:txBody>
      </p:sp>
    </p:spTree>
    <p:extLst>
      <p:ext uri="{BB962C8B-B14F-4D97-AF65-F5344CB8AC3E}">
        <p14:creationId xmlns:p14="http://schemas.microsoft.com/office/powerpoint/2010/main" val="4147649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BCD6C4D-9BB3-2AA1-B3BD-B852BA6BA07B}"/>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Introduction to Algorithms</a:t>
            </a:r>
          </a:p>
        </p:txBody>
      </p:sp>
      <p:sp>
        <p:nvSpPr>
          <p:cNvPr id="3" name="Subtitle 2">
            <a:extLst>
              <a:ext uri="{FF2B5EF4-FFF2-40B4-BE49-F238E27FC236}">
                <a16:creationId xmlns:a16="http://schemas.microsoft.com/office/drawing/2014/main" id="{FB9410EE-202B-D036-4508-61A95E9374C1}"/>
              </a:ext>
            </a:extLst>
          </p:cNvPr>
          <p:cNvSpPr>
            <a:spLocks noGrp="1"/>
          </p:cNvSpPr>
          <p:nvPr>
            <p:ph type="subTitle" idx="1"/>
          </p:nvPr>
        </p:nvSpPr>
        <p:spPr>
          <a:xfrm>
            <a:off x="1350682" y="4870824"/>
            <a:ext cx="10005951" cy="1458258"/>
          </a:xfrm>
        </p:spPr>
        <p:txBody>
          <a:bodyPr anchor="ctr">
            <a:normAutofit/>
          </a:bodyPr>
          <a:lstStyle/>
          <a:p>
            <a:pPr algn="l"/>
            <a:r>
              <a:rPr lang="en-US" dirty="0"/>
              <a:t>Levon Prazyan</a:t>
            </a:r>
          </a:p>
        </p:txBody>
      </p:sp>
    </p:spTree>
    <p:extLst>
      <p:ext uri="{BB962C8B-B14F-4D97-AF65-F5344CB8AC3E}">
        <p14:creationId xmlns:p14="http://schemas.microsoft.com/office/powerpoint/2010/main" val="36004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1CF4-2135-E26A-87F1-B3EE885508E2}"/>
              </a:ext>
            </a:extLst>
          </p:cNvPr>
          <p:cNvSpPr>
            <a:spLocks noGrp="1"/>
          </p:cNvSpPr>
          <p:nvPr>
            <p:ph type="title"/>
          </p:nvPr>
        </p:nvSpPr>
        <p:spPr/>
        <p:txBody>
          <a:bodyPr/>
          <a:lstStyle/>
          <a:p>
            <a:r>
              <a:rPr lang="en-US" dirty="0"/>
              <a:t>Course Overview</a:t>
            </a:r>
          </a:p>
        </p:txBody>
      </p:sp>
      <p:sp>
        <p:nvSpPr>
          <p:cNvPr id="3" name="Content Placeholder 2">
            <a:extLst>
              <a:ext uri="{FF2B5EF4-FFF2-40B4-BE49-F238E27FC236}">
                <a16:creationId xmlns:a16="http://schemas.microsoft.com/office/drawing/2014/main" id="{4BC1998C-E6BD-C71A-C3E7-04FF6D66E39F}"/>
              </a:ext>
            </a:extLst>
          </p:cNvPr>
          <p:cNvSpPr>
            <a:spLocks noGrp="1"/>
          </p:cNvSpPr>
          <p:nvPr>
            <p:ph idx="1"/>
          </p:nvPr>
        </p:nvSpPr>
        <p:spPr/>
        <p:txBody>
          <a:bodyPr>
            <a:normAutofit lnSpcReduction="10000"/>
          </a:bodyPr>
          <a:lstStyle/>
          <a:p>
            <a:r>
              <a:rPr lang="en-US" sz="1800" b="1" dirty="0">
                <a:latin typeface="Arial" panose="020B0604020202020204" pitchFamily="34" charset="0"/>
                <a:ea typeface="MS Mincho" panose="02020609040205080304" pitchFamily="49" charset="-128"/>
              </a:rPr>
              <a:t>Introduction</a:t>
            </a:r>
          </a:p>
          <a:p>
            <a:r>
              <a:rPr lang="en-US" sz="1800" b="1" dirty="0">
                <a:latin typeface="Arial" panose="020B0604020202020204" pitchFamily="34" charset="0"/>
                <a:ea typeface="MS Mincho" panose="02020609040205080304" pitchFamily="49" charset="-128"/>
              </a:rPr>
              <a:t>Sorting and Searching</a:t>
            </a:r>
          </a:p>
          <a:p>
            <a:r>
              <a:rPr lang="en-US" sz="1800" b="1" dirty="0">
                <a:latin typeface="Arial" panose="020B0604020202020204" pitchFamily="34" charset="0"/>
                <a:ea typeface="MS Mincho" panose="02020609040205080304" pitchFamily="49" charset="-128"/>
              </a:rPr>
              <a:t>Arrays and Lists</a:t>
            </a:r>
          </a:p>
          <a:p>
            <a:r>
              <a:rPr lang="en-US" sz="1800" b="1" dirty="0">
                <a:latin typeface="Arial" panose="020B0604020202020204" pitchFamily="34" charset="0"/>
                <a:ea typeface="MS Mincho" panose="02020609040205080304" pitchFamily="49" charset="-128"/>
              </a:rPr>
              <a:t>Stacks and Queues, Double Ended Queue</a:t>
            </a:r>
          </a:p>
          <a:p>
            <a:r>
              <a:rPr lang="en-US" sz="1800" b="1" dirty="0">
                <a:latin typeface="Arial" panose="020B0604020202020204" pitchFamily="34" charset="0"/>
                <a:ea typeface="MS Mincho" panose="02020609040205080304" pitchFamily="49" charset="-128"/>
              </a:rPr>
              <a:t>Heaps</a:t>
            </a:r>
          </a:p>
          <a:p>
            <a:r>
              <a:rPr lang="en-US" sz="1800" b="1" dirty="0">
                <a:latin typeface="Arial" panose="020B0604020202020204" pitchFamily="34" charset="0"/>
              </a:rPr>
              <a:t>Trees</a:t>
            </a:r>
          </a:p>
          <a:p>
            <a:r>
              <a:rPr lang="en-US" sz="1800" b="1" dirty="0">
                <a:latin typeface="Arial" panose="020B0604020202020204" pitchFamily="34" charset="0"/>
              </a:rPr>
              <a:t>Hash Tables</a:t>
            </a:r>
          </a:p>
          <a:p>
            <a:r>
              <a:rPr lang="en-US" sz="1800" b="1" dirty="0">
                <a:solidFill>
                  <a:schemeClr val="tx2">
                    <a:lumMod val="50000"/>
                    <a:lumOff val="50000"/>
                  </a:schemeClr>
                </a:solidFill>
                <a:latin typeface="Arial" panose="020B0604020202020204" pitchFamily="34" charset="0"/>
              </a:rPr>
              <a:t>Dynamic Programming</a:t>
            </a:r>
          </a:p>
          <a:p>
            <a:r>
              <a:rPr lang="en-US" sz="1800" b="1" dirty="0">
                <a:effectLst/>
                <a:latin typeface="Arial" panose="020B0604020202020204" pitchFamily="34" charset="0"/>
                <a:ea typeface="Times New Roman" panose="02020603050405020304" pitchFamily="18" charset="0"/>
              </a:rPr>
              <a:t>Greedy Algorithms</a:t>
            </a:r>
            <a:endParaRPr lang="en-US" sz="1800" b="1" dirty="0">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Graph Algorithms</a:t>
            </a:r>
            <a:endParaRPr lang="en-US" sz="1800" b="1" dirty="0">
              <a:effectLst/>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Network Flow</a:t>
            </a:r>
            <a:endParaRPr lang="en-US" sz="1800" b="1" dirty="0">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NP-Completeness</a:t>
            </a:r>
            <a:endParaRPr lang="en-US" sz="1800" b="1" dirty="0">
              <a:latin typeface="Arial" panose="020B0604020202020204" pitchFamily="34" charset="0"/>
            </a:endParaRPr>
          </a:p>
          <a:p>
            <a:pPr lvl="1"/>
            <a:endParaRPr lang="en-US" sz="1800" b="1" dirty="0">
              <a:latin typeface="Arial" panose="020B0604020202020204" pitchFamily="34" charset="0"/>
            </a:endParaRPr>
          </a:p>
          <a:p>
            <a:endParaRPr lang="en-US" b="1" dirty="0">
              <a:latin typeface="Arial" panose="020B0604020202020204" pitchFamily="34" charset="0"/>
            </a:endParaRPr>
          </a:p>
        </p:txBody>
      </p:sp>
    </p:spTree>
    <p:extLst>
      <p:ext uri="{BB962C8B-B14F-4D97-AF65-F5344CB8AC3E}">
        <p14:creationId xmlns:p14="http://schemas.microsoft.com/office/powerpoint/2010/main" val="417041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4F98-DB78-EA38-D37B-99F775648E00}"/>
              </a:ext>
            </a:extLst>
          </p:cNvPr>
          <p:cNvSpPr>
            <a:spLocks noGrp="1"/>
          </p:cNvSpPr>
          <p:nvPr>
            <p:ph type="title"/>
          </p:nvPr>
        </p:nvSpPr>
        <p:spPr/>
        <p:txBody>
          <a:bodyPr/>
          <a:lstStyle/>
          <a:p>
            <a:r>
              <a:rPr lang="en-US" dirty="0" err="1"/>
              <a:t>Dynmamic</a:t>
            </a:r>
            <a:r>
              <a:rPr lang="en-US" dirty="0"/>
              <a:t> Programming</a:t>
            </a:r>
          </a:p>
        </p:txBody>
      </p:sp>
      <p:sp>
        <p:nvSpPr>
          <p:cNvPr id="4" name="Text Placeholder 3">
            <a:extLst>
              <a:ext uri="{FF2B5EF4-FFF2-40B4-BE49-F238E27FC236}">
                <a16:creationId xmlns:a16="http://schemas.microsoft.com/office/drawing/2014/main" id="{591D5EA0-862F-0611-D2D7-AB7ADEB27D53}"/>
              </a:ext>
            </a:extLst>
          </p:cNvPr>
          <p:cNvSpPr>
            <a:spLocks noGrp="1"/>
          </p:cNvSpPr>
          <p:nvPr>
            <p:ph type="body" idx="1"/>
          </p:nvPr>
        </p:nvSpPr>
        <p:spPr/>
        <p:txBody>
          <a:bodyPr/>
          <a:lstStyle/>
          <a:p>
            <a:r>
              <a:rPr lang="en-US" dirty="0"/>
              <a:t>Richard Bellman</a:t>
            </a:r>
          </a:p>
        </p:txBody>
      </p:sp>
      <p:sp>
        <p:nvSpPr>
          <p:cNvPr id="6" name="Text Placeholder 5">
            <a:extLst>
              <a:ext uri="{FF2B5EF4-FFF2-40B4-BE49-F238E27FC236}">
                <a16:creationId xmlns:a16="http://schemas.microsoft.com/office/drawing/2014/main" id="{35783E8C-BE8D-81B7-3719-FBBDCD19ED87}"/>
              </a:ext>
            </a:extLst>
          </p:cNvPr>
          <p:cNvSpPr>
            <a:spLocks noGrp="1"/>
          </p:cNvSpPr>
          <p:nvPr>
            <p:ph type="body" sz="quarter" idx="3"/>
          </p:nvPr>
        </p:nvSpPr>
        <p:spPr/>
        <p:txBody>
          <a:bodyPr/>
          <a:lstStyle/>
          <a:p>
            <a:r>
              <a:rPr lang="en-US" dirty="0"/>
              <a:t>Charles Erwin Wilson (Engine Charlie)</a:t>
            </a:r>
          </a:p>
        </p:txBody>
      </p:sp>
      <p:pic>
        <p:nvPicPr>
          <p:cNvPr id="1026" name="Picture 2" descr="Richard E. Bellman | A2C2">
            <a:extLst>
              <a:ext uri="{FF2B5EF4-FFF2-40B4-BE49-F238E27FC236}">
                <a16:creationId xmlns:a16="http://schemas.microsoft.com/office/drawing/2014/main" id="{D4101CB1-1501-8291-8EE5-B0050389D411}"/>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836612" y="2505075"/>
            <a:ext cx="2947670" cy="36845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harles Erwin Wilson - Wikipedia">
            <a:extLst>
              <a:ext uri="{FF2B5EF4-FFF2-40B4-BE49-F238E27FC236}">
                <a16:creationId xmlns:a16="http://schemas.microsoft.com/office/drawing/2014/main" id="{85AA3A0C-6448-298A-C84F-E5C560044FD2}"/>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7289959" y="2472651"/>
            <a:ext cx="2947670" cy="3749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052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F9A3B-E34B-B8E0-D573-14F91AD32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3A9A3-E37C-F882-7E35-BDB184790A29}"/>
              </a:ext>
            </a:extLst>
          </p:cNvPr>
          <p:cNvSpPr>
            <a:spLocks noGrp="1"/>
          </p:cNvSpPr>
          <p:nvPr>
            <p:ph type="title"/>
          </p:nvPr>
        </p:nvSpPr>
        <p:spPr/>
        <p:txBody>
          <a:bodyPr/>
          <a:lstStyle/>
          <a:p>
            <a:r>
              <a:rPr lang="en-US" dirty="0"/>
              <a:t>Dynamic Programming (DP)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34D6C1-4239-52EE-297F-2FDCEBC6F27F}"/>
                  </a:ext>
                </a:extLst>
              </p:cNvPr>
              <p:cNvSpPr>
                <a:spLocks noGrp="1"/>
              </p:cNvSpPr>
              <p:nvPr>
                <p:ph idx="1"/>
              </p:nvPr>
            </p:nvSpPr>
            <p:spPr/>
            <p:txBody>
              <a:bodyPr/>
              <a:lstStyle/>
              <a:p>
                <a:pPr marL="0" indent="0" algn="just">
                  <a:buNone/>
                </a:pPr>
                <a:r>
                  <a:rPr lang="en-US" b="1" dirty="0"/>
                  <a:t>Dynamic programming </a:t>
                </a:r>
                <a:r>
                  <a:rPr lang="en-US" dirty="0"/>
                  <a:t>is a technique used to </a:t>
                </a:r>
              </a:p>
              <a:p>
                <a:pPr marL="514350" indent="-514350" algn="just">
                  <a:buFont typeface="+mj-lt"/>
                  <a:buAutoNum type="arabicPeriod"/>
                </a:pPr>
                <a:r>
                  <a:rPr lang="en-US" dirty="0"/>
                  <a:t>solve complex problems by breaking them down into simpler subproblems and</a:t>
                </a:r>
              </a:p>
              <a:p>
                <a:pPr marL="514350" indent="-514350" algn="just">
                  <a:buFont typeface="+mj-lt"/>
                  <a:buAutoNum type="arabicPeriod"/>
                </a:pPr>
                <a:r>
                  <a:rPr lang="en-US"/>
                  <a:t>storing </a:t>
                </a:r>
                <a:r>
                  <a:rPr lang="en-US" dirty="0"/>
                  <a:t>their solutions.</a:t>
                </a:r>
              </a:p>
              <a:p>
                <a:pPr marL="0" indent="0" algn="just">
                  <a:buNone/>
                </a:pPr>
                <a:endParaRPr lang="en-US" dirty="0"/>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𝐷𝑃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𝑠𝑢𝑏𝑝𝑟𝑜𝑏𝑙𝑒𝑚𝑠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𝑟𝑒𝑢𝑠𝑒</m:t>
                      </m:r>
                      <m:r>
                        <a:rPr lang="en-US" b="0" i="1" smtClean="0">
                          <a:latin typeface="Cambria Math" panose="02040503050406030204" pitchFamily="18" charset="0"/>
                          <a:ea typeface="Cambria Math" panose="02040503050406030204" pitchFamily="18" charset="0"/>
                        </a:rPr>
                        <m:t>“</m:t>
                      </m:r>
                    </m:oMath>
                  </m:oMathPara>
                </a14:m>
                <a:endParaRPr lang="en-US" dirty="0"/>
              </a:p>
              <a:p>
                <a:pPr marL="0" indent="0" algn="just">
                  <a:buNone/>
                </a:pPr>
                <a:endParaRPr lang="en-US" dirty="0"/>
              </a:p>
              <a:p>
                <a:pPr marL="0" indent="0" algn="just">
                  <a:buNone/>
                </a:pPr>
                <a:r>
                  <a:rPr lang="en-US" dirty="0"/>
                  <a:t>We typically apply dynamic programming to </a:t>
                </a:r>
                <a:r>
                  <a:rPr lang="en-US" b="1" i="1" dirty="0"/>
                  <a:t>optimization problems</a:t>
                </a:r>
                <a:r>
                  <a:rPr lang="en-US" dirty="0"/>
                  <a:t>.</a:t>
                </a:r>
              </a:p>
            </p:txBody>
          </p:sp>
        </mc:Choice>
        <mc:Fallback xmlns="">
          <p:sp>
            <p:nvSpPr>
              <p:cNvPr id="3" name="Content Placeholder 2">
                <a:extLst>
                  <a:ext uri="{FF2B5EF4-FFF2-40B4-BE49-F238E27FC236}">
                    <a16:creationId xmlns:a16="http://schemas.microsoft.com/office/drawing/2014/main" id="{1E34D6C1-4239-52EE-297F-2FDCEBC6F27F}"/>
                  </a:ext>
                </a:extLst>
              </p:cNvPr>
              <p:cNvSpPr>
                <a:spLocks noGrp="1" noRot="1" noChangeAspect="1" noMove="1" noResize="1" noEditPoints="1" noAdjustHandles="1" noChangeArrowheads="1" noChangeShapeType="1" noTextEdit="1"/>
              </p:cNvSpPr>
              <p:nvPr>
                <p:ph idx="1"/>
              </p:nvPr>
            </p:nvSpPr>
            <p:spPr>
              <a:blipFill>
                <a:blip r:embed="rId3"/>
                <a:stretch>
                  <a:fillRect l="-1217" t="-2241" r="-1159"/>
                </a:stretch>
              </a:blipFill>
            </p:spPr>
            <p:txBody>
              <a:bodyPr/>
              <a:lstStyle/>
              <a:p>
                <a:r>
                  <a:rPr lang="en-US">
                    <a:noFill/>
                  </a:rPr>
                  <a:t> </a:t>
                </a:r>
              </a:p>
            </p:txBody>
          </p:sp>
        </mc:Fallback>
      </mc:AlternateContent>
    </p:spTree>
    <p:extLst>
      <p:ext uri="{BB962C8B-B14F-4D97-AF65-F5344CB8AC3E}">
        <p14:creationId xmlns:p14="http://schemas.microsoft.com/office/powerpoint/2010/main" val="607282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FAF25-F2DF-C4D0-3926-BC99BB436F12}"/>
              </a:ext>
            </a:extLst>
          </p:cNvPr>
          <p:cNvSpPr>
            <a:spLocks noGrp="1"/>
          </p:cNvSpPr>
          <p:nvPr>
            <p:ph type="title"/>
          </p:nvPr>
        </p:nvSpPr>
        <p:spPr/>
        <p:txBody>
          <a:bodyPr/>
          <a:lstStyle/>
          <a:p>
            <a:r>
              <a:rPr lang="en-US" dirty="0"/>
              <a:t>Key Concepts of DP</a:t>
            </a:r>
          </a:p>
        </p:txBody>
      </p:sp>
      <p:sp>
        <p:nvSpPr>
          <p:cNvPr id="3" name="Content Placeholder 2">
            <a:extLst>
              <a:ext uri="{FF2B5EF4-FFF2-40B4-BE49-F238E27FC236}">
                <a16:creationId xmlns:a16="http://schemas.microsoft.com/office/drawing/2014/main" id="{29905C9F-F2B2-724C-F77E-3279192758CF}"/>
              </a:ext>
            </a:extLst>
          </p:cNvPr>
          <p:cNvSpPr>
            <a:spLocks noGrp="1"/>
          </p:cNvSpPr>
          <p:nvPr>
            <p:ph idx="1"/>
          </p:nvPr>
        </p:nvSpPr>
        <p:spPr/>
        <p:txBody>
          <a:bodyPr/>
          <a:lstStyle/>
          <a:p>
            <a:pPr marL="514350" indent="-514350" algn="just">
              <a:buFont typeface="+mj-lt"/>
              <a:buAutoNum type="arabicPeriod"/>
            </a:pPr>
            <a:r>
              <a:rPr lang="en-US" dirty="0"/>
              <a:t>Optimal Substructure: </a:t>
            </a:r>
          </a:p>
          <a:p>
            <a:pPr lvl="1" algn="just"/>
            <a:r>
              <a:rPr lang="en-US" dirty="0"/>
              <a:t>A problem exhibits optimal substructure if an optimal solution to the problem can be constructed efficiently from optimal solutions of its subproblems. This property is fundamental for employing dynamic programming.</a:t>
            </a:r>
          </a:p>
          <a:p>
            <a:pPr marL="514350" indent="-514350" algn="just">
              <a:buFont typeface="+mj-lt"/>
              <a:buAutoNum type="arabicPeriod"/>
            </a:pPr>
            <a:r>
              <a:rPr lang="en-US" dirty="0"/>
              <a:t>Overlapping Subproblems:</a:t>
            </a:r>
          </a:p>
          <a:p>
            <a:pPr lvl="1" algn="just"/>
            <a:r>
              <a:rPr lang="en-US" dirty="0"/>
              <a:t>Dynamic programming is effective for problems with overlapping subproblems, meaning the same subproblems are solved multiple times. By solving each subproblem only once and storing the results, DP reduces the total number of computations.</a:t>
            </a:r>
          </a:p>
          <a:p>
            <a:pPr algn="just"/>
            <a:endParaRPr lang="en-US" dirty="0"/>
          </a:p>
          <a:p>
            <a:pPr marL="0" indent="0" algn="just">
              <a:buNone/>
            </a:pPr>
            <a:endParaRPr lang="en-US" dirty="0"/>
          </a:p>
        </p:txBody>
      </p:sp>
    </p:spTree>
    <p:extLst>
      <p:ext uri="{BB962C8B-B14F-4D97-AF65-F5344CB8AC3E}">
        <p14:creationId xmlns:p14="http://schemas.microsoft.com/office/powerpoint/2010/main" val="1341934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60327-458A-BAF3-DC14-0C813549CFA2}"/>
              </a:ext>
            </a:extLst>
          </p:cNvPr>
          <p:cNvSpPr>
            <a:spLocks noGrp="1"/>
          </p:cNvSpPr>
          <p:nvPr>
            <p:ph type="title"/>
          </p:nvPr>
        </p:nvSpPr>
        <p:spPr/>
        <p:txBody>
          <a:bodyPr/>
          <a:lstStyle/>
          <a:p>
            <a:r>
              <a:rPr lang="en-US" dirty="0"/>
              <a:t>Dynamic Programming Approaches</a:t>
            </a:r>
          </a:p>
        </p:txBody>
      </p:sp>
      <p:sp>
        <p:nvSpPr>
          <p:cNvPr id="3" name="Content Placeholder 2">
            <a:extLst>
              <a:ext uri="{FF2B5EF4-FFF2-40B4-BE49-F238E27FC236}">
                <a16:creationId xmlns:a16="http://schemas.microsoft.com/office/drawing/2014/main" id="{5352D492-D76B-BE14-42AD-E8FF246EF714}"/>
              </a:ext>
            </a:extLst>
          </p:cNvPr>
          <p:cNvSpPr>
            <a:spLocks noGrp="1"/>
          </p:cNvSpPr>
          <p:nvPr>
            <p:ph idx="1"/>
          </p:nvPr>
        </p:nvSpPr>
        <p:spPr/>
        <p:txBody>
          <a:bodyPr/>
          <a:lstStyle/>
          <a:p>
            <a:pPr marL="514350" indent="-514350" algn="just">
              <a:buFont typeface="+mj-lt"/>
              <a:buAutoNum type="arabicPeriod"/>
            </a:pPr>
            <a:r>
              <a:rPr lang="en-US" b="1" dirty="0"/>
              <a:t>Memoization</a:t>
            </a:r>
            <a:r>
              <a:rPr lang="en-US" dirty="0"/>
              <a:t>: top-down approach. </a:t>
            </a:r>
          </a:p>
          <a:p>
            <a:pPr lvl="1" algn="just"/>
            <a:r>
              <a:rPr lang="en-US" dirty="0"/>
              <a:t>You recursively solve the subproblems and store their results in a data structure.</a:t>
            </a:r>
          </a:p>
          <a:p>
            <a:pPr lvl="1" algn="just"/>
            <a:r>
              <a:rPr lang="en-US" dirty="0"/>
              <a:t>If you encounter the same subproblem again, you use the stored result instead of recomputing it.</a:t>
            </a:r>
          </a:p>
          <a:p>
            <a:pPr marL="457200" indent="-457200" algn="just">
              <a:buFont typeface="+mj-lt"/>
              <a:buAutoNum type="arabicPeriod"/>
            </a:pPr>
            <a:r>
              <a:rPr lang="en-US" b="1" dirty="0"/>
              <a:t>Tabulation</a:t>
            </a:r>
            <a:r>
              <a:rPr lang="en-US" dirty="0"/>
              <a:t>: bottom-up approach.</a:t>
            </a:r>
          </a:p>
          <a:p>
            <a:pPr lvl="1" algn="just"/>
            <a:r>
              <a:rPr lang="en-US" dirty="0"/>
              <a:t> You iteratively solve all subproblems starting from the smallest one, and</a:t>
            </a:r>
          </a:p>
          <a:p>
            <a:pPr lvl="1" algn="just"/>
            <a:r>
              <a:rPr lang="en-US" dirty="0"/>
              <a:t> build up to the solution of the entire problem by storing intermediate results.</a:t>
            </a:r>
          </a:p>
          <a:p>
            <a:pPr marL="457200" indent="-457200" algn="just">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525504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EC550-8900-85B0-6116-B9252026B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45AD7-CAEB-2525-5E08-C28D37CA0B82}"/>
              </a:ext>
            </a:extLst>
          </p:cNvPr>
          <p:cNvSpPr>
            <a:spLocks noGrp="1"/>
          </p:cNvSpPr>
          <p:nvPr>
            <p:ph type="title"/>
          </p:nvPr>
        </p:nvSpPr>
        <p:spPr/>
        <p:txBody>
          <a:bodyPr/>
          <a:lstStyle/>
          <a:p>
            <a:r>
              <a:rPr lang="en-US" dirty="0"/>
              <a:t>DP Problem: Fibonacci Number (1)</a:t>
            </a:r>
          </a:p>
        </p:txBody>
      </p:sp>
      <p:pic>
        <p:nvPicPr>
          <p:cNvPr id="8" name="Content Placeholder 7">
            <a:extLst>
              <a:ext uri="{FF2B5EF4-FFF2-40B4-BE49-F238E27FC236}">
                <a16:creationId xmlns:a16="http://schemas.microsoft.com/office/drawing/2014/main" id="{50546010-56F2-3313-6723-20E6CB4A3133}"/>
              </a:ext>
            </a:extLst>
          </p:cNvPr>
          <p:cNvPicPr>
            <a:picLocks noGrp="1" noChangeAspect="1"/>
          </p:cNvPicPr>
          <p:nvPr>
            <p:ph sz="half" idx="1"/>
          </p:nvPr>
        </p:nvPicPr>
        <p:blipFill>
          <a:blip r:embed="rId3"/>
          <a:stretch>
            <a:fillRect/>
          </a:stretch>
        </p:blipFill>
        <p:spPr>
          <a:xfrm>
            <a:off x="1204900" y="2047682"/>
            <a:ext cx="4391638" cy="2762636"/>
          </a:xfrm>
        </p:spPr>
      </p:pic>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18D52E46-C1A6-1644-5124-ED88981EE0CB}"/>
                  </a:ext>
                </a:extLst>
              </p:cNvPr>
              <p:cNvSpPr>
                <a:spLocks noGrp="1"/>
              </p:cNvSpPr>
              <p:nvPr>
                <p:ph sz="half" idx="2"/>
              </p:nvPr>
            </p:nvSpPr>
            <p:spPr/>
            <p:txBody>
              <a:bodyPr/>
              <a:lstStyle/>
              <a:p>
                <a:pPr marL="0" indent="0">
                  <a:buNone/>
                </a:pPr>
                <a:r>
                  <a:rPr lang="en-US" dirty="0"/>
                  <a:t>Time Complexity: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e>
                    </m:d>
                  </m:oMath>
                </a14:m>
                <a:endParaRPr lang="en-US" dirty="0"/>
              </a:p>
              <a:p>
                <a:pPr marL="0" indent="0">
                  <a:buNone/>
                </a:pPr>
                <a:r>
                  <a:rPr lang="en-US" dirty="0"/>
                  <a:t>Memory usage: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oMath>
                </a14:m>
                <a:endParaRPr lang="en-US" dirty="0"/>
              </a:p>
            </p:txBody>
          </p:sp>
        </mc:Choice>
        <mc:Fallback xmlns="">
          <p:sp>
            <p:nvSpPr>
              <p:cNvPr id="9" name="Content Placeholder 8">
                <a:extLst>
                  <a:ext uri="{FF2B5EF4-FFF2-40B4-BE49-F238E27FC236}">
                    <a16:creationId xmlns:a16="http://schemas.microsoft.com/office/drawing/2014/main" id="{18D52E46-C1A6-1644-5124-ED88981EE0CB}"/>
                  </a:ext>
                </a:extLst>
              </p:cNvPr>
              <p:cNvSpPr>
                <a:spLocks noGrp="1" noRot="1" noChangeAspect="1" noMove="1" noResize="1" noEditPoints="1" noAdjustHandles="1" noChangeArrowheads="1" noChangeShapeType="1" noTextEdit="1"/>
              </p:cNvSpPr>
              <p:nvPr>
                <p:ph sz="half" idx="2"/>
              </p:nvPr>
            </p:nvSpPr>
            <p:spPr>
              <a:blipFill>
                <a:blip r:embed="rId4"/>
                <a:stretch>
                  <a:fillRect l="-2471" t="-2241"/>
                </a:stretch>
              </a:blipFill>
            </p:spPr>
            <p:txBody>
              <a:bodyPr/>
              <a:lstStyle/>
              <a:p>
                <a:r>
                  <a:rPr lang="en-US">
                    <a:noFill/>
                  </a:rPr>
                  <a:t> </a:t>
                </a:r>
              </a:p>
            </p:txBody>
          </p:sp>
        </mc:Fallback>
      </mc:AlternateContent>
    </p:spTree>
    <p:extLst>
      <p:ext uri="{BB962C8B-B14F-4D97-AF65-F5344CB8AC3E}">
        <p14:creationId xmlns:p14="http://schemas.microsoft.com/office/powerpoint/2010/main" val="2957971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C68DD-9755-3FC0-C75D-1D4E12046818}"/>
              </a:ext>
            </a:extLst>
          </p:cNvPr>
          <p:cNvSpPr>
            <a:spLocks noGrp="1"/>
          </p:cNvSpPr>
          <p:nvPr>
            <p:ph type="title"/>
          </p:nvPr>
        </p:nvSpPr>
        <p:spPr/>
        <p:txBody>
          <a:bodyPr/>
          <a:lstStyle/>
          <a:p>
            <a:r>
              <a:rPr lang="en-US" dirty="0"/>
              <a:t>DP Problem: Fibonacci Number (2)</a:t>
            </a:r>
          </a:p>
        </p:txBody>
      </p:sp>
      <p:pic>
        <p:nvPicPr>
          <p:cNvPr id="5" name="Content Placeholder 4">
            <a:extLst>
              <a:ext uri="{FF2B5EF4-FFF2-40B4-BE49-F238E27FC236}">
                <a16:creationId xmlns:a16="http://schemas.microsoft.com/office/drawing/2014/main" id="{422EF628-CDBD-2BF0-D0AC-75EF9D26C099}"/>
              </a:ext>
            </a:extLst>
          </p:cNvPr>
          <p:cNvPicPr>
            <a:picLocks noGrp="1" noChangeAspect="1"/>
          </p:cNvPicPr>
          <p:nvPr>
            <p:ph idx="1"/>
          </p:nvPr>
        </p:nvPicPr>
        <p:blipFill>
          <a:blip r:embed="rId2"/>
          <a:stretch>
            <a:fillRect/>
          </a:stretch>
        </p:blipFill>
        <p:spPr>
          <a:xfrm>
            <a:off x="1369906" y="1825625"/>
            <a:ext cx="9452188" cy="4351338"/>
          </a:xfrm>
        </p:spPr>
      </p:pic>
    </p:spTree>
    <p:extLst>
      <p:ext uri="{BB962C8B-B14F-4D97-AF65-F5344CB8AC3E}">
        <p14:creationId xmlns:p14="http://schemas.microsoft.com/office/powerpoint/2010/main" val="1864441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F0960-DA77-AB4C-ADAA-894970977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B511D-C31F-6336-B3EE-32A9AE14F34A}"/>
              </a:ext>
            </a:extLst>
          </p:cNvPr>
          <p:cNvSpPr>
            <a:spLocks noGrp="1"/>
          </p:cNvSpPr>
          <p:nvPr>
            <p:ph type="title"/>
          </p:nvPr>
        </p:nvSpPr>
        <p:spPr/>
        <p:txBody>
          <a:bodyPr/>
          <a:lstStyle/>
          <a:p>
            <a:r>
              <a:rPr lang="en-US" dirty="0"/>
              <a:t>DP Problem: Fibonacci Number (3)</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BC011EB1-2B34-F397-CFC6-32FE9F3D9C8C}"/>
                  </a:ext>
                </a:extLst>
              </p:cNvPr>
              <p:cNvSpPr>
                <a:spLocks noGrp="1"/>
              </p:cNvSpPr>
              <p:nvPr>
                <p:ph sz="half" idx="2"/>
              </p:nvPr>
            </p:nvSpPr>
            <p:spPr>
              <a:xfrm>
                <a:off x="7805394" y="1825625"/>
                <a:ext cx="3548406" cy="4351338"/>
              </a:xfrm>
            </p:spPr>
            <p:txBody>
              <a:bodyPr/>
              <a:lstStyle/>
              <a:p>
                <a:pPr marL="0" indent="0">
                  <a:buNone/>
                </a:pPr>
                <a:r>
                  <a:rPr lang="en-US" dirty="0"/>
                  <a:t>Time Complexity: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marL="0" indent="0">
                  <a:buNone/>
                </a:pPr>
                <a:r>
                  <a:rPr lang="en-US" dirty="0"/>
                  <a:t>Memory usage: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p:txBody>
          </p:sp>
        </mc:Choice>
        <mc:Fallback xmlns="">
          <p:sp>
            <p:nvSpPr>
              <p:cNvPr id="9" name="Content Placeholder 8">
                <a:extLst>
                  <a:ext uri="{FF2B5EF4-FFF2-40B4-BE49-F238E27FC236}">
                    <a16:creationId xmlns:a16="http://schemas.microsoft.com/office/drawing/2014/main" id="{BC011EB1-2B34-F397-CFC6-32FE9F3D9C8C}"/>
                  </a:ext>
                </a:extLst>
              </p:cNvPr>
              <p:cNvSpPr>
                <a:spLocks noGrp="1" noRot="1" noChangeAspect="1" noMove="1" noResize="1" noEditPoints="1" noAdjustHandles="1" noChangeArrowheads="1" noChangeShapeType="1" noTextEdit="1"/>
              </p:cNvSpPr>
              <p:nvPr>
                <p:ph sz="half" idx="2"/>
              </p:nvPr>
            </p:nvSpPr>
            <p:spPr>
              <a:xfrm>
                <a:off x="7805394" y="1825625"/>
                <a:ext cx="3548406" cy="4351338"/>
              </a:xfrm>
              <a:blipFill>
                <a:blip r:embed="rId3"/>
                <a:stretch>
                  <a:fillRect l="-3431" t="-2241"/>
                </a:stretch>
              </a:blipFill>
            </p:spPr>
            <p:txBody>
              <a:bodyPr/>
              <a:lstStyle/>
              <a:p>
                <a:r>
                  <a:rPr lang="en-US">
                    <a:noFill/>
                  </a:rPr>
                  <a:t> </a:t>
                </a:r>
              </a:p>
            </p:txBody>
          </p:sp>
        </mc:Fallback>
      </mc:AlternateContent>
      <p:pic>
        <p:nvPicPr>
          <p:cNvPr id="18" name="Content Placeholder 17">
            <a:extLst>
              <a:ext uri="{FF2B5EF4-FFF2-40B4-BE49-F238E27FC236}">
                <a16:creationId xmlns:a16="http://schemas.microsoft.com/office/drawing/2014/main" id="{63CE7526-D149-2F3E-32DC-238D596D4864}"/>
              </a:ext>
            </a:extLst>
          </p:cNvPr>
          <p:cNvPicPr>
            <a:picLocks noGrp="1" noChangeAspect="1"/>
          </p:cNvPicPr>
          <p:nvPr>
            <p:ph sz="half" idx="1"/>
          </p:nvPr>
        </p:nvPicPr>
        <p:blipFill>
          <a:blip r:embed="rId4"/>
          <a:stretch>
            <a:fillRect/>
          </a:stretch>
        </p:blipFill>
        <p:spPr>
          <a:xfrm>
            <a:off x="555395" y="1825624"/>
            <a:ext cx="6147063" cy="4685947"/>
          </a:xfrm>
        </p:spPr>
      </p:pic>
    </p:spTree>
    <p:extLst>
      <p:ext uri="{BB962C8B-B14F-4D97-AF65-F5344CB8AC3E}">
        <p14:creationId xmlns:p14="http://schemas.microsoft.com/office/powerpoint/2010/main" val="52026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AE860-7C62-27BD-6C9E-D22BFF2193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0B991-746A-3674-833E-C8BE07821A25}"/>
              </a:ext>
            </a:extLst>
          </p:cNvPr>
          <p:cNvSpPr>
            <a:spLocks noGrp="1"/>
          </p:cNvSpPr>
          <p:nvPr>
            <p:ph type="title"/>
          </p:nvPr>
        </p:nvSpPr>
        <p:spPr/>
        <p:txBody>
          <a:bodyPr/>
          <a:lstStyle/>
          <a:p>
            <a:r>
              <a:rPr lang="en-US" dirty="0"/>
              <a:t>DP Problem: Fibonacci Number (4)</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0EB68B73-2D03-DDF9-D294-E2608E5F4FA2}"/>
                  </a:ext>
                </a:extLst>
              </p:cNvPr>
              <p:cNvSpPr>
                <a:spLocks noGrp="1"/>
              </p:cNvSpPr>
              <p:nvPr>
                <p:ph sz="half" idx="2"/>
              </p:nvPr>
            </p:nvSpPr>
            <p:spPr>
              <a:xfrm>
                <a:off x="7626284" y="1825625"/>
                <a:ext cx="3727515" cy="4351338"/>
              </a:xfrm>
            </p:spPr>
            <p:txBody>
              <a:bodyPr/>
              <a:lstStyle/>
              <a:p>
                <a:pPr marL="0" indent="0">
                  <a:buNone/>
                </a:pPr>
                <a:r>
                  <a:rPr lang="en-US" dirty="0"/>
                  <a:t>Time Complexity: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marL="0" indent="0">
                  <a:buNone/>
                </a:pPr>
                <a:r>
                  <a:rPr lang="en-US" dirty="0"/>
                  <a:t>Memory usage: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p:txBody>
          </p:sp>
        </mc:Choice>
        <mc:Fallback xmlns="">
          <p:sp>
            <p:nvSpPr>
              <p:cNvPr id="9" name="Content Placeholder 8">
                <a:extLst>
                  <a:ext uri="{FF2B5EF4-FFF2-40B4-BE49-F238E27FC236}">
                    <a16:creationId xmlns:a16="http://schemas.microsoft.com/office/drawing/2014/main" id="{0EB68B73-2D03-DDF9-D294-E2608E5F4FA2}"/>
                  </a:ext>
                </a:extLst>
              </p:cNvPr>
              <p:cNvSpPr>
                <a:spLocks noGrp="1" noRot="1" noChangeAspect="1" noMove="1" noResize="1" noEditPoints="1" noAdjustHandles="1" noChangeArrowheads="1" noChangeShapeType="1" noTextEdit="1"/>
              </p:cNvSpPr>
              <p:nvPr>
                <p:ph sz="half" idx="2"/>
              </p:nvPr>
            </p:nvSpPr>
            <p:spPr>
              <a:xfrm>
                <a:off x="7626284" y="1825625"/>
                <a:ext cx="3727515" cy="4351338"/>
              </a:xfrm>
              <a:blipFill>
                <a:blip r:embed="rId2"/>
                <a:stretch>
                  <a:fillRect l="-3273" t="-2241"/>
                </a:stretch>
              </a:blipFill>
            </p:spPr>
            <p:txBody>
              <a:bodyPr/>
              <a:lstStyle/>
              <a:p>
                <a:r>
                  <a:rPr lang="en-US">
                    <a:noFill/>
                  </a:rPr>
                  <a:t> </a:t>
                </a:r>
              </a:p>
            </p:txBody>
          </p:sp>
        </mc:Fallback>
      </mc:AlternateContent>
      <p:pic>
        <p:nvPicPr>
          <p:cNvPr id="6" name="Content Placeholder 5">
            <a:extLst>
              <a:ext uri="{FF2B5EF4-FFF2-40B4-BE49-F238E27FC236}">
                <a16:creationId xmlns:a16="http://schemas.microsoft.com/office/drawing/2014/main" id="{FD71DCDD-DABA-D78C-2DAC-2F1805D85204}"/>
              </a:ext>
            </a:extLst>
          </p:cNvPr>
          <p:cNvPicPr>
            <a:picLocks noGrp="1" noChangeAspect="1"/>
          </p:cNvPicPr>
          <p:nvPr>
            <p:ph sz="half" idx="1"/>
          </p:nvPr>
        </p:nvPicPr>
        <p:blipFill>
          <a:blip r:embed="rId3"/>
          <a:stretch>
            <a:fillRect/>
          </a:stretch>
        </p:blipFill>
        <p:spPr>
          <a:xfrm>
            <a:off x="1061706" y="1881685"/>
            <a:ext cx="5263679" cy="4712952"/>
          </a:xfrm>
        </p:spPr>
      </p:pic>
    </p:spTree>
    <p:extLst>
      <p:ext uri="{BB962C8B-B14F-4D97-AF65-F5344CB8AC3E}">
        <p14:creationId xmlns:p14="http://schemas.microsoft.com/office/powerpoint/2010/main" val="376033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CD18C-AC9F-C0CA-902D-A322DBE7D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69CEA-FB72-D4EA-0CEC-65205668F453}"/>
              </a:ext>
            </a:extLst>
          </p:cNvPr>
          <p:cNvSpPr>
            <a:spLocks noGrp="1"/>
          </p:cNvSpPr>
          <p:nvPr>
            <p:ph type="title"/>
          </p:nvPr>
        </p:nvSpPr>
        <p:spPr/>
        <p:txBody>
          <a:bodyPr/>
          <a:lstStyle/>
          <a:p>
            <a:r>
              <a:rPr lang="en-US" dirty="0"/>
              <a:t>DP Problem: Fibonacci Number (5)</a:t>
            </a: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34CEE14F-CCB6-1E48-3194-3AEFE64CE3AB}"/>
                  </a:ext>
                </a:extLst>
              </p:cNvPr>
              <p:cNvSpPr>
                <a:spLocks noGrp="1"/>
              </p:cNvSpPr>
              <p:nvPr>
                <p:ph idx="1"/>
              </p:nvPr>
            </p:nvSpPr>
            <p:spPr/>
            <p:txBody>
              <a:bodyPr>
                <a:normAutofit fontScale="77500" lnSpcReduction="20000"/>
              </a:bodyPr>
              <a:lstStyle/>
              <a:p>
                <a:pPr>
                  <a:lnSpc>
                    <a:spcPct val="150000"/>
                  </a:lnSpc>
                  <a:spcAft>
                    <a:spcPts val="1200"/>
                  </a:spcAft>
                </a:pPr>
                <a14:m>
                  <m:oMath xmlns:m="http://schemas.openxmlformats.org/officeDocument/2006/math">
                    <m:sSup>
                      <m:sSupPr>
                        <m:ctrlPr>
                          <a:rPr lang="en-US" i="1" smtClean="0">
                            <a:latin typeface="Cambria Math" panose="02040503050406030204" pitchFamily="18" charset="0"/>
                          </a:rPr>
                        </m:ctrlPr>
                      </m:sSupPr>
                      <m:e>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mr>
                            </m:m>
                          </m:e>
                        </m:d>
                      </m:e>
                      <m:sup>
                        <m:r>
                          <m:rPr>
                            <m:sty m:val="p"/>
                          </m:rPr>
                          <a:rPr lang="en-US" b="0" i="1" smtClean="0">
                            <a:latin typeface="Cambria Math" panose="02040503050406030204" pitchFamily="18" charset="0"/>
                          </a:rPr>
                          <m:t>n</m:t>
                        </m:r>
                      </m:sup>
                    </m:s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sty m:val="p"/>
                                  <m:brk m:alnAt="7"/>
                                </m:rPr>
                                <a:rPr lang="en-US" b="0" i="1" smtClean="0">
                                  <a:latin typeface="Cambria Math" panose="02040503050406030204" pitchFamily="18" charset="0"/>
                                </a:rPr>
                                <m:t>F</m:t>
                              </m:r>
                              <m:r>
                                <a:rPr lang="en-US" b="0" i="1" smtClean="0">
                                  <a:latin typeface="Cambria Math" panose="02040503050406030204" pitchFamily="18" charset="0"/>
                                </a:rPr>
                                <m:t>(</m:t>
                              </m:r>
                              <m:r>
                                <m:rPr>
                                  <m:sty m:val="p"/>
                                </m:rPr>
                                <a:rPr lang="en-US" b="0" i="1" smtClean="0">
                                  <a:latin typeface="Cambria Math" panose="02040503050406030204" pitchFamily="18" charset="0"/>
                                </a:rPr>
                                <m:t>n</m:t>
                              </m:r>
                              <m:r>
                                <a:rPr lang="en-US" b="0" i="1" smtClean="0">
                                  <a:latin typeface="Cambria Math" panose="02040503050406030204" pitchFamily="18" charset="0"/>
                                </a:rPr>
                                <m:t>+1)</m:t>
                              </m:r>
                            </m:e>
                            <m:e>
                              <m:r>
                                <m:rPr>
                                  <m:sty m:val="p"/>
                                </m:rPr>
                                <a:rPr lang="en-US" b="0" i="1" smtClean="0">
                                  <a:latin typeface="Cambria Math" panose="02040503050406030204" pitchFamily="18" charset="0"/>
                                </a:rPr>
                                <m:t>F</m:t>
                              </m:r>
                              <m:r>
                                <a:rPr lang="en-US" b="0" i="1" smtClean="0">
                                  <a:latin typeface="Cambria Math" panose="02040503050406030204" pitchFamily="18" charset="0"/>
                                </a:rPr>
                                <m:t>(</m:t>
                              </m:r>
                              <m:r>
                                <m:rPr>
                                  <m:sty m:val="p"/>
                                </m:rPr>
                                <a:rPr lang="en-US" b="0" i="1" smtClean="0">
                                  <a:latin typeface="Cambria Math" panose="02040503050406030204" pitchFamily="18" charset="0"/>
                                </a:rPr>
                                <m:t>n</m:t>
                              </m:r>
                              <m:r>
                                <a:rPr lang="en-US" b="0" i="1" smtClean="0">
                                  <a:latin typeface="Cambria Math" panose="02040503050406030204" pitchFamily="18" charset="0"/>
                                </a:rPr>
                                <m:t>)</m:t>
                              </m:r>
                            </m:e>
                          </m:mr>
                          <m:mr>
                            <m:e>
                              <m:r>
                                <m:rPr>
                                  <m:sty m:val="p"/>
                                </m:rPr>
                                <a:rPr lang="en-US" b="0" i="1" smtClean="0">
                                  <a:latin typeface="Cambria Math" panose="02040503050406030204" pitchFamily="18" charset="0"/>
                                </a:rPr>
                                <m:t>F</m:t>
                              </m:r>
                              <m:r>
                                <a:rPr lang="en-US" b="0" i="1" smtClean="0">
                                  <a:latin typeface="Cambria Math" panose="02040503050406030204" pitchFamily="18" charset="0"/>
                                </a:rPr>
                                <m:t>(</m:t>
                              </m:r>
                              <m:r>
                                <m:rPr>
                                  <m:sty m:val="p"/>
                                </m:rPr>
                                <a:rPr lang="en-US" b="0" i="1" smtClean="0">
                                  <a:latin typeface="Cambria Math" panose="02040503050406030204" pitchFamily="18" charset="0"/>
                                </a:rPr>
                                <m:t>n</m:t>
                              </m:r>
                              <m:r>
                                <a:rPr lang="en-US" b="0" i="1" smtClean="0">
                                  <a:latin typeface="Cambria Math" panose="02040503050406030204" pitchFamily="18" charset="0"/>
                                </a:rPr>
                                <m:t>)</m:t>
                              </m:r>
                            </m:e>
                            <m:e>
                              <m:r>
                                <m:rPr>
                                  <m:sty m:val="p"/>
                                </m:rPr>
                                <a:rPr lang="en-US" b="0" i="1" smtClean="0">
                                  <a:latin typeface="Cambria Math" panose="02040503050406030204" pitchFamily="18" charset="0"/>
                                </a:rPr>
                                <m:t>F</m:t>
                              </m:r>
                              <m:r>
                                <a:rPr lang="en-US" b="0" i="1" smtClean="0">
                                  <a:latin typeface="Cambria Math" panose="02040503050406030204" pitchFamily="18" charset="0"/>
                                </a:rPr>
                                <m:t>(</m:t>
                              </m:r>
                              <m:r>
                                <m:rPr>
                                  <m:sty m:val="p"/>
                                </m:rPr>
                                <a:rPr lang="en-US" b="0" i="1" smtClean="0">
                                  <a:latin typeface="Cambria Math" panose="02040503050406030204" pitchFamily="18" charset="0"/>
                                </a:rPr>
                                <m:t>n</m:t>
                              </m:r>
                              <m:r>
                                <a:rPr lang="en-US" b="0" i="1" smtClean="0">
                                  <a:latin typeface="Cambria Math" panose="02040503050406030204" pitchFamily="18" charset="0"/>
                                </a:rPr>
                                <m:t>−1)</m:t>
                              </m:r>
                            </m:e>
                          </m:mr>
                        </m:m>
                      </m:e>
                    </m:d>
                  </m:oMath>
                </a14:m>
                <a:endParaRPr lang="en-US" dirty="0"/>
              </a:p>
              <a:p>
                <a:pPr>
                  <a:lnSpc>
                    <a:spcPct val="150000"/>
                  </a:lnSpc>
                  <a:spcAft>
                    <a:spcPts val="1200"/>
                  </a:spcAft>
                </a:pP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sty m:val="p"/>
                                  <m:brk m:alnAt="7"/>
                                </m:rPr>
                                <a:rPr lang="en-US" i="1">
                                  <a:latin typeface="Cambria Math" panose="02040503050406030204" pitchFamily="18" charset="0"/>
                                </a:rPr>
                                <m:t>F</m:t>
                              </m:r>
                              <m:r>
                                <a:rPr lang="en-US" i="1">
                                  <a:latin typeface="Cambria Math" panose="02040503050406030204" pitchFamily="18" charset="0"/>
                                </a:rPr>
                                <m:t>(</m:t>
                              </m:r>
                              <m:r>
                                <a:rPr lang="en-US" b="0" i="1" smtClean="0">
                                  <a:latin typeface="Cambria Math" panose="02040503050406030204" pitchFamily="18" charset="0"/>
                                </a:rPr>
                                <m:t>2</m:t>
                              </m:r>
                              <m:r>
                                <m:rPr>
                                  <m:sty m:val="p"/>
                                </m:rPr>
                                <a:rPr lang="en-US" i="1">
                                  <a:latin typeface="Cambria Math" panose="02040503050406030204" pitchFamily="18" charset="0"/>
                                </a:rPr>
                                <m:t>n</m:t>
                              </m:r>
                              <m:r>
                                <a:rPr lang="en-US" i="1">
                                  <a:latin typeface="Cambria Math" panose="02040503050406030204" pitchFamily="18" charset="0"/>
                                </a:rPr>
                                <m:t>+1)</m:t>
                              </m:r>
                            </m:e>
                            <m:e>
                              <m:r>
                                <m:rPr>
                                  <m:sty m:val="p"/>
                                </m:rPr>
                                <a:rPr lang="en-US" i="1">
                                  <a:latin typeface="Cambria Math" panose="02040503050406030204" pitchFamily="18" charset="0"/>
                                </a:rPr>
                                <m:t>F</m:t>
                              </m:r>
                              <m:r>
                                <a:rPr lang="en-US" i="1">
                                  <a:latin typeface="Cambria Math" panose="02040503050406030204" pitchFamily="18" charset="0"/>
                                </a:rPr>
                                <m:t>(2</m:t>
                              </m:r>
                              <m:r>
                                <m:rPr>
                                  <m:sty m:val="p"/>
                                </m:rPr>
                                <a:rPr lang="en-US" i="1">
                                  <a:latin typeface="Cambria Math" panose="02040503050406030204" pitchFamily="18" charset="0"/>
                                </a:rPr>
                                <m:t>n</m:t>
                              </m:r>
                              <m:r>
                                <a:rPr lang="en-US" i="1">
                                  <a:latin typeface="Cambria Math" panose="02040503050406030204" pitchFamily="18" charset="0"/>
                                </a:rPr>
                                <m:t>)</m:t>
                              </m:r>
                            </m:e>
                          </m:mr>
                          <m:mr>
                            <m:e>
                              <m:r>
                                <m:rPr>
                                  <m:sty m:val="p"/>
                                </m:rPr>
                                <a:rPr lang="en-US" i="1">
                                  <a:latin typeface="Cambria Math" panose="02040503050406030204" pitchFamily="18" charset="0"/>
                                </a:rPr>
                                <m:t>F</m:t>
                              </m:r>
                              <m:r>
                                <a:rPr lang="en-US" i="1">
                                  <a:latin typeface="Cambria Math" panose="02040503050406030204" pitchFamily="18" charset="0"/>
                                </a:rPr>
                                <m:t>(2</m:t>
                              </m:r>
                              <m:r>
                                <m:rPr>
                                  <m:sty m:val="p"/>
                                </m:rPr>
                                <a:rPr lang="en-US" i="1">
                                  <a:latin typeface="Cambria Math" panose="02040503050406030204" pitchFamily="18" charset="0"/>
                                </a:rPr>
                                <m:t>n</m:t>
                              </m:r>
                              <m:r>
                                <a:rPr lang="en-US" i="1">
                                  <a:latin typeface="Cambria Math" panose="02040503050406030204" pitchFamily="18" charset="0"/>
                                </a:rPr>
                                <m:t>)</m:t>
                              </m:r>
                            </m:e>
                            <m:e>
                              <m:r>
                                <m:rPr>
                                  <m:sty m:val="p"/>
                                </m:rPr>
                                <a:rPr lang="en-US" i="1">
                                  <a:latin typeface="Cambria Math" panose="02040503050406030204" pitchFamily="18" charset="0"/>
                                </a:rPr>
                                <m:t>F</m:t>
                              </m:r>
                              <m:r>
                                <a:rPr lang="en-US" i="1">
                                  <a:latin typeface="Cambria Math" panose="02040503050406030204" pitchFamily="18" charset="0"/>
                                </a:rPr>
                                <m:t>(2</m:t>
                              </m:r>
                              <m:r>
                                <m:rPr>
                                  <m:sty m:val="p"/>
                                </m:rPr>
                                <a:rPr lang="en-US" i="1">
                                  <a:latin typeface="Cambria Math" panose="02040503050406030204" pitchFamily="18" charset="0"/>
                                </a:rPr>
                                <m:t>n</m:t>
                              </m:r>
                              <m:r>
                                <a:rPr lang="en-US" i="1">
                                  <a:latin typeface="Cambria Math" panose="02040503050406030204" pitchFamily="18" charset="0"/>
                                </a:rPr>
                                <m:t>−1)</m:t>
                              </m:r>
                            </m:e>
                          </m:mr>
                        </m:m>
                      </m:e>
                    </m:d>
                    <m:r>
                      <a:rPr lang="en-US" b="0" i="1" smtClean="0">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1</m:t>
                                  </m:r>
                                </m:e>
                              </m:mr>
                              <m:mr>
                                <m:e>
                                  <m:r>
                                    <a:rPr lang="en-US" i="1">
                                      <a:latin typeface="Cambria Math" panose="02040503050406030204" pitchFamily="18" charset="0"/>
                                    </a:rPr>
                                    <m:t>1</m:t>
                                  </m:r>
                                </m:e>
                                <m:e>
                                  <m:r>
                                    <a:rPr lang="en-US" i="1">
                                      <a:latin typeface="Cambria Math" panose="02040503050406030204" pitchFamily="18" charset="0"/>
                                    </a:rPr>
                                    <m:t>0</m:t>
                                  </m:r>
                                </m:e>
                              </m:mr>
                            </m:m>
                          </m:e>
                        </m:d>
                      </m:e>
                      <m:sup>
                        <m:r>
                          <a:rPr lang="en-US" i="1">
                            <a:latin typeface="Cambria Math" panose="02040503050406030204" pitchFamily="18" charset="0"/>
                          </a:rPr>
                          <m:t>2</m:t>
                        </m:r>
                        <m:r>
                          <m:rPr>
                            <m:sty m:val="p"/>
                          </m:rPr>
                          <a:rPr lang="en-US" i="1">
                            <a:latin typeface="Cambria Math" panose="02040503050406030204" pitchFamily="18" charset="0"/>
                          </a:rPr>
                          <m:t>n</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1</m:t>
                                          </m:r>
                                        </m:e>
                                      </m:mr>
                                      <m:mr>
                                        <m:e>
                                          <m:r>
                                            <a:rPr lang="en-US" i="1">
                                              <a:latin typeface="Cambria Math" panose="02040503050406030204" pitchFamily="18" charset="0"/>
                                            </a:rPr>
                                            <m:t>1</m:t>
                                          </m:r>
                                        </m:e>
                                        <m:e>
                                          <m:r>
                                            <a:rPr lang="en-US" i="1">
                                              <a:latin typeface="Cambria Math" panose="02040503050406030204" pitchFamily="18" charset="0"/>
                                            </a:rPr>
                                            <m:t>0</m:t>
                                          </m:r>
                                        </m:e>
                                      </m:mr>
                                    </m:m>
                                  </m:e>
                                </m:d>
                              </m:e>
                              <m:sup>
                                <m:r>
                                  <m:rPr>
                                    <m:sty m:val="p"/>
                                  </m:rPr>
                                  <a:rPr lang="en-US" i="1">
                                    <a:latin typeface="Cambria Math" panose="02040503050406030204" pitchFamily="18" charset="0"/>
                                  </a:rPr>
                                  <m:t>n</m:t>
                                </m:r>
                              </m:sup>
                            </m:sSup>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m:rPr>
                                          <m:sty m:val="p"/>
                                          <m:brk m:alnAt="7"/>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+1)</m:t>
                                      </m:r>
                                    </m:e>
                                    <m:e>
                                      <m:r>
                                        <m:rPr>
                                          <m:sty m:val="p"/>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m:t>
                                      </m:r>
                                    </m:e>
                                  </m:mr>
                                  <m:mr>
                                    <m:e>
                                      <m:r>
                                        <m:rPr>
                                          <m:sty m:val="p"/>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m:t>
                                      </m:r>
                                    </m:e>
                                    <m:e>
                                      <m:r>
                                        <m:rPr>
                                          <m:sty m:val="p"/>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−1)</m:t>
                                      </m:r>
                                    </m:e>
                                  </m:mr>
                                </m:m>
                              </m:e>
                            </m:d>
                          </m:e>
                        </m:d>
                      </m:e>
                      <m:sup>
                        <m:r>
                          <a:rPr lang="en-US" i="1">
                            <a:latin typeface="Cambria Math" panose="02040503050406030204" pitchFamily="18" charset="0"/>
                          </a:rPr>
                          <m:t>2</m:t>
                        </m:r>
                      </m:sup>
                    </m:sSup>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sSup>
                                <m:sSupPr>
                                  <m:ctrlPr>
                                    <a:rPr lang="en-US" i="1" smtClean="0">
                                      <a:latin typeface="Cambria Math" panose="02040503050406030204" pitchFamily="18" charset="0"/>
                                    </a:rPr>
                                  </m:ctrlPr>
                                </m:sSupPr>
                                <m:e>
                                  <m:r>
                                    <m:rPr>
                                      <m:sty m:val="p"/>
                                      <m:brk m:alnAt="7"/>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+1)</m:t>
                                  </m:r>
                                </m:e>
                                <m:sup>
                                  <m:r>
                                    <a:rPr lang="en-US" b="0" i="1" smtClean="0">
                                      <a:latin typeface="Cambria Math" panose="02040503050406030204" pitchFamily="18" charset="0"/>
                                    </a:rPr>
                                    <m:t>2</m:t>
                                  </m:r>
                                </m:sup>
                              </m:sSup>
                              <m:r>
                                <m:rPr>
                                  <m:brk m:alnAt="7"/>
                                </m:rPr>
                                <a:rPr lang="en-US" b="0" i="1" smtClean="0">
                                  <a:latin typeface="Cambria Math" panose="02040503050406030204" pitchFamily="18" charset="0"/>
                                </a:rPr>
                                <m:t>+</m:t>
                              </m:r>
                              <m:sSup>
                                <m:sSupPr>
                                  <m:ctrlPr>
                                    <a:rPr lang="en-US" i="1">
                                      <a:latin typeface="Cambria Math" panose="02040503050406030204" pitchFamily="18" charset="0"/>
                                    </a:rPr>
                                  </m:ctrlPr>
                                </m:sSupPr>
                                <m:e>
                                  <m:r>
                                    <m:rPr>
                                      <m:sty m:val="p"/>
                                      <m:brk m:alnAt="7"/>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m:t>
                                  </m:r>
                                </m:e>
                                <m:sup>
                                  <m:r>
                                    <a:rPr lang="en-US" i="1">
                                      <a:latin typeface="Cambria Math" panose="02040503050406030204" pitchFamily="18" charset="0"/>
                                    </a:rPr>
                                    <m:t>2</m:t>
                                  </m:r>
                                </m:sup>
                              </m:sSup>
                            </m:e>
                            <m:e>
                              <m:r>
                                <m:rPr>
                                  <m:sty m:val="p"/>
                                  <m:brk m:alnAt="7"/>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+1)</m:t>
                              </m:r>
                              <m:r>
                                <m:rPr>
                                  <m:sty m:val="p"/>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m:t>
                              </m:r>
                              <m:r>
                                <m:rPr>
                                  <m:sty m:val="p"/>
                                  <m:brk m:alnAt="7"/>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m:t>
                              </m:r>
                              <m:r>
                                <m:rPr>
                                  <m:sty m:val="p"/>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−1)</m:t>
                              </m:r>
                            </m:e>
                          </m:mr>
                          <m:mr>
                            <m:e>
                              <m:r>
                                <m:rPr>
                                  <m:sty m:val="p"/>
                                  <m:brk m:alnAt="7"/>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+1)</m:t>
                              </m:r>
                              <m:r>
                                <m:rPr>
                                  <m:sty m:val="p"/>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m:t>
                              </m:r>
                              <m:r>
                                <m:rPr>
                                  <m:sty m:val="p"/>
                                  <m:brk m:alnAt="7"/>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m:t>
                              </m:r>
                              <m:r>
                                <m:rPr>
                                  <m:sty m:val="p"/>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−1)</m:t>
                              </m:r>
                            </m:e>
                            <m:e>
                              <m:sSup>
                                <m:sSupPr>
                                  <m:ctrlPr>
                                    <a:rPr lang="en-US" i="1">
                                      <a:latin typeface="Cambria Math" panose="02040503050406030204" pitchFamily="18" charset="0"/>
                                    </a:rPr>
                                  </m:ctrlPr>
                                </m:sSupPr>
                                <m:e>
                                  <m:r>
                                    <m:rPr>
                                      <m:sty m:val="p"/>
                                      <m:brk m:alnAt="7"/>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m:t>
                                  </m:r>
                                </m:e>
                                <m:sup>
                                  <m:r>
                                    <a:rPr lang="en-US" i="1">
                                      <a:latin typeface="Cambria Math" panose="02040503050406030204" pitchFamily="18" charset="0"/>
                                    </a:rPr>
                                    <m:t>2</m:t>
                                  </m:r>
                                </m:sup>
                              </m:sSup>
                              <m:r>
                                <m:rPr>
                                  <m:brk m:alnAt="7"/>
                                </m:rPr>
                                <a:rPr lang="en-US" i="1">
                                  <a:latin typeface="Cambria Math" panose="02040503050406030204" pitchFamily="18" charset="0"/>
                                </a:rPr>
                                <m:t>+</m:t>
                              </m:r>
                              <m:sSup>
                                <m:sSupPr>
                                  <m:ctrlPr>
                                    <a:rPr lang="en-US" i="1">
                                      <a:latin typeface="Cambria Math" panose="02040503050406030204" pitchFamily="18" charset="0"/>
                                    </a:rPr>
                                  </m:ctrlPr>
                                </m:sSupPr>
                                <m:e>
                                  <m:r>
                                    <m:rPr>
                                      <m:sty m:val="p"/>
                                      <m:brk m:alnAt="7"/>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−1)</m:t>
                                  </m:r>
                                </m:e>
                                <m:sup>
                                  <m:r>
                                    <a:rPr lang="en-US" i="1">
                                      <a:latin typeface="Cambria Math" panose="02040503050406030204" pitchFamily="18" charset="0"/>
                                    </a:rPr>
                                    <m:t>2</m:t>
                                  </m:r>
                                </m:sup>
                              </m:sSup>
                            </m:e>
                          </m:mr>
                        </m:m>
                      </m:e>
                    </m:d>
                  </m:oMath>
                </a14:m>
                <a:endParaRPr lang="en-US" dirty="0"/>
              </a:p>
              <a:p>
                <a:pPr>
                  <a:lnSpc>
                    <a:spcPct val="150000"/>
                  </a:lnSpc>
                  <a:spcAft>
                    <a:spcPts val="1200"/>
                  </a:spcAft>
                </a:pPr>
                <a14:m>
                  <m:oMath xmlns:m="http://schemas.openxmlformats.org/officeDocument/2006/math">
                    <m:r>
                      <m:rPr>
                        <m:sty m:val="p"/>
                      </m:rPr>
                      <a:rPr lang="en-US" i="1">
                        <a:latin typeface="Cambria Math" panose="02040503050406030204" pitchFamily="18" charset="0"/>
                      </a:rPr>
                      <m:t>F</m:t>
                    </m:r>
                    <m:r>
                      <a:rPr lang="en-US" i="1">
                        <a:latin typeface="Cambria Math" panose="02040503050406030204" pitchFamily="18" charset="0"/>
                      </a:rPr>
                      <m:t>(2</m:t>
                    </m:r>
                    <m:r>
                      <m:rPr>
                        <m:sty m:val="p"/>
                      </m:rPr>
                      <a:rPr lang="en-US" i="1">
                        <a:latin typeface="Cambria Math" panose="02040503050406030204" pitchFamily="18" charset="0"/>
                      </a:rPr>
                      <m:t>n</m:t>
                    </m:r>
                    <m:r>
                      <a:rPr lang="en-US" i="1">
                        <a:latin typeface="Cambria Math" panose="02040503050406030204" pitchFamily="18" charset="0"/>
                      </a:rPr>
                      <m:t>)=</m:t>
                    </m:r>
                    <m:r>
                      <m:rPr>
                        <m:sty m:val="p"/>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m:t>
                    </m:r>
                    <m:d>
                      <m:dPr>
                        <m:ctrlPr>
                          <a:rPr lang="en-US" i="1" smtClean="0">
                            <a:latin typeface="Cambria Math" panose="02040503050406030204" pitchFamily="18" charset="0"/>
                          </a:rPr>
                        </m:ctrlPr>
                      </m:dPr>
                      <m:e>
                        <m:r>
                          <a:rPr lang="en-US" b="0" i="1" smtClean="0">
                            <a:latin typeface="Cambria Math" panose="02040503050406030204" pitchFamily="18" charset="0"/>
                          </a:rPr>
                          <m:t>2</m:t>
                        </m:r>
                        <m:r>
                          <m:rPr>
                            <m:sty m:val="p"/>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b="0" i="1" smtClean="0">
                            <a:latin typeface="Cambria Math" panose="02040503050406030204" pitchFamily="18" charset="0"/>
                          </a:rPr>
                          <m:t>+1</m:t>
                        </m:r>
                        <m:r>
                          <a:rPr lang="en-US" i="1">
                            <a:latin typeface="Cambria Math" panose="02040503050406030204" pitchFamily="18" charset="0"/>
                          </a:rPr>
                          <m:t>)−</m:t>
                        </m:r>
                        <m:r>
                          <m:rPr>
                            <m:sty m:val="p"/>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m:t>
                        </m:r>
                      </m:e>
                    </m:d>
                  </m:oMath>
                </a14:m>
                <a:r>
                  <a:rPr lang="en-US" dirty="0"/>
                  <a:t>;     </a:t>
                </a:r>
                <a14:m>
                  <m:oMath xmlns:m="http://schemas.openxmlformats.org/officeDocument/2006/math">
                    <m:r>
                      <m:rPr>
                        <m:sty m:val="p"/>
                      </m:rPr>
                      <a:rPr lang="en-US" i="1">
                        <a:latin typeface="Cambria Math" panose="02040503050406030204" pitchFamily="18" charset="0"/>
                      </a:rPr>
                      <m:t>F</m:t>
                    </m:r>
                    <m:r>
                      <a:rPr lang="en-US" i="1">
                        <a:latin typeface="Cambria Math" panose="02040503050406030204" pitchFamily="18" charset="0"/>
                      </a:rPr>
                      <m:t>(2</m:t>
                    </m:r>
                    <m:r>
                      <m:rPr>
                        <m:sty m:val="p"/>
                      </m:rPr>
                      <a:rPr lang="en-US" i="1">
                        <a:latin typeface="Cambria Math" panose="02040503050406030204" pitchFamily="18" charset="0"/>
                      </a:rPr>
                      <m:t>n</m:t>
                    </m:r>
                    <m:r>
                      <a:rPr lang="en-US" i="1">
                        <a:latin typeface="Cambria Math" panose="02040503050406030204" pitchFamily="18" charset="0"/>
                      </a:rPr>
                      <m:t>−1)=</m:t>
                    </m:r>
                    <m:sSup>
                      <m:sSupPr>
                        <m:ctrlPr>
                          <a:rPr lang="en-US" i="1">
                            <a:latin typeface="Cambria Math" panose="02040503050406030204" pitchFamily="18" charset="0"/>
                          </a:rPr>
                        </m:ctrlPr>
                      </m:sSupPr>
                      <m:e>
                        <m:r>
                          <m:rPr>
                            <m:sty m:val="p"/>
                            <m:brk m:alnAt="7"/>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m:t>
                        </m:r>
                      </m:e>
                      <m:sup>
                        <m:r>
                          <a:rPr lang="en-US" i="1">
                            <a:latin typeface="Cambria Math" panose="02040503050406030204" pitchFamily="18" charset="0"/>
                          </a:rPr>
                          <m:t>2</m:t>
                        </m:r>
                      </m:sup>
                    </m:sSup>
                    <m:r>
                      <m:rPr>
                        <m:brk m:alnAt="7"/>
                      </m:rPr>
                      <a:rPr lang="en-US" i="1">
                        <a:latin typeface="Cambria Math" panose="02040503050406030204" pitchFamily="18" charset="0"/>
                      </a:rPr>
                      <m:t>+</m:t>
                    </m:r>
                    <m:sSup>
                      <m:sSupPr>
                        <m:ctrlPr>
                          <a:rPr lang="en-US" i="1">
                            <a:latin typeface="Cambria Math" panose="02040503050406030204" pitchFamily="18" charset="0"/>
                          </a:rPr>
                        </m:ctrlPr>
                      </m:sSupPr>
                      <m:e>
                        <m:r>
                          <m:rPr>
                            <m:sty m:val="p"/>
                            <m:brk m:alnAt="7"/>
                          </m:rPr>
                          <a:rPr lang="en-US" i="1">
                            <a:latin typeface="Cambria Math" panose="02040503050406030204" pitchFamily="18" charset="0"/>
                          </a:rPr>
                          <m:t>F</m:t>
                        </m:r>
                        <m:r>
                          <a:rPr lang="en-US" i="1">
                            <a:latin typeface="Cambria Math" panose="02040503050406030204" pitchFamily="18" charset="0"/>
                          </a:rPr>
                          <m:t>(</m:t>
                        </m:r>
                        <m:r>
                          <m:rPr>
                            <m:sty m:val="p"/>
                          </m:rPr>
                          <a:rPr lang="en-US" i="1">
                            <a:latin typeface="Cambria Math" panose="02040503050406030204" pitchFamily="18" charset="0"/>
                          </a:rPr>
                          <m:t>n</m:t>
                        </m:r>
                        <m:r>
                          <a:rPr lang="en-US" i="1">
                            <a:latin typeface="Cambria Math" panose="02040503050406030204" pitchFamily="18" charset="0"/>
                          </a:rPr>
                          <m:t>−1)</m:t>
                        </m:r>
                      </m:e>
                      <m:sup>
                        <m:r>
                          <a:rPr lang="en-US" i="1">
                            <a:latin typeface="Cambria Math" panose="02040503050406030204" pitchFamily="18" charset="0"/>
                          </a:rPr>
                          <m:t>2</m:t>
                        </m:r>
                      </m:sup>
                    </m:sSup>
                  </m:oMath>
                </a14:m>
                <a:endParaRPr lang="en-US" dirty="0"/>
              </a:p>
            </p:txBody>
          </p:sp>
        </mc:Choice>
        <mc:Fallback xmlns="">
          <p:sp>
            <p:nvSpPr>
              <p:cNvPr id="8" name="Content Placeholder 7">
                <a:extLst>
                  <a:ext uri="{FF2B5EF4-FFF2-40B4-BE49-F238E27FC236}">
                    <a16:creationId xmlns:a16="http://schemas.microsoft.com/office/drawing/2014/main" id="{34CEE14F-CCB6-1E48-3194-3AEFE64CE3AB}"/>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n-US">
                    <a:noFill/>
                  </a:rPr>
                  <a:t> </a:t>
                </a:r>
              </a:p>
            </p:txBody>
          </p:sp>
        </mc:Fallback>
      </mc:AlternateContent>
    </p:spTree>
    <p:extLst>
      <p:ext uri="{BB962C8B-B14F-4D97-AF65-F5344CB8AC3E}">
        <p14:creationId xmlns:p14="http://schemas.microsoft.com/office/powerpoint/2010/main" val="673005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CAC2-7BC0-F86B-911D-067B3694B0A4}"/>
              </a:ext>
            </a:extLst>
          </p:cNvPr>
          <p:cNvSpPr>
            <a:spLocks noGrp="1"/>
          </p:cNvSpPr>
          <p:nvPr>
            <p:ph type="title"/>
          </p:nvPr>
        </p:nvSpPr>
        <p:spPr/>
        <p:txBody>
          <a:bodyPr/>
          <a:lstStyle/>
          <a:p>
            <a:r>
              <a:rPr lang="en-US" dirty="0"/>
              <a:t>Tabulation vs Memoization (1)</a:t>
            </a:r>
          </a:p>
        </p:txBody>
      </p:sp>
      <p:sp>
        <p:nvSpPr>
          <p:cNvPr id="4" name="Text Placeholder 3">
            <a:extLst>
              <a:ext uri="{FF2B5EF4-FFF2-40B4-BE49-F238E27FC236}">
                <a16:creationId xmlns:a16="http://schemas.microsoft.com/office/drawing/2014/main" id="{94F57517-9606-DB44-E57D-418EB14DDB9F}"/>
              </a:ext>
            </a:extLst>
          </p:cNvPr>
          <p:cNvSpPr>
            <a:spLocks noGrp="1"/>
          </p:cNvSpPr>
          <p:nvPr>
            <p:ph type="body" idx="1"/>
          </p:nvPr>
        </p:nvSpPr>
        <p:spPr/>
        <p:txBody>
          <a:bodyPr/>
          <a:lstStyle/>
          <a:p>
            <a:r>
              <a:rPr lang="en-US" dirty="0"/>
              <a:t>Tabulation</a:t>
            </a:r>
          </a:p>
        </p:txBody>
      </p:sp>
      <p:sp>
        <p:nvSpPr>
          <p:cNvPr id="5" name="Content Placeholder 4">
            <a:extLst>
              <a:ext uri="{FF2B5EF4-FFF2-40B4-BE49-F238E27FC236}">
                <a16:creationId xmlns:a16="http://schemas.microsoft.com/office/drawing/2014/main" id="{FCE20F2E-FB32-9E45-3711-F3E337F345BD}"/>
              </a:ext>
            </a:extLst>
          </p:cNvPr>
          <p:cNvSpPr>
            <a:spLocks noGrp="1"/>
          </p:cNvSpPr>
          <p:nvPr>
            <p:ph sz="half" idx="2"/>
          </p:nvPr>
        </p:nvSpPr>
        <p:spPr/>
        <p:txBody>
          <a:bodyPr/>
          <a:lstStyle/>
          <a:p>
            <a:r>
              <a:rPr lang="en-US" dirty="0"/>
              <a:t>Bottom-up approach</a:t>
            </a:r>
          </a:p>
          <a:p>
            <a:r>
              <a:rPr lang="en-US" dirty="0"/>
              <a:t>Stores the results of subproblems in a table</a:t>
            </a:r>
          </a:p>
          <a:p>
            <a:r>
              <a:rPr lang="en-US" dirty="0"/>
              <a:t>Iterative implementation</a:t>
            </a:r>
          </a:p>
          <a:p>
            <a:r>
              <a:rPr lang="en-US" dirty="0"/>
              <a:t>Entries are filled in a bottom-up manner from the smallest size to the final size.</a:t>
            </a:r>
          </a:p>
        </p:txBody>
      </p:sp>
      <p:sp>
        <p:nvSpPr>
          <p:cNvPr id="6" name="Text Placeholder 5">
            <a:extLst>
              <a:ext uri="{FF2B5EF4-FFF2-40B4-BE49-F238E27FC236}">
                <a16:creationId xmlns:a16="http://schemas.microsoft.com/office/drawing/2014/main" id="{7014139D-CE12-54FF-DBB6-BAD147526927}"/>
              </a:ext>
            </a:extLst>
          </p:cNvPr>
          <p:cNvSpPr>
            <a:spLocks noGrp="1"/>
          </p:cNvSpPr>
          <p:nvPr>
            <p:ph type="body" sz="quarter" idx="3"/>
          </p:nvPr>
        </p:nvSpPr>
        <p:spPr/>
        <p:txBody>
          <a:bodyPr/>
          <a:lstStyle/>
          <a:p>
            <a:r>
              <a:rPr lang="en-US" dirty="0"/>
              <a:t>Memoization</a:t>
            </a:r>
          </a:p>
        </p:txBody>
      </p:sp>
      <p:sp>
        <p:nvSpPr>
          <p:cNvPr id="7" name="Content Placeholder 6">
            <a:extLst>
              <a:ext uri="{FF2B5EF4-FFF2-40B4-BE49-F238E27FC236}">
                <a16:creationId xmlns:a16="http://schemas.microsoft.com/office/drawing/2014/main" id="{F79920A0-CF2E-C740-5E64-B57015A58F9B}"/>
              </a:ext>
            </a:extLst>
          </p:cNvPr>
          <p:cNvSpPr>
            <a:spLocks noGrp="1"/>
          </p:cNvSpPr>
          <p:nvPr>
            <p:ph sz="quarter" idx="4"/>
          </p:nvPr>
        </p:nvSpPr>
        <p:spPr/>
        <p:txBody>
          <a:bodyPr/>
          <a:lstStyle/>
          <a:p>
            <a:r>
              <a:rPr lang="en-US" dirty="0"/>
              <a:t>Top-down approach</a:t>
            </a:r>
          </a:p>
          <a:p>
            <a:r>
              <a:rPr lang="en-US" dirty="0"/>
              <a:t>Stores the results of function calls in a table.</a:t>
            </a:r>
          </a:p>
          <a:p>
            <a:r>
              <a:rPr lang="en-US" dirty="0"/>
              <a:t>Recursive implementation</a:t>
            </a:r>
          </a:p>
          <a:p>
            <a:r>
              <a:rPr lang="en-US" dirty="0"/>
              <a:t>Entries are filled when needed.</a:t>
            </a:r>
          </a:p>
        </p:txBody>
      </p:sp>
    </p:spTree>
    <p:extLst>
      <p:ext uri="{BB962C8B-B14F-4D97-AF65-F5344CB8AC3E}">
        <p14:creationId xmlns:p14="http://schemas.microsoft.com/office/powerpoint/2010/main" val="2038347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A4475-B108-6757-E663-A7368BBAC8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CF5819-2336-AA4E-2ADB-C4FAC9D4483D}"/>
              </a:ext>
            </a:extLst>
          </p:cNvPr>
          <p:cNvSpPr>
            <a:spLocks noGrp="1"/>
          </p:cNvSpPr>
          <p:nvPr>
            <p:ph type="title"/>
          </p:nvPr>
        </p:nvSpPr>
        <p:spPr/>
        <p:txBody>
          <a:bodyPr/>
          <a:lstStyle/>
          <a:p>
            <a:r>
              <a:rPr lang="en-US" dirty="0"/>
              <a:t>Tabulation vs Memoization (2)</a:t>
            </a:r>
          </a:p>
        </p:txBody>
      </p:sp>
      <p:graphicFrame>
        <p:nvGraphicFramePr>
          <p:cNvPr id="3" name="Content Placeholder 2">
            <a:extLst>
              <a:ext uri="{FF2B5EF4-FFF2-40B4-BE49-F238E27FC236}">
                <a16:creationId xmlns:a16="http://schemas.microsoft.com/office/drawing/2014/main" id="{7E5672B4-1163-8504-1A2C-730A5F474AC7}"/>
              </a:ext>
            </a:extLst>
          </p:cNvPr>
          <p:cNvGraphicFramePr>
            <a:graphicFrameLocks noGrp="1"/>
          </p:cNvGraphicFramePr>
          <p:nvPr>
            <p:ph idx="1"/>
            <p:extLst>
              <p:ext uri="{D42A27DB-BD31-4B8C-83A1-F6EECF244321}">
                <p14:modId xmlns:p14="http://schemas.microsoft.com/office/powerpoint/2010/main" val="1958725303"/>
              </p:ext>
            </p:extLst>
          </p:nvPr>
        </p:nvGraphicFramePr>
        <p:xfrm>
          <a:off x="838200" y="1825625"/>
          <a:ext cx="10515597" cy="4124960"/>
        </p:xfrm>
        <a:graphic>
          <a:graphicData uri="http://schemas.openxmlformats.org/drawingml/2006/table">
            <a:tbl>
              <a:tblPr firstRow="1" firstCol="1" bandRow="1">
                <a:tableStyleId>{5C22544A-7EE6-4342-B048-85BDC9FD1C3A}</a:tableStyleId>
              </a:tblPr>
              <a:tblGrid>
                <a:gridCol w="1471367">
                  <a:extLst>
                    <a:ext uri="{9D8B030D-6E8A-4147-A177-3AD203B41FA5}">
                      <a16:colId xmlns:a16="http://schemas.microsoft.com/office/drawing/2014/main" val="3120895533"/>
                    </a:ext>
                  </a:extLst>
                </a:gridCol>
                <a:gridCol w="4270342">
                  <a:extLst>
                    <a:ext uri="{9D8B030D-6E8A-4147-A177-3AD203B41FA5}">
                      <a16:colId xmlns:a16="http://schemas.microsoft.com/office/drawing/2014/main" val="2647333154"/>
                    </a:ext>
                  </a:extLst>
                </a:gridCol>
                <a:gridCol w="4773888">
                  <a:extLst>
                    <a:ext uri="{9D8B030D-6E8A-4147-A177-3AD203B41FA5}">
                      <a16:colId xmlns:a16="http://schemas.microsoft.com/office/drawing/2014/main" val="1851155209"/>
                    </a:ext>
                  </a:extLst>
                </a:gridCol>
              </a:tblGrid>
              <a:tr h="370840">
                <a:tc>
                  <a:txBody>
                    <a:bodyPr/>
                    <a:lstStyle/>
                    <a:p>
                      <a:pPr algn="l"/>
                      <a:endParaRPr lang="en-US" dirty="0"/>
                    </a:p>
                  </a:txBody>
                  <a:tcPr anchor="ctr"/>
                </a:tc>
                <a:tc>
                  <a:txBody>
                    <a:bodyPr/>
                    <a:lstStyle/>
                    <a:p>
                      <a:pPr algn="l"/>
                      <a:r>
                        <a:rPr lang="en-US" dirty="0"/>
                        <a:t>Tabulation</a:t>
                      </a:r>
                    </a:p>
                  </a:txBody>
                  <a:tcPr anchor="ctr"/>
                </a:tc>
                <a:tc>
                  <a:txBody>
                    <a:bodyPr/>
                    <a:lstStyle/>
                    <a:p>
                      <a:pPr algn="l"/>
                      <a:r>
                        <a:rPr lang="en-US" dirty="0"/>
                        <a:t>Memoization</a:t>
                      </a:r>
                    </a:p>
                  </a:txBody>
                  <a:tcPr anchor="ctr"/>
                </a:tc>
                <a:extLst>
                  <a:ext uri="{0D108BD9-81ED-4DB2-BD59-A6C34878D82A}">
                    <a16:rowId xmlns:a16="http://schemas.microsoft.com/office/drawing/2014/main" val="1634174698"/>
                  </a:ext>
                </a:extLst>
              </a:tr>
              <a:tr h="173800">
                <a:tc>
                  <a:txBody>
                    <a:bodyPr/>
                    <a:lstStyle/>
                    <a:p>
                      <a:pPr algn="l"/>
                      <a:r>
                        <a:rPr lang="en-US" dirty="0"/>
                        <a:t>State</a:t>
                      </a:r>
                    </a:p>
                  </a:txBody>
                  <a:tcPr anchor="ctr"/>
                </a:tc>
                <a:tc>
                  <a:txBody>
                    <a:bodyPr/>
                    <a:lstStyle/>
                    <a:p>
                      <a:pPr algn="l"/>
                      <a:r>
                        <a:rPr lang="en-US" dirty="0"/>
                        <a:t>State transition relation is difficult to think.</a:t>
                      </a:r>
                    </a:p>
                  </a:txBody>
                  <a:tcPr anchor="ctr"/>
                </a:tc>
                <a:tc>
                  <a:txBody>
                    <a:bodyPr/>
                    <a:lstStyle/>
                    <a:p>
                      <a:pPr algn="l"/>
                      <a:r>
                        <a:rPr lang="en-US" dirty="0"/>
                        <a:t>State Transition relation is easy to think.</a:t>
                      </a:r>
                    </a:p>
                  </a:txBody>
                  <a:tcPr anchor="ctr"/>
                </a:tc>
                <a:extLst>
                  <a:ext uri="{0D108BD9-81ED-4DB2-BD59-A6C34878D82A}">
                    <a16:rowId xmlns:a16="http://schemas.microsoft.com/office/drawing/2014/main" val="138348130"/>
                  </a:ext>
                </a:extLst>
              </a:tr>
              <a:tr h="370840">
                <a:tc>
                  <a:txBody>
                    <a:bodyPr/>
                    <a:lstStyle/>
                    <a:p>
                      <a:pPr algn="l"/>
                      <a:r>
                        <a:rPr lang="en-US" dirty="0"/>
                        <a:t>Code</a:t>
                      </a:r>
                    </a:p>
                  </a:txBody>
                  <a:tcPr anchor="ctr"/>
                </a:tc>
                <a:tc>
                  <a:txBody>
                    <a:bodyPr/>
                    <a:lstStyle/>
                    <a:p>
                      <a:pPr algn="l"/>
                      <a:r>
                        <a:rPr lang="en-US" sz="1800" b="0" i="0" kern="1200" dirty="0">
                          <a:solidFill>
                            <a:schemeClr val="dk1"/>
                          </a:solidFill>
                          <a:effectLst/>
                          <a:latin typeface="+mn-lt"/>
                          <a:ea typeface="+mn-ea"/>
                          <a:cs typeface="+mn-cs"/>
                        </a:rPr>
                        <a:t>Code gets complicated when a lot of </a:t>
                      </a:r>
                      <a:br>
                        <a:rPr lang="en-US" dirty="0"/>
                      </a:br>
                      <a:r>
                        <a:rPr lang="en-US" sz="1800" b="0" i="0" kern="1200" dirty="0">
                          <a:solidFill>
                            <a:schemeClr val="dk1"/>
                          </a:solidFill>
                          <a:effectLst/>
                          <a:latin typeface="+mn-lt"/>
                          <a:ea typeface="+mn-ea"/>
                          <a:cs typeface="+mn-cs"/>
                        </a:rPr>
                        <a:t>conditions are required.</a:t>
                      </a:r>
                      <a:endParaRPr lang="en-US" dirty="0"/>
                    </a:p>
                  </a:txBody>
                  <a:tcPr anchor="ctr"/>
                </a:tc>
                <a:tc>
                  <a:txBody>
                    <a:bodyPr/>
                    <a:lstStyle/>
                    <a:p>
                      <a:pPr algn="l"/>
                      <a:r>
                        <a:rPr lang="en-US" sz="1800" b="0" i="0" kern="1200" dirty="0">
                          <a:solidFill>
                            <a:schemeClr val="dk1"/>
                          </a:solidFill>
                          <a:effectLst/>
                          <a:latin typeface="+mn-lt"/>
                          <a:ea typeface="+mn-ea"/>
                          <a:cs typeface="+mn-cs"/>
                        </a:rPr>
                        <a:t>Code is easy to write by modifying the underlying recursive solution.</a:t>
                      </a:r>
                      <a:endParaRPr lang="en-US" dirty="0"/>
                    </a:p>
                  </a:txBody>
                  <a:tcPr anchor="ctr"/>
                </a:tc>
                <a:extLst>
                  <a:ext uri="{0D108BD9-81ED-4DB2-BD59-A6C34878D82A}">
                    <a16:rowId xmlns:a16="http://schemas.microsoft.com/office/drawing/2014/main" val="1094648600"/>
                  </a:ext>
                </a:extLst>
              </a:tr>
              <a:tr h="370840">
                <a:tc>
                  <a:txBody>
                    <a:bodyPr/>
                    <a:lstStyle/>
                    <a:p>
                      <a:pPr algn="l"/>
                      <a:r>
                        <a:rPr lang="en-US" dirty="0"/>
                        <a:t>Speed</a:t>
                      </a:r>
                    </a:p>
                  </a:txBody>
                  <a:tcPr anchor="ctr"/>
                </a:tc>
                <a:tc>
                  <a:txBody>
                    <a:bodyPr/>
                    <a:lstStyle/>
                    <a:p>
                      <a:pPr algn="l"/>
                      <a:r>
                        <a:rPr lang="en-US" dirty="0"/>
                        <a:t>Fast - no recursion calls.	</a:t>
                      </a:r>
                    </a:p>
                  </a:txBody>
                  <a:tcPr anchor="ctr"/>
                </a:tc>
                <a:tc>
                  <a:txBody>
                    <a:bodyPr/>
                    <a:lstStyle/>
                    <a:p>
                      <a:pPr algn="l"/>
                      <a:r>
                        <a:rPr lang="en-US" dirty="0"/>
                        <a:t>Slow due to a lot of recursive calls.</a:t>
                      </a:r>
                    </a:p>
                  </a:txBody>
                  <a:tcPr anchor="ctr"/>
                </a:tc>
                <a:extLst>
                  <a:ext uri="{0D108BD9-81ED-4DB2-BD59-A6C34878D82A}">
                    <a16:rowId xmlns:a16="http://schemas.microsoft.com/office/drawing/2014/main" val="2433504334"/>
                  </a:ext>
                </a:extLst>
              </a:tr>
              <a:tr h="370840">
                <a:tc>
                  <a:txBody>
                    <a:bodyPr/>
                    <a:lstStyle/>
                    <a:p>
                      <a:pPr algn="l"/>
                      <a:r>
                        <a:rPr lang="en-US" dirty="0"/>
                        <a:t>Subproblem</a:t>
                      </a:r>
                      <a:br>
                        <a:rPr lang="en-US" dirty="0"/>
                      </a:br>
                      <a:r>
                        <a:rPr lang="en-US" dirty="0"/>
                        <a:t>Solving</a:t>
                      </a:r>
                    </a:p>
                  </a:txBody>
                  <a:tcPr anchor="ctr"/>
                </a:tc>
                <a:tc>
                  <a:txBody>
                    <a:bodyPr/>
                    <a:lstStyle/>
                    <a:p>
                      <a:pPr algn="l"/>
                      <a:r>
                        <a:rPr lang="en-US" dirty="0"/>
                        <a:t>If all subproblems must be solved at least once, a bottom-up dynamic programming algorithm definitely outperforms a top-down </a:t>
                      </a:r>
                      <a:r>
                        <a:rPr lang="en-US" dirty="0" err="1"/>
                        <a:t>memoized</a:t>
                      </a:r>
                      <a:r>
                        <a:rPr lang="en-US" dirty="0"/>
                        <a:t> algorithm by a constant factor</a:t>
                      </a:r>
                    </a:p>
                  </a:txBody>
                  <a:tcPr anchor="ctr"/>
                </a:tc>
                <a:tc>
                  <a:txBody>
                    <a:bodyPr/>
                    <a:lstStyle/>
                    <a:p>
                      <a:pPr algn="l"/>
                      <a:r>
                        <a:rPr lang="en-US" sz="1800" b="0" i="0" kern="1200" dirty="0">
                          <a:solidFill>
                            <a:schemeClr val="dk1"/>
                          </a:solidFill>
                          <a:effectLst/>
                          <a:latin typeface="+mn-lt"/>
                          <a:ea typeface="+mn-ea"/>
                          <a:cs typeface="+mn-cs"/>
                        </a:rPr>
                        <a:t>If some subproblems in the subproblem space need not be solved at all, the </a:t>
                      </a:r>
                      <a:r>
                        <a:rPr lang="en-US" sz="1800" b="0" i="0" kern="1200" dirty="0" err="1">
                          <a:solidFill>
                            <a:schemeClr val="dk1"/>
                          </a:solidFill>
                          <a:effectLst/>
                          <a:latin typeface="+mn-lt"/>
                          <a:ea typeface="+mn-ea"/>
                          <a:cs typeface="+mn-cs"/>
                        </a:rPr>
                        <a:t>memoized</a:t>
                      </a:r>
                      <a:r>
                        <a:rPr lang="en-US" sz="1800" b="0" i="0" kern="1200" dirty="0">
                          <a:solidFill>
                            <a:schemeClr val="dk1"/>
                          </a:solidFill>
                          <a:effectLst/>
                          <a:latin typeface="+mn-lt"/>
                          <a:ea typeface="+mn-ea"/>
                          <a:cs typeface="+mn-cs"/>
                        </a:rPr>
                        <a:t> solution has the advantage of solving only those subproblems that are definitely required </a:t>
                      </a:r>
                      <a:endParaRPr lang="en-US" dirty="0"/>
                    </a:p>
                  </a:txBody>
                  <a:tcPr anchor="ctr"/>
                </a:tc>
                <a:extLst>
                  <a:ext uri="{0D108BD9-81ED-4DB2-BD59-A6C34878D82A}">
                    <a16:rowId xmlns:a16="http://schemas.microsoft.com/office/drawing/2014/main" val="2018886801"/>
                  </a:ext>
                </a:extLst>
              </a:tr>
              <a:tr h="370840">
                <a:tc>
                  <a:txBody>
                    <a:bodyPr/>
                    <a:lstStyle/>
                    <a:p>
                      <a:pPr algn="l"/>
                      <a:r>
                        <a:rPr lang="en-US" dirty="0"/>
                        <a:t>Table Entries</a:t>
                      </a:r>
                    </a:p>
                  </a:txBody>
                  <a:tcPr anchor="ctr"/>
                </a:tc>
                <a:tc>
                  <a:txBody>
                    <a:bodyPr/>
                    <a:lstStyle/>
                    <a:p>
                      <a:pPr algn="l"/>
                      <a:r>
                        <a:rPr lang="en-US" sz="1800" b="0" i="0" kern="1200" dirty="0">
                          <a:solidFill>
                            <a:schemeClr val="dk1"/>
                          </a:solidFill>
                          <a:effectLst/>
                          <a:latin typeface="+mn-lt"/>
                          <a:ea typeface="+mn-ea"/>
                          <a:cs typeface="+mn-cs"/>
                        </a:rPr>
                        <a:t>In the Tabulated version, starting from the first entry, all entries are filled one by one</a:t>
                      </a:r>
                      <a:endParaRPr lang="en-US" dirty="0"/>
                    </a:p>
                  </a:txBody>
                  <a:tcPr anchor="ctr"/>
                </a:tc>
                <a:tc>
                  <a:txBody>
                    <a:bodyPr/>
                    <a:lstStyle/>
                    <a:p>
                      <a:pPr algn="l"/>
                      <a:r>
                        <a:rPr lang="en-US" dirty="0"/>
                        <a:t>Unlike the Tabulated version, all entries of the lookup table are not necessarily filled in </a:t>
                      </a:r>
                      <a:r>
                        <a:rPr lang="en-US" dirty="0" err="1"/>
                        <a:t>Memoized</a:t>
                      </a:r>
                      <a:r>
                        <a:rPr lang="en-US" dirty="0"/>
                        <a:t> version. The table is filled on demand.</a:t>
                      </a:r>
                    </a:p>
                  </a:txBody>
                  <a:tcPr anchor="ctr"/>
                </a:tc>
                <a:extLst>
                  <a:ext uri="{0D108BD9-81ED-4DB2-BD59-A6C34878D82A}">
                    <a16:rowId xmlns:a16="http://schemas.microsoft.com/office/drawing/2014/main" val="308979377"/>
                  </a:ext>
                </a:extLst>
              </a:tr>
            </a:tbl>
          </a:graphicData>
        </a:graphic>
      </p:graphicFrame>
    </p:spTree>
    <p:extLst>
      <p:ext uri="{BB962C8B-B14F-4D97-AF65-F5344CB8AC3E}">
        <p14:creationId xmlns:p14="http://schemas.microsoft.com/office/powerpoint/2010/main" val="3849178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71260-0030-6E20-ECEB-2CD6FB1F02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549E5-52DA-3D93-4773-A20DD13F30B6}"/>
              </a:ext>
            </a:extLst>
          </p:cNvPr>
          <p:cNvSpPr>
            <a:spLocks noGrp="1"/>
          </p:cNvSpPr>
          <p:nvPr>
            <p:ph type="title"/>
          </p:nvPr>
        </p:nvSpPr>
        <p:spPr/>
        <p:txBody>
          <a:bodyPr/>
          <a:lstStyle/>
          <a:p>
            <a:r>
              <a:rPr lang="en-US" dirty="0"/>
              <a:t>DP: Coin Change Problem (1)</a:t>
            </a:r>
          </a:p>
        </p:txBody>
      </p:sp>
      <p:sp>
        <p:nvSpPr>
          <p:cNvPr id="3" name="Content Placeholder 2">
            <a:extLst>
              <a:ext uri="{FF2B5EF4-FFF2-40B4-BE49-F238E27FC236}">
                <a16:creationId xmlns:a16="http://schemas.microsoft.com/office/drawing/2014/main" id="{0F052051-2802-2D3C-6100-68F9D9EA92C5}"/>
              </a:ext>
            </a:extLst>
          </p:cNvPr>
          <p:cNvSpPr>
            <a:spLocks noGrp="1"/>
          </p:cNvSpPr>
          <p:nvPr>
            <p:ph sz="half" idx="1"/>
          </p:nvPr>
        </p:nvSpPr>
        <p:spPr>
          <a:xfrm>
            <a:off x="838199" y="1825625"/>
            <a:ext cx="10515599" cy="2058218"/>
          </a:xfrm>
        </p:spPr>
        <p:txBody>
          <a:bodyPr/>
          <a:lstStyle/>
          <a:p>
            <a:pPr marL="0" indent="0" algn="just">
              <a:buNone/>
            </a:pPr>
            <a:r>
              <a:rPr lang="en-US" dirty="0"/>
              <a:t>Given a set of coin denominations and a target amount, determine the fewest number of coins needed to make up that amount.</a:t>
            </a:r>
          </a:p>
          <a:p>
            <a:pPr marL="0" indent="0" algn="just">
              <a:buNone/>
            </a:pPr>
            <a:r>
              <a:rPr lang="en-US" sz="2400" dirty="0"/>
              <a:t>If there is no combination that can achieve the amount, return -1</a:t>
            </a:r>
          </a:p>
        </p:txBody>
      </p:sp>
      <p:pic>
        <p:nvPicPr>
          <p:cNvPr id="1026" name="Picture 2">
            <a:extLst>
              <a:ext uri="{FF2B5EF4-FFF2-40B4-BE49-F238E27FC236}">
                <a16:creationId xmlns:a16="http://schemas.microsoft.com/office/drawing/2014/main" id="{147A6FE0-C45D-7376-3A84-62CE406E198B}"/>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l="2369" t="12370" r="2161" b="40973"/>
          <a:stretch/>
        </p:blipFill>
        <p:spPr bwMode="auto">
          <a:xfrm>
            <a:off x="378643" y="4018780"/>
            <a:ext cx="5000954" cy="17280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3FA0811-3F28-098B-45F4-871BA94EB501}"/>
              </a:ext>
            </a:extLst>
          </p:cNvPr>
          <p:cNvPicPr>
            <a:picLocks noChangeAspect="1"/>
          </p:cNvPicPr>
          <p:nvPr/>
        </p:nvPicPr>
        <p:blipFill>
          <a:blip r:embed="rId3"/>
          <a:stretch>
            <a:fillRect/>
          </a:stretch>
        </p:blipFill>
        <p:spPr>
          <a:xfrm>
            <a:off x="6812405" y="3429000"/>
            <a:ext cx="2981359" cy="2974157"/>
          </a:xfrm>
          <a:prstGeom prst="rect">
            <a:avLst/>
          </a:prstGeom>
        </p:spPr>
      </p:pic>
    </p:spTree>
    <p:extLst>
      <p:ext uri="{BB962C8B-B14F-4D97-AF65-F5344CB8AC3E}">
        <p14:creationId xmlns:p14="http://schemas.microsoft.com/office/powerpoint/2010/main" val="3089995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71D8F-3B2A-DEB3-D4B1-0E4EC9A95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4FC092-C6A6-7F46-5BCD-1E60E1F97F7E}"/>
              </a:ext>
            </a:extLst>
          </p:cNvPr>
          <p:cNvSpPr>
            <a:spLocks noGrp="1"/>
          </p:cNvSpPr>
          <p:nvPr>
            <p:ph type="title"/>
          </p:nvPr>
        </p:nvSpPr>
        <p:spPr/>
        <p:txBody>
          <a:bodyPr/>
          <a:lstStyle/>
          <a:p>
            <a:r>
              <a:rPr lang="en-US" dirty="0"/>
              <a:t>DP: Coin Change Problem (2)</a:t>
            </a:r>
          </a:p>
        </p:txBody>
      </p:sp>
      <p:sp>
        <p:nvSpPr>
          <p:cNvPr id="7" name="Text Placeholder 6">
            <a:extLst>
              <a:ext uri="{FF2B5EF4-FFF2-40B4-BE49-F238E27FC236}">
                <a16:creationId xmlns:a16="http://schemas.microsoft.com/office/drawing/2014/main" id="{3C5DD8D5-8E7E-0630-DB5E-223E59BD5ECF}"/>
              </a:ext>
            </a:extLst>
          </p:cNvPr>
          <p:cNvSpPr>
            <a:spLocks noGrp="1"/>
          </p:cNvSpPr>
          <p:nvPr>
            <p:ph type="body" idx="1"/>
          </p:nvPr>
        </p:nvSpPr>
        <p:spPr/>
        <p:txBody>
          <a:bodyPr/>
          <a:lstStyle/>
          <a:p>
            <a:r>
              <a:rPr lang="en-US" dirty="0"/>
              <a:t>Memoization</a:t>
            </a:r>
          </a:p>
        </p:txBody>
      </p:sp>
      <p:pic>
        <p:nvPicPr>
          <p:cNvPr id="2050" name="Picture 2">
            <a:extLst>
              <a:ext uri="{FF2B5EF4-FFF2-40B4-BE49-F238E27FC236}">
                <a16:creationId xmlns:a16="http://schemas.microsoft.com/office/drawing/2014/main" id="{D449B6D2-7173-6847-6202-069982F588F8}"/>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r="5707"/>
          <a:stretch/>
        </p:blipFill>
        <p:spPr bwMode="auto">
          <a:xfrm>
            <a:off x="540734" y="2841083"/>
            <a:ext cx="5627486" cy="2335753"/>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7">
            <a:extLst>
              <a:ext uri="{FF2B5EF4-FFF2-40B4-BE49-F238E27FC236}">
                <a16:creationId xmlns:a16="http://schemas.microsoft.com/office/drawing/2014/main" id="{F409E866-1EFF-5466-9AA4-8D61300E3326}"/>
              </a:ext>
            </a:extLst>
          </p:cNvPr>
          <p:cNvSpPr>
            <a:spLocks noGrp="1"/>
          </p:cNvSpPr>
          <p:nvPr>
            <p:ph type="body" sz="quarter" idx="3"/>
          </p:nvPr>
        </p:nvSpPr>
        <p:spPr/>
        <p:txBody>
          <a:bodyPr/>
          <a:lstStyle/>
          <a:p>
            <a:r>
              <a:rPr lang="en-US" dirty="0"/>
              <a:t>Example: </a:t>
            </a:r>
            <a:r>
              <a:rPr lang="en-US" b="0" dirty="0"/>
              <a:t>coins = [1, 2, 5] , amount = 11</a:t>
            </a:r>
            <a:endParaRPr lang="en-US" dirty="0"/>
          </a:p>
        </p:txBody>
      </p:sp>
      <p:pic>
        <p:nvPicPr>
          <p:cNvPr id="2052" name="Picture 4">
            <a:extLst>
              <a:ext uri="{FF2B5EF4-FFF2-40B4-BE49-F238E27FC236}">
                <a16:creationId xmlns:a16="http://schemas.microsoft.com/office/drawing/2014/main" id="{A26F3C18-D620-4E67-DF13-5E1D45EB9564}"/>
              </a:ext>
            </a:extLst>
          </p:cNvPr>
          <p:cNvPicPr>
            <a:picLocks noGrp="1" noChangeAspect="1" noChangeArrowheads="1"/>
          </p:cNvPicPr>
          <p:nvPr>
            <p:ph sz="quarter" idx="4"/>
          </p:nvPr>
        </p:nvPicPr>
        <p:blipFill rotWithShape="1">
          <a:blip r:embed="rId4">
            <a:extLst>
              <a:ext uri="{28A0092B-C50C-407E-A947-70E740481C1C}">
                <a14:useLocalDpi xmlns:a14="http://schemas.microsoft.com/office/drawing/2010/main" val="0"/>
              </a:ext>
            </a:extLst>
          </a:blip>
          <a:srcRect l="13301" t="4216" r="15124" b="19169"/>
          <a:stretch/>
        </p:blipFill>
        <p:spPr bwMode="auto">
          <a:xfrm>
            <a:off x="6096000" y="2841084"/>
            <a:ext cx="5555266" cy="2790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8314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53734A-E244-9CB9-3535-6C98FA4E754F}"/>
              </a:ext>
            </a:extLst>
          </p:cNvPr>
          <p:cNvSpPr>
            <a:spLocks noGrp="1"/>
          </p:cNvSpPr>
          <p:nvPr>
            <p:ph type="title"/>
          </p:nvPr>
        </p:nvSpPr>
        <p:spPr/>
        <p:txBody>
          <a:bodyPr/>
          <a:lstStyle/>
          <a:p>
            <a:r>
              <a:rPr lang="en-US" dirty="0"/>
              <a:t>DP: Coin Change Problem (3)</a:t>
            </a:r>
          </a:p>
        </p:txBody>
      </p:sp>
      <p:pic>
        <p:nvPicPr>
          <p:cNvPr id="19" name="Content Placeholder 18">
            <a:extLst>
              <a:ext uri="{FF2B5EF4-FFF2-40B4-BE49-F238E27FC236}">
                <a16:creationId xmlns:a16="http://schemas.microsoft.com/office/drawing/2014/main" id="{3AD3FB3C-FE5E-DC17-6A6E-38FCB980465A}"/>
              </a:ext>
            </a:extLst>
          </p:cNvPr>
          <p:cNvPicPr>
            <a:picLocks noGrp="1" noChangeAspect="1"/>
          </p:cNvPicPr>
          <p:nvPr>
            <p:ph idx="1"/>
          </p:nvPr>
        </p:nvPicPr>
        <p:blipFill>
          <a:blip r:embed="rId3"/>
          <a:stretch>
            <a:fillRect/>
          </a:stretch>
        </p:blipFill>
        <p:spPr>
          <a:xfrm>
            <a:off x="1818258" y="1690688"/>
            <a:ext cx="8555483" cy="5059936"/>
          </a:xfrm>
        </p:spPr>
      </p:pic>
    </p:spTree>
    <p:extLst>
      <p:ext uri="{BB962C8B-B14F-4D97-AF65-F5344CB8AC3E}">
        <p14:creationId xmlns:p14="http://schemas.microsoft.com/office/powerpoint/2010/main" val="2955764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AB92F-EE0D-7312-90D7-36ED6246F36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6866877-CF56-DA47-8046-D202EF393308}"/>
              </a:ext>
            </a:extLst>
          </p:cNvPr>
          <p:cNvSpPr>
            <a:spLocks noGrp="1"/>
          </p:cNvSpPr>
          <p:nvPr>
            <p:ph type="title"/>
          </p:nvPr>
        </p:nvSpPr>
        <p:spPr/>
        <p:txBody>
          <a:bodyPr/>
          <a:lstStyle/>
          <a:p>
            <a:r>
              <a:rPr lang="en-US" dirty="0"/>
              <a:t>DP: Coin Change Problem (4)</a:t>
            </a:r>
          </a:p>
        </p:txBody>
      </p:sp>
      <p:pic>
        <p:nvPicPr>
          <p:cNvPr id="5" name="Content Placeholder 4">
            <a:extLst>
              <a:ext uri="{FF2B5EF4-FFF2-40B4-BE49-F238E27FC236}">
                <a16:creationId xmlns:a16="http://schemas.microsoft.com/office/drawing/2014/main" id="{6E85DD0E-F855-5D75-6816-F0E8F46BDD18}"/>
              </a:ext>
            </a:extLst>
          </p:cNvPr>
          <p:cNvPicPr>
            <a:picLocks noGrp="1" noChangeAspect="1"/>
          </p:cNvPicPr>
          <p:nvPr>
            <p:ph idx="1"/>
          </p:nvPr>
        </p:nvPicPr>
        <p:blipFill>
          <a:blip r:embed="rId3"/>
          <a:stretch>
            <a:fillRect/>
          </a:stretch>
        </p:blipFill>
        <p:spPr>
          <a:xfrm>
            <a:off x="838200" y="1839294"/>
            <a:ext cx="10515600" cy="4323999"/>
          </a:xfrm>
        </p:spPr>
      </p:pic>
    </p:spTree>
    <p:extLst>
      <p:ext uri="{BB962C8B-B14F-4D97-AF65-F5344CB8AC3E}">
        <p14:creationId xmlns:p14="http://schemas.microsoft.com/office/powerpoint/2010/main" val="28771016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B2DD1-BBF7-0AC8-32D6-B1EDAD897E08}"/>
              </a:ext>
            </a:extLst>
          </p:cNvPr>
          <p:cNvSpPr>
            <a:spLocks noGrp="1"/>
          </p:cNvSpPr>
          <p:nvPr>
            <p:ph type="title"/>
          </p:nvPr>
        </p:nvSpPr>
        <p:spPr/>
        <p:txBody>
          <a:bodyPr/>
          <a:lstStyle/>
          <a:p>
            <a:r>
              <a:rPr lang="en-US" dirty="0"/>
              <a:t>Rod Cutting Problem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A378DC-26BE-81C4-F231-7A1AE018912A}"/>
                  </a:ext>
                </a:extLst>
              </p:cNvPr>
              <p:cNvSpPr>
                <a:spLocks noGrp="1"/>
              </p:cNvSpPr>
              <p:nvPr>
                <p:ph sz="half" idx="1"/>
              </p:nvPr>
            </p:nvSpPr>
            <p:spPr/>
            <p:txBody>
              <a:bodyPr/>
              <a:lstStyle/>
              <a:p>
                <a:pPr marL="0" indent="0">
                  <a:buNone/>
                </a:pPr>
                <a:r>
                  <a:rPr lang="en-US" dirty="0"/>
                  <a:t>Given</a:t>
                </a:r>
              </a:p>
              <a:p>
                <a:r>
                  <a:rPr lang="en-US" dirty="0"/>
                  <a:t>a rod of length </a:t>
                </a:r>
                <a14:m>
                  <m:oMath xmlns:m="http://schemas.openxmlformats.org/officeDocument/2006/math">
                    <m:r>
                      <a:rPr lang="en-US" i="1" dirty="0" smtClean="0">
                        <a:latin typeface="Cambria Math" panose="02040503050406030204" pitchFamily="18" charset="0"/>
                      </a:rPr>
                      <m:t>𝑛</m:t>
                    </m:r>
                  </m:oMath>
                </a14:m>
                <a:r>
                  <a:rPr lang="en-US" dirty="0"/>
                  <a:t> and</a:t>
                </a:r>
              </a:p>
              <a:p>
                <a:r>
                  <a:rPr lang="en-US" dirty="0"/>
                  <a:t>an array of prices where </a:t>
                </a:r>
                <a14:m>
                  <m:oMath xmlns:m="http://schemas.openxmlformats.org/officeDocument/2006/math">
                    <m:r>
                      <a:rPr lang="en-US" i="1" dirty="0" smtClean="0">
                        <a:latin typeface="Cambria Math" panose="02040503050406030204" pitchFamily="18" charset="0"/>
                      </a:rPr>
                      <m:t>𝑖</m:t>
                    </m:r>
                  </m:oMath>
                </a14:m>
                <a:r>
                  <a:rPr lang="en-US" dirty="0"/>
                  <a:t>-</a:t>
                </a:r>
                <a:r>
                  <a:rPr lang="en-US" dirty="0" err="1"/>
                  <a:t>th</a:t>
                </a:r>
                <a:r>
                  <a:rPr lang="en-US" dirty="0"/>
                  <a:t> entry represents a price of a rod of length </a:t>
                </a:r>
                <a14:m>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+1</m:t>
                    </m:r>
                  </m:oMath>
                </a14:m>
                <a:r>
                  <a:rPr lang="en-US" dirty="0"/>
                  <a:t>.</a:t>
                </a:r>
              </a:p>
              <a:p>
                <a:r>
                  <a:rPr lang="en-US" dirty="0"/>
                  <a:t>Find the maximum revenue obtainable by cutting up the rod and selling the pieces.</a:t>
                </a:r>
              </a:p>
            </p:txBody>
          </p:sp>
        </mc:Choice>
        <mc:Fallback xmlns="">
          <p:sp>
            <p:nvSpPr>
              <p:cNvPr id="3" name="Content Placeholder 2">
                <a:extLst>
                  <a:ext uri="{FF2B5EF4-FFF2-40B4-BE49-F238E27FC236}">
                    <a16:creationId xmlns:a16="http://schemas.microsoft.com/office/drawing/2014/main" id="{A2A378DC-26BE-81C4-F231-7A1AE018912A}"/>
                  </a:ext>
                </a:extLst>
              </p:cNvPr>
              <p:cNvSpPr>
                <a:spLocks noGrp="1" noRot="1" noChangeAspect="1" noMove="1" noResize="1" noEditPoints="1" noAdjustHandles="1" noChangeArrowheads="1" noChangeShapeType="1" noTextEdit="1"/>
              </p:cNvSpPr>
              <p:nvPr>
                <p:ph sz="half" idx="1"/>
              </p:nvPr>
            </p:nvSpPr>
            <p:spPr>
              <a:blipFill>
                <a:blip r:embed="rId2"/>
                <a:stretch>
                  <a:fillRect l="-2471" t="-2241" r="-1412"/>
                </a:stretch>
              </a:blipFill>
            </p:spPr>
            <p:txBody>
              <a:bodyPr/>
              <a:lstStyle/>
              <a:p>
                <a:r>
                  <a:rPr lang="en-US">
                    <a:noFill/>
                  </a:rPr>
                  <a:t> </a:t>
                </a:r>
              </a:p>
            </p:txBody>
          </p:sp>
        </mc:Fallback>
      </mc:AlternateContent>
      <p:pic>
        <p:nvPicPr>
          <p:cNvPr id="9" name="Content Placeholder 8">
            <a:extLst>
              <a:ext uri="{FF2B5EF4-FFF2-40B4-BE49-F238E27FC236}">
                <a16:creationId xmlns:a16="http://schemas.microsoft.com/office/drawing/2014/main" id="{E347C5DF-85C1-2F0B-AA45-9BB5303390BB}"/>
              </a:ext>
            </a:extLst>
          </p:cNvPr>
          <p:cNvPicPr>
            <a:picLocks noGrp="1" noChangeAspect="1"/>
          </p:cNvPicPr>
          <p:nvPr>
            <p:ph sz="half" idx="2"/>
          </p:nvPr>
        </p:nvPicPr>
        <p:blipFill>
          <a:blip r:embed="rId3"/>
          <a:stretch>
            <a:fillRect/>
          </a:stretch>
        </p:blipFill>
        <p:spPr>
          <a:xfrm>
            <a:off x="6454311" y="1825625"/>
            <a:ext cx="4617378" cy="4351338"/>
          </a:xfrm>
        </p:spPr>
      </p:pic>
    </p:spTree>
    <p:extLst>
      <p:ext uri="{BB962C8B-B14F-4D97-AF65-F5344CB8AC3E}">
        <p14:creationId xmlns:p14="http://schemas.microsoft.com/office/powerpoint/2010/main" val="4086650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BB540-591E-1479-6986-995D7B140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0234B7-A9F4-E76A-E4A8-B4EFB7B92D6E}"/>
              </a:ext>
            </a:extLst>
          </p:cNvPr>
          <p:cNvSpPr>
            <a:spLocks noGrp="1"/>
          </p:cNvSpPr>
          <p:nvPr>
            <p:ph type="title"/>
          </p:nvPr>
        </p:nvSpPr>
        <p:spPr/>
        <p:txBody>
          <a:bodyPr/>
          <a:lstStyle/>
          <a:p>
            <a:r>
              <a:rPr lang="en-US" dirty="0"/>
              <a:t>Rod Cutting Problem (2)</a:t>
            </a:r>
          </a:p>
        </p:txBody>
      </p:sp>
      <p:pic>
        <p:nvPicPr>
          <p:cNvPr id="6" name="Content Placeholder 5">
            <a:extLst>
              <a:ext uri="{FF2B5EF4-FFF2-40B4-BE49-F238E27FC236}">
                <a16:creationId xmlns:a16="http://schemas.microsoft.com/office/drawing/2014/main" id="{2BFBFB85-60C8-64EF-0928-2B5860A55E52}"/>
              </a:ext>
            </a:extLst>
          </p:cNvPr>
          <p:cNvPicPr>
            <a:picLocks noGrp="1" noChangeAspect="1"/>
          </p:cNvPicPr>
          <p:nvPr>
            <p:ph sz="half" idx="1"/>
          </p:nvPr>
        </p:nvPicPr>
        <p:blipFill>
          <a:blip r:embed="rId3"/>
          <a:stretch>
            <a:fillRect/>
          </a:stretch>
        </p:blipFill>
        <p:spPr>
          <a:xfrm>
            <a:off x="1060762" y="1825625"/>
            <a:ext cx="10070475" cy="1325563"/>
          </a:xfrm>
        </p:spPr>
      </p:pic>
      <p:pic>
        <p:nvPicPr>
          <p:cNvPr id="8" name="Content Placeholder 7">
            <a:extLst>
              <a:ext uri="{FF2B5EF4-FFF2-40B4-BE49-F238E27FC236}">
                <a16:creationId xmlns:a16="http://schemas.microsoft.com/office/drawing/2014/main" id="{C64298BB-56EB-AEC7-C967-4539301E2622}"/>
              </a:ext>
            </a:extLst>
          </p:cNvPr>
          <p:cNvPicPr>
            <a:picLocks noGrp="1" noChangeAspect="1"/>
          </p:cNvPicPr>
          <p:nvPr>
            <p:ph sz="half" idx="2"/>
          </p:nvPr>
        </p:nvPicPr>
        <p:blipFill>
          <a:blip r:embed="rId4"/>
          <a:stretch>
            <a:fillRect/>
          </a:stretch>
        </p:blipFill>
        <p:spPr>
          <a:xfrm>
            <a:off x="990600" y="3283429"/>
            <a:ext cx="10363200" cy="2862893"/>
          </a:xfrm>
        </p:spPr>
      </p:pic>
    </p:spTree>
    <p:extLst>
      <p:ext uri="{BB962C8B-B14F-4D97-AF65-F5344CB8AC3E}">
        <p14:creationId xmlns:p14="http://schemas.microsoft.com/office/powerpoint/2010/main" val="1776332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6CB0C-5BC6-0A29-A9B4-7958F32E5BF7}"/>
              </a:ext>
            </a:extLst>
          </p:cNvPr>
          <p:cNvSpPr>
            <a:spLocks noGrp="1"/>
          </p:cNvSpPr>
          <p:nvPr>
            <p:ph type="title"/>
          </p:nvPr>
        </p:nvSpPr>
        <p:spPr/>
        <p:txBody>
          <a:bodyPr/>
          <a:lstStyle/>
          <a:p>
            <a:r>
              <a:rPr lang="en-US" dirty="0"/>
              <a:t>Rod Cutting Problem (2)</a:t>
            </a:r>
          </a:p>
        </p:txBody>
      </p:sp>
      <p:pic>
        <p:nvPicPr>
          <p:cNvPr id="7" name="Content Placeholder 6">
            <a:extLst>
              <a:ext uri="{FF2B5EF4-FFF2-40B4-BE49-F238E27FC236}">
                <a16:creationId xmlns:a16="http://schemas.microsoft.com/office/drawing/2014/main" id="{B84F362A-94A4-D3CD-BAB1-23F8F673700B}"/>
              </a:ext>
            </a:extLst>
          </p:cNvPr>
          <p:cNvPicPr>
            <a:picLocks noGrp="1" noChangeAspect="1"/>
          </p:cNvPicPr>
          <p:nvPr>
            <p:ph idx="1"/>
          </p:nvPr>
        </p:nvPicPr>
        <p:blipFill>
          <a:blip r:embed="rId2"/>
          <a:stretch>
            <a:fillRect/>
          </a:stretch>
        </p:blipFill>
        <p:spPr>
          <a:xfrm>
            <a:off x="838199" y="1690688"/>
            <a:ext cx="10519795" cy="4532691"/>
          </a:xfrm>
        </p:spPr>
      </p:pic>
    </p:spTree>
    <p:extLst>
      <p:ext uri="{BB962C8B-B14F-4D97-AF65-F5344CB8AC3E}">
        <p14:creationId xmlns:p14="http://schemas.microsoft.com/office/powerpoint/2010/main" val="1577454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377C7-8218-3163-71DE-B6AAE72DA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4D7F49-C0D5-3453-4048-7561E5F37585}"/>
              </a:ext>
            </a:extLst>
          </p:cNvPr>
          <p:cNvSpPr>
            <a:spLocks noGrp="1"/>
          </p:cNvSpPr>
          <p:nvPr>
            <p:ph type="title"/>
          </p:nvPr>
        </p:nvSpPr>
        <p:spPr/>
        <p:txBody>
          <a:bodyPr/>
          <a:lstStyle/>
          <a:p>
            <a:r>
              <a:rPr lang="en-US" dirty="0"/>
              <a:t>Rod Cutting Problem (3)</a:t>
            </a:r>
          </a:p>
        </p:txBody>
      </p:sp>
      <p:pic>
        <p:nvPicPr>
          <p:cNvPr id="6" name="Content Placeholder 5">
            <a:extLst>
              <a:ext uri="{FF2B5EF4-FFF2-40B4-BE49-F238E27FC236}">
                <a16:creationId xmlns:a16="http://schemas.microsoft.com/office/drawing/2014/main" id="{1D9E3FD0-BFB3-33AE-8855-54930B1D8FFB}"/>
              </a:ext>
            </a:extLst>
          </p:cNvPr>
          <p:cNvPicPr>
            <a:picLocks noGrp="1" noChangeAspect="1"/>
          </p:cNvPicPr>
          <p:nvPr>
            <p:ph idx="1"/>
          </p:nvPr>
        </p:nvPicPr>
        <p:blipFill>
          <a:blip r:embed="rId3"/>
          <a:srcRect t="7287" b="7716"/>
          <a:stretch/>
        </p:blipFill>
        <p:spPr>
          <a:xfrm>
            <a:off x="838200" y="1402014"/>
            <a:ext cx="9766112" cy="5358637"/>
          </a:xfrm>
        </p:spPr>
      </p:pic>
    </p:spTree>
    <p:extLst>
      <p:ext uri="{BB962C8B-B14F-4D97-AF65-F5344CB8AC3E}">
        <p14:creationId xmlns:p14="http://schemas.microsoft.com/office/powerpoint/2010/main" val="634114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387C4-3722-D84D-32CE-5B8CC4388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C8CEE-3E11-C12E-FF13-5074080D8CD7}"/>
              </a:ext>
            </a:extLst>
          </p:cNvPr>
          <p:cNvSpPr>
            <a:spLocks noGrp="1"/>
          </p:cNvSpPr>
          <p:nvPr>
            <p:ph type="title"/>
          </p:nvPr>
        </p:nvSpPr>
        <p:spPr/>
        <p:txBody>
          <a:bodyPr/>
          <a:lstStyle/>
          <a:p>
            <a:r>
              <a:rPr lang="en-US" dirty="0"/>
              <a:t>Rod Cutting Problem (4)</a:t>
            </a:r>
          </a:p>
        </p:txBody>
      </p:sp>
      <p:pic>
        <p:nvPicPr>
          <p:cNvPr id="7" name="Content Placeholder 6">
            <a:extLst>
              <a:ext uri="{FF2B5EF4-FFF2-40B4-BE49-F238E27FC236}">
                <a16:creationId xmlns:a16="http://schemas.microsoft.com/office/drawing/2014/main" id="{331E6E33-7F0C-7B9D-90E1-4AD84EA88398}"/>
              </a:ext>
            </a:extLst>
          </p:cNvPr>
          <p:cNvPicPr>
            <a:picLocks noGrp="1" noChangeAspect="1"/>
          </p:cNvPicPr>
          <p:nvPr>
            <p:ph idx="1"/>
          </p:nvPr>
        </p:nvPicPr>
        <p:blipFill>
          <a:blip r:embed="rId3"/>
          <a:srcRect t="9482" b="9911"/>
          <a:stretch/>
        </p:blipFill>
        <p:spPr>
          <a:xfrm>
            <a:off x="1895333" y="1695153"/>
            <a:ext cx="8401334" cy="5162847"/>
          </a:xfrm>
        </p:spPr>
      </p:pic>
    </p:spTree>
    <p:extLst>
      <p:ext uri="{BB962C8B-B14F-4D97-AF65-F5344CB8AC3E}">
        <p14:creationId xmlns:p14="http://schemas.microsoft.com/office/powerpoint/2010/main" val="3699529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D952-CE8E-D0AF-1288-A71583E99D01}"/>
              </a:ext>
            </a:extLst>
          </p:cNvPr>
          <p:cNvSpPr>
            <a:spLocks noGrp="1"/>
          </p:cNvSpPr>
          <p:nvPr>
            <p:ph type="title"/>
          </p:nvPr>
        </p:nvSpPr>
        <p:spPr/>
        <p:txBody>
          <a:bodyPr/>
          <a:lstStyle/>
          <a:p>
            <a:r>
              <a:rPr lang="en-US" dirty="0"/>
              <a:t>DP: Knapsack Problem (1)</a:t>
            </a:r>
          </a:p>
        </p:txBody>
      </p:sp>
      <p:pic>
        <p:nvPicPr>
          <p:cNvPr id="3074" name="Picture 2" descr="Demystifying the 0-1 knapsack problem: top solutions explained">
            <a:extLst>
              <a:ext uri="{FF2B5EF4-FFF2-40B4-BE49-F238E27FC236}">
                <a16:creationId xmlns:a16="http://schemas.microsoft.com/office/drawing/2014/main" id="{74A2FC4A-A556-91C6-632B-AC11D0BBC5A7}"/>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838200" y="2178451"/>
            <a:ext cx="5181600" cy="364568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68E9EA06-7A40-BB86-4969-74E3944F03D9}"/>
              </a:ext>
            </a:extLst>
          </p:cNvPr>
          <p:cNvSpPr>
            <a:spLocks noGrp="1"/>
          </p:cNvSpPr>
          <p:nvPr>
            <p:ph sz="half" idx="2"/>
          </p:nvPr>
        </p:nvSpPr>
        <p:spPr/>
        <p:txBody>
          <a:bodyPr>
            <a:normAutofit fontScale="92500" lnSpcReduction="10000"/>
          </a:bodyPr>
          <a:lstStyle/>
          <a:p>
            <a:pPr marL="0" indent="0">
              <a:buNone/>
            </a:pPr>
            <a:r>
              <a:rPr lang="en-US" dirty="0"/>
              <a:t>Given a set of items, each with</a:t>
            </a:r>
          </a:p>
          <a:p>
            <a:r>
              <a:rPr lang="en-US" dirty="0"/>
              <a:t>a weight and</a:t>
            </a:r>
          </a:p>
          <a:p>
            <a:r>
              <a:rPr lang="en-US" dirty="0"/>
              <a:t>a value,</a:t>
            </a:r>
          </a:p>
          <a:p>
            <a:pPr marL="0" indent="0">
              <a:buNone/>
            </a:pPr>
            <a:r>
              <a:rPr lang="en-US" dirty="0"/>
              <a:t>determine which items to include in a knapsack so that</a:t>
            </a:r>
          </a:p>
          <a:p>
            <a:r>
              <a:rPr lang="en-US" dirty="0"/>
              <a:t>the total weight does not exceed a given capacity, and</a:t>
            </a:r>
          </a:p>
          <a:p>
            <a:r>
              <a:rPr lang="en-US" dirty="0"/>
              <a:t>the total value is as large as possible.</a:t>
            </a:r>
          </a:p>
          <a:p>
            <a:pPr marL="0" indent="0">
              <a:buNone/>
            </a:pPr>
            <a:r>
              <a:rPr lang="en-US" dirty="0"/>
              <a:t>Each item can be included at most once.</a:t>
            </a:r>
          </a:p>
        </p:txBody>
      </p:sp>
    </p:spTree>
    <p:extLst>
      <p:ext uri="{BB962C8B-B14F-4D97-AF65-F5344CB8AC3E}">
        <p14:creationId xmlns:p14="http://schemas.microsoft.com/office/powerpoint/2010/main" val="3272636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B7495-447B-A694-0CC9-294E73C39967}"/>
              </a:ext>
            </a:extLst>
          </p:cNvPr>
          <p:cNvSpPr>
            <a:spLocks noGrp="1"/>
          </p:cNvSpPr>
          <p:nvPr>
            <p:ph type="title"/>
          </p:nvPr>
        </p:nvSpPr>
        <p:spPr/>
        <p:txBody>
          <a:bodyPr/>
          <a:lstStyle/>
          <a:p>
            <a:r>
              <a:rPr lang="en-US" dirty="0"/>
              <a:t>DP: Knapsack Problem (2)</a:t>
            </a:r>
          </a:p>
        </p:txBody>
      </p:sp>
      <p:pic>
        <p:nvPicPr>
          <p:cNvPr id="7" name="Content Placeholder 6">
            <a:extLst>
              <a:ext uri="{FF2B5EF4-FFF2-40B4-BE49-F238E27FC236}">
                <a16:creationId xmlns:a16="http://schemas.microsoft.com/office/drawing/2014/main" id="{6C2CCD65-D9B2-57B5-F577-956BC34DAAC7}"/>
              </a:ext>
            </a:extLst>
          </p:cNvPr>
          <p:cNvPicPr>
            <a:picLocks noGrp="1" noChangeAspect="1"/>
          </p:cNvPicPr>
          <p:nvPr>
            <p:ph idx="1"/>
          </p:nvPr>
        </p:nvPicPr>
        <p:blipFill>
          <a:blip r:embed="rId3"/>
          <a:stretch>
            <a:fillRect/>
          </a:stretch>
        </p:blipFill>
        <p:spPr>
          <a:xfrm>
            <a:off x="838200" y="1923157"/>
            <a:ext cx="10515600" cy="4156273"/>
          </a:xfrm>
        </p:spPr>
      </p:pic>
    </p:spTree>
    <p:extLst>
      <p:ext uri="{BB962C8B-B14F-4D97-AF65-F5344CB8AC3E}">
        <p14:creationId xmlns:p14="http://schemas.microsoft.com/office/powerpoint/2010/main" val="1050512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7E280-AA1B-913C-DF49-D21D479BF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4B7780-1AB8-9504-A3C1-D92A20E65CDA}"/>
              </a:ext>
            </a:extLst>
          </p:cNvPr>
          <p:cNvSpPr>
            <a:spLocks noGrp="1"/>
          </p:cNvSpPr>
          <p:nvPr>
            <p:ph type="title"/>
          </p:nvPr>
        </p:nvSpPr>
        <p:spPr/>
        <p:txBody>
          <a:bodyPr/>
          <a:lstStyle/>
          <a:p>
            <a:r>
              <a:rPr lang="en-US" dirty="0"/>
              <a:t>DP: Knapsack Problem (3)</a:t>
            </a:r>
          </a:p>
        </p:txBody>
      </p:sp>
      <p:pic>
        <p:nvPicPr>
          <p:cNvPr id="19" name="Content Placeholder 18">
            <a:extLst>
              <a:ext uri="{FF2B5EF4-FFF2-40B4-BE49-F238E27FC236}">
                <a16:creationId xmlns:a16="http://schemas.microsoft.com/office/drawing/2014/main" id="{F025699D-6F06-162E-5D65-ACBC383E699C}"/>
              </a:ext>
            </a:extLst>
          </p:cNvPr>
          <p:cNvPicPr>
            <a:picLocks noGrp="1" noChangeAspect="1"/>
          </p:cNvPicPr>
          <p:nvPr>
            <p:ph idx="1"/>
          </p:nvPr>
        </p:nvPicPr>
        <p:blipFill>
          <a:blip r:embed="rId3"/>
          <a:stretch>
            <a:fillRect/>
          </a:stretch>
        </p:blipFill>
        <p:spPr>
          <a:xfrm>
            <a:off x="448653" y="1478204"/>
            <a:ext cx="11294693" cy="5158266"/>
          </a:xfrm>
        </p:spPr>
      </p:pic>
      <p:sp>
        <p:nvSpPr>
          <p:cNvPr id="3" name="AutoShape 2" descr="Lightbox">
            <a:extLst>
              <a:ext uri="{FF2B5EF4-FFF2-40B4-BE49-F238E27FC236}">
                <a16:creationId xmlns:a16="http://schemas.microsoft.com/office/drawing/2014/main" id="{144ECD46-8EB9-D1C7-743B-5AD88F4B27C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380946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AD164-0BC2-8184-CEA8-7A782F342035}"/>
              </a:ext>
            </a:extLst>
          </p:cNvPr>
          <p:cNvSpPr>
            <a:spLocks noGrp="1"/>
          </p:cNvSpPr>
          <p:nvPr>
            <p:ph type="title"/>
          </p:nvPr>
        </p:nvSpPr>
        <p:spPr/>
        <p:txBody>
          <a:bodyPr/>
          <a:lstStyle/>
          <a:p>
            <a:r>
              <a:rPr lang="en-US" dirty="0"/>
              <a:t>DP: Knapsack Problem (4)</a:t>
            </a:r>
            <a:endParaRPr lang="en-US" b="1" dirty="0"/>
          </a:p>
        </p:txBody>
      </p:sp>
      <p:pic>
        <p:nvPicPr>
          <p:cNvPr id="5" name="Content Placeholder 4">
            <a:extLst>
              <a:ext uri="{FF2B5EF4-FFF2-40B4-BE49-F238E27FC236}">
                <a16:creationId xmlns:a16="http://schemas.microsoft.com/office/drawing/2014/main" id="{5DA9E26B-53F7-BBF1-B783-B839E4806196}"/>
              </a:ext>
            </a:extLst>
          </p:cNvPr>
          <p:cNvPicPr>
            <a:picLocks noGrp="1" noChangeAspect="1"/>
          </p:cNvPicPr>
          <p:nvPr>
            <p:ph idx="1"/>
          </p:nvPr>
        </p:nvPicPr>
        <p:blipFill>
          <a:blip r:embed="rId2"/>
          <a:stretch>
            <a:fillRect/>
          </a:stretch>
        </p:blipFill>
        <p:spPr>
          <a:xfrm>
            <a:off x="3342089" y="1825625"/>
            <a:ext cx="5507822" cy="4351338"/>
          </a:xfrm>
          <a:prstGeom prst="rect">
            <a:avLst/>
          </a:prstGeom>
        </p:spPr>
      </p:pic>
    </p:spTree>
    <p:extLst>
      <p:ext uri="{BB962C8B-B14F-4D97-AF65-F5344CB8AC3E}">
        <p14:creationId xmlns:p14="http://schemas.microsoft.com/office/powerpoint/2010/main" val="28238960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14347-F905-93BC-BF6A-2ECED5ABD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B9475-8ADD-9A66-7FA5-127312B9E6A8}"/>
              </a:ext>
            </a:extLst>
          </p:cNvPr>
          <p:cNvSpPr>
            <a:spLocks noGrp="1"/>
          </p:cNvSpPr>
          <p:nvPr>
            <p:ph type="title"/>
          </p:nvPr>
        </p:nvSpPr>
        <p:spPr/>
        <p:txBody>
          <a:bodyPr/>
          <a:lstStyle/>
          <a:p>
            <a:r>
              <a:rPr lang="en-US" dirty="0"/>
              <a:t>DP: Knapsack Problem (5)</a:t>
            </a:r>
          </a:p>
        </p:txBody>
      </p:sp>
      <p:pic>
        <p:nvPicPr>
          <p:cNvPr id="10" name="Content Placeholder 9">
            <a:extLst>
              <a:ext uri="{FF2B5EF4-FFF2-40B4-BE49-F238E27FC236}">
                <a16:creationId xmlns:a16="http://schemas.microsoft.com/office/drawing/2014/main" id="{B2E237A2-DE22-D7B6-2D72-C646B94E04F9}"/>
              </a:ext>
            </a:extLst>
          </p:cNvPr>
          <p:cNvPicPr>
            <a:picLocks noGrp="1" noChangeAspect="1"/>
          </p:cNvPicPr>
          <p:nvPr>
            <p:ph idx="1"/>
          </p:nvPr>
        </p:nvPicPr>
        <p:blipFill>
          <a:blip r:embed="rId3"/>
          <a:stretch>
            <a:fillRect/>
          </a:stretch>
        </p:blipFill>
        <p:spPr>
          <a:xfrm>
            <a:off x="466567" y="2322284"/>
            <a:ext cx="11258866" cy="3863679"/>
          </a:xfrm>
        </p:spPr>
      </p:pic>
    </p:spTree>
    <p:extLst>
      <p:ext uri="{BB962C8B-B14F-4D97-AF65-F5344CB8AC3E}">
        <p14:creationId xmlns:p14="http://schemas.microsoft.com/office/powerpoint/2010/main" val="1947415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33BC1-DF88-4A7F-73A5-39040D1BFADC}"/>
              </a:ext>
            </a:extLst>
          </p:cNvPr>
          <p:cNvSpPr>
            <a:spLocks noGrp="1"/>
          </p:cNvSpPr>
          <p:nvPr>
            <p:ph type="title"/>
          </p:nvPr>
        </p:nvSpPr>
        <p:spPr/>
        <p:txBody>
          <a:bodyPr/>
          <a:lstStyle/>
          <a:p>
            <a:r>
              <a:rPr lang="en-US" dirty="0"/>
              <a:t>DP: Longest Common Subsequence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EAD9EF-22B3-E910-E4FB-E9E5720A355C}"/>
                  </a:ext>
                </a:extLst>
              </p:cNvPr>
              <p:cNvSpPr>
                <a:spLocks noGrp="1"/>
              </p:cNvSpPr>
              <p:nvPr>
                <p:ph sz="half" idx="1"/>
              </p:nvPr>
            </p:nvSpPr>
            <p:spPr>
              <a:xfrm>
                <a:off x="838199" y="1825625"/>
                <a:ext cx="6429867" cy="4351338"/>
              </a:xfrm>
            </p:spPr>
            <p:txBody>
              <a:bodyPr>
                <a:normAutofit/>
              </a:bodyPr>
              <a:lstStyle/>
              <a:p>
                <a:pPr marL="0" indent="0" algn="just">
                  <a:buNone/>
                </a:pPr>
                <a:r>
                  <a:rPr lang="en-US" sz="2600" dirty="0"/>
                  <a:t>Given two sequences, such as strings </a:t>
                </a:r>
                <a14:m>
                  <m:oMath xmlns:m="http://schemas.openxmlformats.org/officeDocument/2006/math">
                    <m:r>
                      <a:rPr lang="en-US" sz="2600" i="1" dirty="0" smtClean="0">
                        <a:latin typeface="Cambria Math" panose="02040503050406030204" pitchFamily="18" charset="0"/>
                      </a:rPr>
                      <m:t>𝑋</m:t>
                    </m:r>
                  </m:oMath>
                </a14:m>
                <a:r>
                  <a:rPr lang="en-US" sz="2600" dirty="0"/>
                  <a:t> and </a:t>
                </a:r>
                <a14:m>
                  <m:oMath xmlns:m="http://schemas.openxmlformats.org/officeDocument/2006/math">
                    <m:r>
                      <a:rPr lang="en-US" sz="2600" i="1" dirty="0" smtClean="0">
                        <a:latin typeface="Cambria Math" panose="02040503050406030204" pitchFamily="18" charset="0"/>
                      </a:rPr>
                      <m:t>𝑌</m:t>
                    </m:r>
                  </m:oMath>
                </a14:m>
                <a:r>
                  <a:rPr lang="en-US" sz="2600" dirty="0"/>
                  <a:t>, find the length of the longest subsequence that can appear in both </a:t>
                </a:r>
                <a14:m>
                  <m:oMath xmlns:m="http://schemas.openxmlformats.org/officeDocument/2006/math">
                    <m:r>
                      <a:rPr lang="en-US" sz="2600" i="1" dirty="0" smtClean="0">
                        <a:latin typeface="Cambria Math" panose="02040503050406030204" pitchFamily="18" charset="0"/>
                      </a:rPr>
                      <m:t>𝑋</m:t>
                    </m:r>
                  </m:oMath>
                </a14:m>
                <a:r>
                  <a:rPr lang="en-US" sz="2600" dirty="0"/>
                  <a:t> and </a:t>
                </a:r>
                <a14:m>
                  <m:oMath xmlns:m="http://schemas.openxmlformats.org/officeDocument/2006/math">
                    <m:r>
                      <a:rPr lang="en-US" sz="2600" i="1" dirty="0" smtClean="0">
                        <a:latin typeface="Cambria Math" panose="02040503050406030204" pitchFamily="18" charset="0"/>
                      </a:rPr>
                      <m:t>𝑌</m:t>
                    </m:r>
                  </m:oMath>
                </a14:m>
                <a:r>
                  <a:rPr lang="en-US" sz="2600" dirty="0"/>
                  <a:t>.</a:t>
                </a:r>
              </a:p>
              <a:p>
                <a:pPr marL="0" indent="0" algn="just">
                  <a:buNone/>
                </a:pPr>
                <a:endParaRPr lang="en-US" sz="2400" dirty="0"/>
              </a:p>
              <a:p>
                <a:pPr marL="0" indent="0" algn="just">
                  <a:buNone/>
                </a:pPr>
                <a:r>
                  <a:rPr lang="en-US" sz="2400" dirty="0"/>
                  <a:t>Example:</a:t>
                </a:r>
              </a:p>
              <a:p>
                <a:pPr marL="0" indent="0" algn="just">
                  <a:buNone/>
                </a:pPr>
                <a:r>
                  <a:rPr lang="en-US" sz="2400" dirty="0"/>
                  <a:t>Input: X = "ABCBDAB",  Y = "BDCAB"</a:t>
                </a:r>
              </a:p>
              <a:p>
                <a:pPr marL="0" indent="0" algn="just">
                  <a:buNone/>
                </a:pPr>
                <a:r>
                  <a:rPr lang="en-US" sz="2400" dirty="0"/>
                  <a:t>Output: LCS = "BCAB", with a length of 4</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50EAD9EF-22B3-E910-E4FB-E9E5720A355C}"/>
                  </a:ext>
                </a:extLst>
              </p:cNvPr>
              <p:cNvSpPr>
                <a:spLocks noGrp="1" noRot="1" noChangeAspect="1" noMove="1" noResize="1" noEditPoints="1" noAdjustHandles="1" noChangeArrowheads="1" noChangeShapeType="1" noTextEdit="1"/>
              </p:cNvSpPr>
              <p:nvPr>
                <p:ph sz="half" idx="1"/>
              </p:nvPr>
            </p:nvSpPr>
            <p:spPr>
              <a:xfrm>
                <a:off x="838199" y="1825625"/>
                <a:ext cx="6429867" cy="4351338"/>
              </a:xfrm>
              <a:blipFill>
                <a:blip r:embed="rId3"/>
                <a:stretch>
                  <a:fillRect l="-1611" t="-2101" r="-1706"/>
                </a:stretch>
              </a:blipFill>
            </p:spPr>
            <p:txBody>
              <a:bodyPr/>
              <a:lstStyle/>
              <a:p>
                <a:r>
                  <a:rPr lang="en-US">
                    <a:noFill/>
                  </a:rPr>
                  <a:t> </a:t>
                </a:r>
              </a:p>
            </p:txBody>
          </p:sp>
        </mc:Fallback>
      </mc:AlternateContent>
      <p:pic>
        <p:nvPicPr>
          <p:cNvPr id="8" name="Content Placeholder 7">
            <a:extLst>
              <a:ext uri="{FF2B5EF4-FFF2-40B4-BE49-F238E27FC236}">
                <a16:creationId xmlns:a16="http://schemas.microsoft.com/office/drawing/2014/main" id="{71B7560A-191D-2AD0-BEAB-A0A80DB09FEA}"/>
              </a:ext>
            </a:extLst>
          </p:cNvPr>
          <p:cNvPicPr>
            <a:picLocks noGrp="1" noChangeAspect="1"/>
          </p:cNvPicPr>
          <p:nvPr>
            <p:ph sz="half" idx="2"/>
          </p:nvPr>
        </p:nvPicPr>
        <p:blipFill>
          <a:blip r:embed="rId4"/>
          <a:srcRect l="27153" t="454" r="27911"/>
          <a:stretch/>
        </p:blipFill>
        <p:spPr>
          <a:xfrm>
            <a:off x="7582057" y="1825625"/>
            <a:ext cx="4050619" cy="4529109"/>
          </a:xfrm>
          <a:prstGeom prst="rect">
            <a:avLst/>
          </a:prstGeom>
        </p:spPr>
      </p:pic>
    </p:spTree>
    <p:extLst>
      <p:ext uri="{BB962C8B-B14F-4D97-AF65-F5344CB8AC3E}">
        <p14:creationId xmlns:p14="http://schemas.microsoft.com/office/powerpoint/2010/main" val="1829372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92799-3F88-7067-EF2C-5097B4681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BAEB8-8B2D-E5EB-40EC-661A4CD56F4E}"/>
              </a:ext>
            </a:extLst>
          </p:cNvPr>
          <p:cNvSpPr>
            <a:spLocks noGrp="1"/>
          </p:cNvSpPr>
          <p:nvPr>
            <p:ph type="title"/>
          </p:nvPr>
        </p:nvSpPr>
        <p:spPr/>
        <p:txBody>
          <a:bodyPr/>
          <a:lstStyle/>
          <a:p>
            <a:r>
              <a:rPr lang="en-US" dirty="0"/>
              <a:t>DP: Longest Common Subsequence (2)</a:t>
            </a:r>
          </a:p>
        </p:txBody>
      </p:sp>
      <p:pic>
        <p:nvPicPr>
          <p:cNvPr id="5" name="Content Placeholder 4">
            <a:extLst>
              <a:ext uri="{FF2B5EF4-FFF2-40B4-BE49-F238E27FC236}">
                <a16:creationId xmlns:a16="http://schemas.microsoft.com/office/drawing/2014/main" id="{EC55BA29-D33E-747A-1DB7-C09FF1D9CDE8}"/>
              </a:ext>
            </a:extLst>
          </p:cNvPr>
          <p:cNvPicPr>
            <a:picLocks noGrp="1" noChangeAspect="1"/>
          </p:cNvPicPr>
          <p:nvPr>
            <p:ph idx="1"/>
          </p:nvPr>
        </p:nvPicPr>
        <p:blipFill>
          <a:blip r:embed="rId3"/>
          <a:stretch>
            <a:fillRect/>
          </a:stretch>
        </p:blipFill>
        <p:spPr>
          <a:xfrm>
            <a:off x="1241946" y="1690688"/>
            <a:ext cx="9158956" cy="4812748"/>
          </a:xfrm>
        </p:spPr>
      </p:pic>
    </p:spTree>
    <p:extLst>
      <p:ext uri="{BB962C8B-B14F-4D97-AF65-F5344CB8AC3E}">
        <p14:creationId xmlns:p14="http://schemas.microsoft.com/office/powerpoint/2010/main" val="4014715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537C7-8CC3-D0D3-00DB-C11E42AD2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190E33-A3E0-B30C-000E-264003BD57FF}"/>
              </a:ext>
            </a:extLst>
          </p:cNvPr>
          <p:cNvSpPr>
            <a:spLocks noGrp="1"/>
          </p:cNvSpPr>
          <p:nvPr>
            <p:ph type="title"/>
          </p:nvPr>
        </p:nvSpPr>
        <p:spPr/>
        <p:txBody>
          <a:bodyPr/>
          <a:lstStyle/>
          <a:p>
            <a:r>
              <a:rPr lang="en-US" dirty="0"/>
              <a:t>DP: Longest Common Subsequence (3)</a:t>
            </a:r>
          </a:p>
        </p:txBody>
      </p:sp>
      <p:pic>
        <p:nvPicPr>
          <p:cNvPr id="9" name="Content Placeholder 8">
            <a:extLst>
              <a:ext uri="{FF2B5EF4-FFF2-40B4-BE49-F238E27FC236}">
                <a16:creationId xmlns:a16="http://schemas.microsoft.com/office/drawing/2014/main" id="{55C1142F-D214-A4D9-3924-EE23E29A81A7}"/>
              </a:ext>
            </a:extLst>
          </p:cNvPr>
          <p:cNvPicPr>
            <a:picLocks noGrp="1" noChangeAspect="1"/>
          </p:cNvPicPr>
          <p:nvPr>
            <p:ph idx="1"/>
          </p:nvPr>
        </p:nvPicPr>
        <p:blipFill>
          <a:blip r:embed="rId3"/>
          <a:stretch>
            <a:fillRect/>
          </a:stretch>
        </p:blipFill>
        <p:spPr>
          <a:xfrm>
            <a:off x="649082" y="1690688"/>
            <a:ext cx="10893836" cy="4989378"/>
          </a:xfrm>
        </p:spPr>
      </p:pic>
    </p:spTree>
    <p:extLst>
      <p:ext uri="{BB962C8B-B14F-4D97-AF65-F5344CB8AC3E}">
        <p14:creationId xmlns:p14="http://schemas.microsoft.com/office/powerpoint/2010/main" val="3554467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4CE5-D576-3E0F-DAB0-3B3F92885A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0E083-3E83-423B-CF52-100874FF9E46}"/>
              </a:ext>
            </a:extLst>
          </p:cNvPr>
          <p:cNvSpPr>
            <a:spLocks noGrp="1"/>
          </p:cNvSpPr>
          <p:nvPr>
            <p:ph type="title"/>
          </p:nvPr>
        </p:nvSpPr>
        <p:spPr/>
        <p:txBody>
          <a:bodyPr/>
          <a:lstStyle/>
          <a:p>
            <a:r>
              <a:rPr lang="en-US" dirty="0"/>
              <a:t>DP: Longest Common Subsequence (4)</a:t>
            </a:r>
          </a:p>
        </p:txBody>
      </p:sp>
      <p:pic>
        <p:nvPicPr>
          <p:cNvPr id="6" name="Content Placeholder 5">
            <a:extLst>
              <a:ext uri="{FF2B5EF4-FFF2-40B4-BE49-F238E27FC236}">
                <a16:creationId xmlns:a16="http://schemas.microsoft.com/office/drawing/2014/main" id="{65656AC3-62B5-FBCC-3366-2BB496EF39C2}"/>
              </a:ext>
            </a:extLst>
          </p:cNvPr>
          <p:cNvPicPr>
            <a:picLocks noGrp="1" noChangeAspect="1"/>
          </p:cNvPicPr>
          <p:nvPr>
            <p:ph idx="1"/>
          </p:nvPr>
        </p:nvPicPr>
        <p:blipFill>
          <a:blip r:embed="rId3"/>
          <a:stretch>
            <a:fillRect/>
          </a:stretch>
        </p:blipFill>
        <p:spPr>
          <a:xfrm>
            <a:off x="764699" y="1690688"/>
            <a:ext cx="11080169" cy="4802187"/>
          </a:xfrm>
        </p:spPr>
      </p:pic>
    </p:spTree>
    <p:extLst>
      <p:ext uri="{BB962C8B-B14F-4D97-AF65-F5344CB8AC3E}">
        <p14:creationId xmlns:p14="http://schemas.microsoft.com/office/powerpoint/2010/main" val="21359034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6">
            <a:extLst>
              <a:ext uri="{FF2B5EF4-FFF2-40B4-BE49-F238E27FC236}">
                <a16:creationId xmlns:a16="http://schemas.microsoft.com/office/drawing/2014/main" id="{4A447BDE-B655-E1BC-C47E-559BB019B622}"/>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Thank You</a:t>
            </a:r>
          </a:p>
        </p:txBody>
      </p:sp>
    </p:spTree>
    <p:extLst>
      <p:ext uri="{BB962C8B-B14F-4D97-AF65-F5344CB8AC3E}">
        <p14:creationId xmlns:p14="http://schemas.microsoft.com/office/powerpoint/2010/main" val="797197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4523dde-f9d1-4aa7-80a9-c0900420d3c3}"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emplate/>
  <TotalTime>45449</TotalTime>
  <Words>1764</Words>
  <Application>Microsoft Office PowerPoint</Application>
  <PresentationFormat>Widescreen</PresentationFormat>
  <Paragraphs>203</Paragraphs>
  <Slides>32</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-apple-system</vt:lpstr>
      <vt:lpstr>Aptos</vt:lpstr>
      <vt:lpstr>Arial</vt:lpstr>
      <vt:lpstr>Calibri</vt:lpstr>
      <vt:lpstr>Calibri Light</vt:lpstr>
      <vt:lpstr>Cambria Math</vt:lpstr>
      <vt:lpstr>Office Theme</vt:lpstr>
      <vt:lpstr>Introduction to Algorithms</vt:lpstr>
      <vt:lpstr>Course Overview</vt:lpstr>
      <vt:lpstr>Dynmamic Programming</vt:lpstr>
      <vt:lpstr>Dynamic Programming (DP)</vt:lpstr>
      <vt:lpstr>Key Concepts of DP</vt:lpstr>
      <vt:lpstr>Dynamic Programming Approaches</vt:lpstr>
      <vt:lpstr>DP Problem: Fibonacci Number (1)</vt:lpstr>
      <vt:lpstr>DP Problem: Fibonacci Number (2)</vt:lpstr>
      <vt:lpstr>DP Problem: Fibonacci Number (3)</vt:lpstr>
      <vt:lpstr>DP Problem: Fibonacci Number (4)</vt:lpstr>
      <vt:lpstr>DP Problem: Fibonacci Number (5)</vt:lpstr>
      <vt:lpstr>Tabulation vs Memoization (1)</vt:lpstr>
      <vt:lpstr>Tabulation vs Memoization (2)</vt:lpstr>
      <vt:lpstr>DP: Coin Change Problem (1)</vt:lpstr>
      <vt:lpstr>DP: Coin Change Problem (2)</vt:lpstr>
      <vt:lpstr>DP: Coin Change Problem (3)</vt:lpstr>
      <vt:lpstr>DP: Coin Change Problem (4)</vt:lpstr>
      <vt:lpstr>Rod Cutting Problem (1)</vt:lpstr>
      <vt:lpstr>Rod Cutting Problem (2)</vt:lpstr>
      <vt:lpstr>Rod Cutting Problem (2)</vt:lpstr>
      <vt:lpstr>Rod Cutting Problem (3)</vt:lpstr>
      <vt:lpstr>Rod Cutting Problem (4)</vt:lpstr>
      <vt:lpstr>DP: Knapsack Problem (1)</vt:lpstr>
      <vt:lpstr>DP: Knapsack Problem (2)</vt:lpstr>
      <vt:lpstr>DP: Knapsack Problem (3)</vt:lpstr>
      <vt:lpstr>DP: Knapsack Problem (4)</vt:lpstr>
      <vt:lpstr>DP: Knapsack Problem (5)</vt:lpstr>
      <vt:lpstr>DP: Longest Common Subsequence (1)</vt:lpstr>
      <vt:lpstr>DP: Longest Common Subsequence (2)</vt:lpstr>
      <vt:lpstr>DP: Longest Common Subsequence (3)</vt:lpstr>
      <vt:lpstr>DP: Longest Common Subsequence (4)</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Prazyan, Levon</dc:creator>
  <cp:lastModifiedBy>Prazyan, Levon</cp:lastModifiedBy>
  <cp:revision>8</cp:revision>
  <cp:lastPrinted>2025-12-18T06:16:12Z</cp:lastPrinted>
  <dcterms:created xsi:type="dcterms:W3CDTF">2024-06-18T05:26:31Z</dcterms:created>
  <dcterms:modified xsi:type="dcterms:W3CDTF">2026-03-23T17:44:05Z</dcterms:modified>
</cp:coreProperties>
</file>